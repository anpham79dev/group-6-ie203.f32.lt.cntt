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thầy và các bạn. Em là Đinh Xuân Bảo, nhóm trưởng Nhóm 9. Hôm nay nhóm em xin trình bày đồ án cuối kỳ môn Hệ thống Quản trị Quy trình Nghiệp vụ.</a:t>
            </a:r>
          </a:p>
          <a:p/>
          <a:p>
            <a:r>
              <a:t>Đề tài của nhóm là "Tìm hiểu hệ thống quy trình nghiệp vụ mảng đặt vé máy bay trên ứng dụng MoMo", thuộc Công ty Cổ phần Dịch vụ Di động Trực tuyến — tên viết tắt là M_Service.</a:t>
            </a:r>
          </a:p>
          <a:p/>
          <a:p>
            <a:r>
              <a:t>Nhóm em gồm 8 thành viên, dưới sự hướng dẫn của thầy Hà Lê Hoài Trung. Bài trình bày khoảng 20 phút, sau đó nhóm xin dành thời gian cho phần hỏi đáp.</a:t>
            </a:r>
          </a:p>
          <a:p/>
          <a:p>
            <a:r>
              <a:t>CHUYEN Y: Trước hết, em xin đi qua nội dung sẽ trình bày.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gồm 6 phần. Phần 1, em giới thiệu ngắn gọn về doanh nghiệp và phạm vi nghiệp vụ mà nhóm nghiên cứu.</a:t>
            </a:r>
          </a:p>
          <a:p/>
          <a:p>
            <a:r>
              <a:t>Phần 2 là kiến trúc quy trình — nhóm đã liệt kê 10 quy trình và phân thành ba nhóm Quản lý, Cốt lõi, Hỗ trợ.</a:t>
            </a:r>
          </a:p>
          <a:p/>
          <a:p>
            <a:r>
              <a:t>Phần 3, nhóm mô hình hóa chi tiết bằng BPMN cho 6 quy trình đại diện, chia đều 2 quy trình cho mỗi nhóm.</a:t>
            </a:r>
          </a:p>
          <a:p/>
          <a:p>
            <a:r>
              <a:t>Phần 4 là phần trọng tâm: phân tích chuyên sâu 3 quy trình theo cả hai lăng kính định tính và định lượng. Cuối cùng là kết luận và phần hỏi đáp.</a:t>
            </a:r>
          </a:p>
          <a:p/>
          <a:p>
            <a:r>
              <a:t>CHUYEN Y: Em xin bắt đầu với phần giới thiệu doanh nghiệp.</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M_Service thành lập năm 2007. Năm 2010 dịch vụ ra mắt trên SIM điện thoại, hợp tác với Vinaphone. Đến năm 2014 mới có ứng dụng smartphone mang tên MoMo, viết tắt của Mobile Money. Hiện nay MoMo là một trong những siêu ứng dụng thanh toán hàng đầu Việt Nam.</a:t>
            </a:r>
          </a:p>
          <a:p/>
          <a:p>
            <a:r>
              <a:t>MoMo có ba nhóm dịch vụ: thanh toán và chuyển tiền; dịch vụ tài chính; và tiện ích đời sống — du lịch. Nhóm thứ ba chứa mục "Du lịch – Đi lại", và mảng đặt vé máy bay nằm trong đó. Đây chính là phạm vi đồ án của nhóm em.</a:t>
            </a:r>
          </a:p>
          <a:p/>
          <a:p>
            <a:r>
              <a:t>Em xin nhấn mạnh ba đặc điểm ở khung dưới, vì chúng chi phối toàn bộ cách các quy trình được thiết kế.</a:t>
            </a:r>
          </a:p>
          <a:p/>
          <a:p>
            <a:r>
              <a:t>Thứ nhất, MoMo không tự vận hành đội bay mà đóng vai trò nền tảng trung gian. Hệ quả là gần như quy trình nào cũng có bước chờ phản hồi từ hãng bay hoặc nhà cung ứng — và như phần phân tích sẽ cho thấy, đây chính là điểm nghẽn lớn nhất của cả hệ thống.</a:t>
            </a:r>
          </a:p>
          <a:p/>
          <a:p>
            <a:r>
              <a:t>Thứ hai, MoMo là tổ chức trung gian thanh toán nên chịu sự điều chỉnh của Ngân hàng Nhà nước. Ví dụ yêu cầu xác thực sinh trắc học xuất hiện trực tiếp thành một bước trong sơ đồ quy trình đổi vé mà lát nữa nhóm sẽ trình bày.</a:t>
            </a:r>
          </a:p>
          <a:p/>
          <a:p>
            <a:r>
              <a:t>Thứ ba, công ty chưa niêm yết nên không có báo cáo tài chính công khai. Vì vậy nhóm chọn phân tích cấu trúc và logic quy trình — là phần quan sát và kiểm chứng được — thay vì các chỉ tiêu tài chính.</a:t>
            </a:r>
          </a:p>
          <a:p/>
          <a:p>
            <a:r>
              <a:t>CHUYEN Y: Từ chính các quy trình quan sát được, nhóm suy ngược ra bản đồ các bộ phận tham gia.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M_Service không công bố sơ đồ tổ chức ra bên ngoài. Nhóm em không tự dựng ra một sơ đồ tổ chức, mà làm ngược lại: từ các tác nhân xuất hiện trong chính những quy trình quan sát được, nhóm suy ra bản đồ chức năng. Cách tiếp cận này nhóm gọi là "từ quy trình suy ra chức năng".</a:t>
            </a:r>
          </a:p>
          <a:p/>
          <a:p>
            <a:r>
              <a:t>Bảng chia thành 5 nhóm chức năng, từ front-office tiếp xúc khách hàng, đến khối đối tác và vận hành, khối tuân thủ, và khối hỗ trợ nội bộ.</a:t>
            </a:r>
          </a:p>
          <a:p/>
          <a:p>
            <a:r>
              <a:t>Điểm em xin lưu ý là dòng chữ dưới cùng: tên các bộ phận ở đây được dùng thống nhất xuyên suốt cả ba chương sau, và cũng chính là tên các làn trong sơ đồ BPMN. Nhờ vậy thầy có thể đối chiếu trực tiếp giữa bảng này và các sơ đồ lát nữa.</a:t>
            </a:r>
          </a:p>
          <a:p/>
          <a:p>
            <a:r>
              <a:t>CHUYEN Y: Tiếp theo là phạm vi nghiên cứu và phương pháp thực hiện.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phạm vi, nhóm làm theo ba mức độ sâu dần. Mức một: liệt kê đầy đủ 10 quy trình, mỗi quy trình đều có đủ bốn thành phần theo yêu cầu — tác nhân, mô tả các bước, đối tượng khách hàng và kết quả.</a:t>
            </a:r>
          </a:p>
          <a:p/>
          <a:p>
            <a:r>
              <a:t>Mức hai: chọn 6 quy trình đại diện để mô hình hóa BPMN chi tiết, chia đều hai quy trình cho mỗi nhóm Quản lý, Cốt lõi, Hỗ trợ.</a:t>
            </a:r>
          </a:p>
          <a:p/>
          <a:p>
            <a:r>
              <a:t>Mức ba: ba trong sáu quy trình đó được phân tích chuyên sâu. Đề bài yêu cầu tối thiểu hai quy trình, nhóm em làm ba.</a:t>
            </a:r>
          </a:p>
          <a:p/>
          <a:p>
            <a:r>
              <a:t>Về phương pháp, mỗi quy trình đều được dựng lại theo 5 cấu phần bằng chứng, và đi kèm một bộ câu hỏi khảo sát 20 câu theo đúng lưới 2×2 — định tính và định lượng, mỗi loại lại chia tiếp thành có cấu trúc và không cấu trúc.</a:t>
            </a:r>
          </a:p>
          <a:p/>
          <a:p>
            <a:r>
              <a:t>Em xin nói rõ phần khung màu vàng, vì đây là điểm nhóm muốn minh bạch ngay từ đầu. Nhóm không tiếp cận được nhân sự nội bộ của M_Service. Do đó bộ câu hỏi là công cụ khảo sát đã thiết kế nhưng chưa triển khai, và toàn bộ số liệu định lượng ở Chương 4 là số liệu giả định do nhóm tự xây dựng, dựa trên nghiên cứu quy trình công khai và trải nghiệm sử dụng ứng dụng thực tế. Chúng phục vụ mục đích minh họa phương pháp tính, không phải số liệu vận hành do MoMo công bố. Điều này được ghi rõ ở Mở đầu, đầu Chương 3, Chương 4 và cả phần Hạn chế của báo cáo.</a:t>
            </a:r>
          </a:p>
          <a:p/>
          <a:p>
            <a:r>
              <a:t>CHUYEN Y: Với phạm vi đó, đây là kiến trúc 10 quy trình mà nhóm dựng được.</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sơ đồ kiến trúc tổng thể. Nhóm phân loại theo khung của Dumas và cộng sự thành ba tầng.</a:t>
            </a:r>
          </a:p>
          <a:p/>
          <a:p>
            <a:r>
              <a:t>Tầng Quản lý gồm 4 quy trình, là các quy trình điều phối và kiểm soát: quản lý hạng vé, quản trị giá và khuyến mãi, quản trị danh mục hãng bay và đối tác, quản trị rủi ro giao dịch.</a:t>
            </a:r>
          </a:p>
          <a:p/>
          <a:p>
            <a:r>
              <a:t>Tầng Cốt lõi gồm 3 quy trình, trực tiếp tạo giá trị cho người dùng cuối: tìm kiếm và đặt vé, mua thêm dịch vụ sau đặt chỗ, và đổi chuyến bay.</a:t>
            </a:r>
          </a:p>
          <a:p/>
          <a:p>
            <a:r>
              <a:t>Tầng Hỗ trợ gồm 3 quy trình giữ cho nền tảng vận hành trơn tru: hỗ trợ khách hàng, xuất hóa đơn VAT, và quản lý vé đã mua.</a:t>
            </a:r>
          </a:p>
          <a:p/>
          <a:p>
            <a:r>
              <a:t>Cách đọc sơ đồ là theo chiều dọc: tầng Quản lý đặt ra luật chơi — giá nào, hạng vé nào, đối tác nào được bán; tầng Cốt lõi vận hành theo luật đó để phục vụ khách; tầng Hỗ trợ xử lý những gì phát sinh sau đó.</a:t>
            </a:r>
          </a:p>
          <a:p/>
          <a:p>
            <a:r>
              <a:t>CHUYEN Y: Trong 10 quy trình này, nhóm chọn 6 quy trình để mô hình hóa chi tiết bằng BPMN.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phần 3, nhóm em trình bày kết quả mô hình hóa 6 quy trình đại diện bằng BPMN 2.0.</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là toàn cảnh 6 sơ đồ BPMN mà nhóm đã dựng, kèm số làn và số cổng điều kiện của từng sơ đồ.</a:t>
            </a:r>
          </a:p>
          <a:p/>
          <a:p>
            <a:r>
              <a:t>Đúng cơ cấu đề bài yêu cầu: hai quy trình Quản lý, hai quy trình Cốt lõi, hai quy trình Hỗ trợ. Số cổng điều kiện dao động từ 8 đến 19, tổng cộng 65 cổng. Sơ đồ phức tạp nhất là Tìm kiếm và đặt vé với 19 cổng — cũng là quy trình cốt lõi nhất của mảng này.</a:t>
            </a:r>
          </a:p>
          <a:p/>
          <a:p>
            <a:r>
              <a:t>Mỗi quy trình đều được trình bày theo cùng một khung hai phần. Phần một là Phương pháp thực hiện, gồm 5 cấu phần bằng chứng và bộ 20 câu hỏi khảo sát theo lưới 2×2. Phần hai là Mô hình hóa, gồm sơ đồ BPMN kèm diễn giải luồng chính và luồng ngoại lệ.</a:t>
            </a:r>
          </a:p>
          <a:p/>
          <a:p>
            <a:r>
              <a:t>Ba đặc điểm chung của cả 6 sơ đồ: đều dùng swimlane đặt tên đúng theo bảng chức năng vừa trình bày; đều có nhiều hơn 7 cổng điều kiện; và mọi nhánh rẽ đều hội tụ về cổng gộp hoặc kết thúc ở một End Event riêng, không có nhánh nào bị treo lơ lửng.</a:t>
            </a:r>
          </a:p>
          <a:p/>
          <a:p>
            <a:r>
              <a:t>CHUYEN Y: Nhóm xin bắt đầu với quy trình quản lý thứ nhất — Quản trị giá và khuyến mãi.</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đầu tiên thuộc nhóm Quản lý: Quản trị giá, khuyến mãi và chính sách hiển thị giá. Quy trình có 6 tác nhân, tương ứng 6 làn trong sơ đồ.</a:t>
            </a:r>
          </a:p>
          <a:p/>
          <a:p>
            <a:r>
              <a:t>Luồng chính đi qua bốn chặng: hãng bay gửi dữ liệu giá, Bộ phận Quản lý Giá chuẩn hóa; Marketing thiết kế khuyến mãi; Tài chính và Pháp chế thẩm định; cuối cùng Kỹ thuật cấu hình và App hiển thị.</a:t>
            </a:r>
          </a:p>
          <a:p/>
          <a:p>
            <a:r>
              <a:t>Điểm đáng chú ý nhất ở phần ngoại lệ là nhánh "không áp dụng khuyến mãi". Khi doanh nghiệp bán theo giá gốc, toàn bộ nhánh Marketing và Pháp chế được bỏ qua, đi thẳng sang Kỹ thuật. Hai nhánh này hội tụ lại tại một cổng gộp ngay trước bước cấu hình — đây là chỗ nhóm phải xử lý cẩn thận để sơ đồ không bị treo nhánh.</a:t>
            </a:r>
          </a:p>
          <a:p/>
          <a:p>
            <a:r>
              <a:t>Ngoài ra quy trình có bốn vòng lặp làm lại: bổ sung dữ liệu, chuẩn hóa lại, điều chỉnh chiến dịch, và sửa cấu hình. Bốn vòng lặp này chính là nguồn gốc của 5 hoạt động không tạo giá trị mà nhóm sẽ phân tích ở Chương 4.</a:t>
            </a:r>
          </a:p>
          <a:p/>
          <a:p>
            <a:r>
              <a:t>CHUYEN Y: Đây là sơ đồ BPMN của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đọc từ trên xuống theo đúng thứ tự tác nhân vừa nêu, và 9 cổng điều kiện.</a:t>
            </a:r>
          </a:p>
          <a:p/>
          <a:p>
            <a:r>
              <a:t>Thầy có thể thấy hai vùng dày đặc cổng điều kiện. Vùng thứ nhất ở làn Quản lý Giá — kiểm tra đầy đủ, rồi kiểm tra hợp lệ sau chuẩn hóa. Vùng thứ hai ở làn Marketing và Pháp chế — quyết định có khuyến mãi hay không, kiểm tra phù hợp tệp khách hàng, phê duyệt, kiểm tra hồ sơ điều kiện.</a:t>
            </a:r>
          </a:p>
          <a:p/>
          <a:p>
            <a:r>
              <a:t>Nhánh đi tắt khi không áp dụng khuyến mãi là đường chạy dài từ làn Marketing thẳng xuống cổng gộp ở làn Kỹ thuật.</a:t>
            </a:r>
          </a:p>
          <a:p/>
          <a:p>
            <a:r>
              <a:t>CHUYEN Y: Quy trình quản lý thứ hai là Quản lý hạng vé máy bay.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lý thứ hai là Quản lý hạng vé máy bay, gồm 4 tác nhân.</a:t>
            </a:r>
          </a:p>
          <a:p/>
          <a:p>
            <a:r>
              <a:t>Đặc điểm riêng của quy trình này là ngay từ đầu đã phân thành hai luồng theo loại hãng. Hãng quốc tế thì dữ liệu về theo API thời gian thực; hãng nội địa thì gửi trực tiếp và Bộ phận BD phải kiểm tra, đối chiếu, chuẩn hóa thủ công. Hai luồng này hội tụ lại tại một cổng gộp trước khi sang Ticketing.</a:t>
            </a:r>
          </a:p>
          <a:p/>
          <a:p>
            <a:r>
              <a:t>Nhóm xin lưu ý hai chi tiết trong phần ngoại lệ. Thứ nhất, giới hạn 2 lần thử lại khi tích hợp API là một giả định của nhóm, đã ghi chú rõ trong báo cáo. Thứ hai, nhóm cố ý tách riêng hai kiểu kết thúc: kết thúc do lỗi kỹ thuật và kết thúc do quyết định kinh doanh "tạm hoãn công bố". Hai việc này bản chất khác nhau nên không gộp chung một End Event.</a:t>
            </a:r>
          </a:p>
          <a:p/>
          <a:p>
            <a:r>
              <a:t>CHUYEN Y: Sơ đồ BPMN tương ứng.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4 làn và 10 cổng điều kiện.</a:t>
            </a:r>
          </a:p>
          <a:p/>
          <a:p>
            <a:r>
              <a:t>Ngay sau sự kiện bắt đầu là cổng phân luồng quốc tế / nội địa. Nhánh trên là luồng API với vòng lặp thử lại tối đa 2 lần; nhánh dưới là luồng thủ công với vòng lặp trả về hãng bay bổ sung dữ liệu.</a:t>
            </a:r>
          </a:p>
          <a:p/>
          <a:p>
            <a:r>
              <a:t>Ở cuối sơ đồ, thầy có thể thấy nhánh giám sát sau công bố quay ngược về cổng gộp xử lý lỗi — dùng chung nhánh khắc phục với lỗi hiển thị, thay vì vẽ trùng lặp hai nhánh sửa lỗi giống nhau.</a:t>
            </a:r>
          </a:p>
          <a:p/>
          <a:p>
            <a:r>
              <a:t>CHUYEN Y: Tiếp theo là nhóm quy trình cốt lõi, bắt đầu bằng quy trình quan trọng nhất — Tìm kiếm và đặt vé.</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quy trình cốt lõi nhất của cả mảng, cũng là quy trình phức tạp nhất trong 6 sơ đồ với 19 cổng điều kiện. Quy trình có 4 làn.</a:t>
            </a:r>
          </a:p>
          <a:p/>
          <a:p>
            <a:r>
              <a:t>Luồng chính khá quen thuộc với người dùng: nhập tiêu chí, chọn chuyến, chọn hạng vé, nhập thông tin hành khách, chọn tiện ích, giữ chỗ, thanh toán và nhận vé.</a:t>
            </a:r>
          </a:p>
          <a:p/>
          <a:p>
            <a:r>
              <a:t>Độ phức tạp nằm ở hai chỗ. Thứ nhất là chuỗi tiện ích bổ sung: chỗ ngồi, suất ăn, hành lý, bảo hiểm — mỗi tiện ích là một cặp cổng rẽ và cổng gộp riêng, vì khách có thể chọn hoặc bỏ qua từng cái một cách độc lập. Riêng vé quốc tế đi tắt thẳng tới nhánh bảo hiểm.</a:t>
            </a:r>
          </a:p>
          <a:p/>
          <a:p>
            <a:r>
              <a:t>Thứ hai, và quan trọng hơn về nghiệp vụ, là nhánh giao dịch treo — Pending. Đây là tình huống khách đã bị trừ tiền nhưng chưa có vé. Nhánh này chuyển sang CSKH, phân cấp khách VIP phục vụ 24/7 hay khách thường phục vụ trong giờ hành chính, rồi liên hệ khách xác nhận còn nhu cầu hay không. Nếu không còn thì hoàn tiền; nếu còn thì kiểm tra phía hãng bay đã có vé chưa để xuất vé thủ công hoặc giữ chỗ phát hành mới. Đây chính là nhóm vấn đề chiếm tỷ trọng cao nhất trong phân tích Pareto ở Chương 4.</a:t>
            </a:r>
          </a:p>
          <a:p/>
          <a:p>
            <a:r>
              <a:t>CHUYEN Y: Đây là toàn cảnh sơ đồ.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Đây là toàn cảnh sơ đồ, để thầy thấy được quy mô và hình dạng tổng thể: 4 làn kéo dài, 19 cổng điều kiện.</a:t>
            </a:r>
          </a:p>
          <a:p/>
          <a:p>
            <a:r>
              <a:t>Vì sơ đồ rất rộng nên hai slide tiếp theo nhóm phóng to từng nửa để trình bày chi tiết.</a:t>
            </a:r>
          </a:p>
          <a:p/>
          <a:p>
            <a:r>
              <a:t>CHUYEN Y: Em xin phóng to nửa đầu.</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Nửa đầu sơ đồ, từ lúc khách nhập tiêu chí tìm kiếm cho tới chuỗi chọn tiện ích bổ sung.</a:t>
            </a:r>
          </a:p>
          <a:p/>
          <a:p>
            <a:r>
              <a:t>Thầy có thể thấy rõ cổng phân luồng khứ hồi hay một chiều, rồi cổng phân luồng vé nội địa hay quốc tế. Sau đó là chuỗi bốn cặp cổng rẽ – cổng gộp cho bốn loại tiện ích. Vé quốc tế có đường đi tắt bỏ qua ba tiện ích đầu, chỉ vào nhánh bảo hiểm.</a:t>
            </a:r>
          </a:p>
          <a:p/>
          <a:p>
            <a:r>
              <a:t>CHUYEN Y: Và nửa sau.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Nửa sau sơ đồ, từ bước tạo booking giữ chỗ đến kết thúc.</a:t>
            </a:r>
          </a:p>
          <a:p/>
          <a:p>
            <a:r>
              <a:t>Ba nhánh kết thúc khác nhau: "Mua vé thành công" ở luồng thuận lợi; "Mua vé thất bại" khi thanh toán lỗi; và "Hủy đơn hàng" khi giao dịch treo mà khách không còn nhu cầu, phải rollback hoàn tiền.</a:t>
            </a:r>
          </a:p>
          <a:p/>
          <a:p>
            <a:r>
              <a:t>Toàn bộ làn CSKH ở dưới cùng chính là nhánh xử lý giao dịch treo. Điểm nhóm muốn nhấn mạnh: nhánh này sau khi xử lý xong sẽ nhập lại đúng luồng thành công phía trên, chứ không tạo ra một nhánh kết thúc song song — vì về mặt nghiệp vụ, khách vẫn nhận được vé.</a:t>
            </a:r>
          </a:p>
          <a:p/>
          <a:p>
            <a:r>
              <a:t>CHUYEN Y: Quy trình cốt lõi thứ hai nhóm chọn mô hình hóa là Đổi chuyến bay.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cốt lõi thứ hai là Đổi chuyến bay, có 6 làn — nhiều làn nhất trong nhóm cốt lõi, vì có thêm cổng thanh toán và hệ thống hãng bay.</a:t>
            </a:r>
          </a:p>
          <a:p/>
          <a:p>
            <a:r>
              <a:t>Luồng chính gồm bốn chặng: kiểm tra điều kiện vé gốc; truy vấn và chọn chuyến mới; tính phí và xác nhận; cuối cùng là xác thực, trích tiền, tái phát hành vé.</a:t>
            </a:r>
          </a:p>
          <a:p/>
          <a:p>
            <a:r>
              <a:t>Về phần ngoại lệ, nhóm xin nhấn mạnh hai điểm. Thứ nhất là nhánh xử lý thủ công: có những hạng vé hãng không cho đổi tự động qua API, khi đó hệ thống tạo Support Ticket và CSKH gọi trực tiếp cho hãng. Nhánh này sau khi có kết quả sẽ hội tụ trở lại luồng chính, chứ không tách thành quy trình riêng.</a:t>
            </a:r>
          </a:p>
          <a:p/>
          <a:p>
            <a:r>
              <a:t>Thứ hai là tình huống nhóm cho là đáng chú ý nhất về mặt nghiệp vụ: hết chỗ trên chuyến mới trong lúc đang tái phát hành, tức là tiền đã trừ rồi mà chỗ thì mất. Khi đó hệ thống hủy giao dịch, hoàn 100% phí đổi về ví, giữ nguyên vé cũ và mời khách chọn chuyến khác. Đây là bước bảo vệ quyền lợi khách hàng mà nếu chỉ nhìn giao diện app thì rất dễ bỏ sót khi mô hình hóa.</a:t>
            </a:r>
          </a:p>
          <a:p/>
          <a:p>
            <a:r>
              <a:t>CHUYEN Y: Sơ đồ BPMN của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và 10 cổng điều kiện.</a:t>
            </a:r>
          </a:p>
          <a:p/>
          <a:p>
            <a:r>
              <a:t>Điểm dễ nhận ra là số lượng End Event: quy trình này có nhiều điểm kết thúc khác nhau, vì mỗi lý do dừng đều mang một ý nghĩa nghiệp vụ riêng — vé không được đổi, không có chuyến phù hợp, khách từ chối phí, xác thực thất bại, thanh toán thất bại. Nhóm cố ý không gộp chúng lại, để khi đọc sơ đồ có thể biết ngay giao dịch dừng vì lý do gì.</a:t>
            </a:r>
          </a:p>
          <a:p/>
          <a:p>
            <a:r>
              <a:t>Làn CSKH ở giữa là nhánh xử lý thủ công, và thầy có thể thấy nó quay trở lại hội tụ vào luồng chính.</a:t>
            </a:r>
          </a:p>
          <a:p/>
          <a:p>
            <a:r>
              <a:t>CHUYEN Y: Hai quy trình cuối thuộc nhóm Hỗ trợ.</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hỗ trợ thứ nhất là Hỗ trợ khách hàng, tiếp nhận phản hồi và tra soát giao dịch. Sơ đồ thể hiện 4 làn, nhưng về mặt tổ chức thì đây là quy trình liên phòng ban rõ rệt nhất: ngoài CSKH làm đầu mối còn có Đội Vận hành Sản phẩm Du lịch, Đội Kỹ thuật, và Bộ phận Tài chính/Pháp chế khi khiếu nại leo thang.</a:t>
            </a:r>
          </a:p>
          <a:p/>
          <a:p>
            <a:r>
              <a:t>Quy trình thực chất chứa hai luồng con: luồng xử lý khiếu nại, và luồng tra soát giao dịch lỗi hoặc treo. Cả hai đều được nhóm phân tích riêng ở Chương 4.</a:t>
            </a:r>
          </a:p>
          <a:p/>
          <a:p>
            <a:r>
              <a:t>Điểm mấu chốt của quy trình này là bước đánh giá phạm vi trách nhiệm: vấn đề thuộc MoMo hay thuộc hãng bay. Nếu thuộc hãng bay thì MoMo phải chuyển sang chờ — và như phần phân tích sẽ chỉ ra, chính bước chờ này kéo hiệu suất thời gian của cả mảng hậu mãi xuống.</a:t>
            </a:r>
          </a:p>
          <a:p/>
          <a:p>
            <a:r>
              <a:t>CHUYEN Y: Sơ đồ BPMN.</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4 làn và 9 cổng điều kiện.</a:t>
            </a:r>
          </a:p>
          <a:p/>
          <a:p>
            <a:r>
              <a:t>Làn Hãng bay/NCC ở dưới cùng là phần nằm ngoài tầm kiểm soát của MoMo. Mỗi lần luồng đi xuống làn đó rồi quay lên là một lần quy trình phải chờ.</a:t>
            </a:r>
          </a:p>
          <a:p/>
          <a:p>
            <a:r>
              <a:t>Vòng lặp yêu cầu khách bổ sung thông tin nằm ở làn CSKH, và nhánh leo thang lên Pháp chế kết thúc ở một End Event riêng.</a:t>
            </a:r>
          </a:p>
          <a:p/>
          <a:p>
            <a:r>
              <a:t>CHUYEN Y: Quy trình cuối cùng được mô hình hóa là Xuất hóa đơn điện tử.</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cuối cùng được mô hình hóa là Xuất hóa đơn điện tử VAT, có 6 làn.</a:t>
            </a:r>
          </a:p>
          <a:p/>
          <a:p>
            <a:r>
              <a:t>Quy trình có hai kênh yêu cầu: khách tự làm trên App, hoặc gọi tổng đài để CSKH nhập thay. Hai kênh hội tụ tại một cổng gộp trước khi hệ thống kiểm tra thời hạn.</a:t>
            </a:r>
          </a:p>
          <a:p/>
          <a:p>
            <a:r>
              <a:t>Em xin nói rõ một giả định: mốc thời hạn 72 giờ để yêu cầu xuất hóa đơn, và việc dùng một hệ thống hóa đơn điện tử của đối tác thứ ba, là giả định do nhóm đặt ra để mô hình hóa đầy đủ các nhánh. MoMo không công bố công khai hai thông tin này, và nhóm đã ghi chú rõ điều đó ngay tại chỗ sử dụng trong báo cáo cũng như trong phần Hạn chế.</a:t>
            </a:r>
          </a:p>
          <a:p/>
          <a:p>
            <a:r>
              <a:t>Quy trình có ba nguồn lỗi khác nhau: lỗi do khách nhập sai, lỗi do dữ liệu đối soát không khớp, và lỗi từ phía hệ thống đối tác. Mỗi loại có hướng xử lý riêng.</a:t>
            </a:r>
          </a:p>
          <a:p/>
          <a:p>
            <a:r>
              <a:t>CHUYEN Y: Sơ đồ BPMN.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có 6 làn và 8 cổng điều kiện.</a:t>
            </a:r>
          </a:p>
          <a:p/>
          <a:p>
            <a:r>
              <a:t>Hai làn dưới cùng — Kế toán và Hệ thống hóa đơn điện tử của đối tác — là phần phụ thuộc bên ngoài. Vòng lặp gửi lại API nằm ở đây.</a:t>
            </a:r>
          </a:p>
          <a:p/>
          <a:p>
            <a:r>
              <a:t>Vòng lặp đối soát ở làn CSKH là chỗ tốn thời gian nhất trong thực tế: mỗi lần dữ liệu không khớp là một lần phải liên hệ khách xác nhận rồi đối soát lại.</a:t>
            </a:r>
          </a:p>
          <a:p/>
          <a:p>
            <a:r>
              <a:t>CHUYEN Y: Hết phần mô hình hóa. Sang Chương 4, nhóm phân tích sâu ba quy trình.</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Sang phần trọng tâm: phân tích ba quy trình theo cả hai lăng kính định tính và định lượng.</a:t>
            </a:r>
          </a:p>
          <a:p/>
          <a:p>
            <a:r>
              <a:t>Nhắc lại một lần nữa để thầy tiện theo dõi: toàn bộ số liệu trong phần này là số liệu giả định do nhóm xây dựng, dùng để minh họa phương pháp tính theo khung lý thuyết BPM.</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Tìm kiếm và đặt vé được nhóm bóc tách thành 16 hoạt động và phân loại theo giá trị gia tăng.</a:t>
            </a:r>
          </a:p>
          <a:p/>
          <a:p>
            <a:r>
              <a:t>Kết quả: 5 hoạt động tạo giá trị chiếm 58,2 giây; 8 hoạt động cần cho vận hành chiếm 44,7 giây; và 3 hoạt động không tạo giá trị chiếm 4,3 giây. Tổng thời gian chu kỳ là 107,2 giây, tỷ lệ giá trị gia tăng đạt 54,3%.</a:t>
            </a:r>
          </a:p>
          <a:p/>
          <a:p>
            <a:r>
              <a:t>Điều nhóm thấy đáng nói không phải con số 54,3%, mà là bản chất của ba hoạt động NVA: cả ba đều là sửa lỗi hoặc làm lại — hiển thị cảnh báo khi khách nhập sai, báo không có kết quả phù hợp, và báo phiên giữ chỗ hết hạn buộc khách làm lại từ đầu. Không có hoạt động NVA nào là "bước thừa cố hữu" cả. Nghĩa là có thể loại bỏ chúng bằng thiết kế lại giao diện, chứ không cần đầu tư hạ tầng.</a:t>
            </a:r>
          </a:p>
          <a:p/>
          <a:p>
            <a:r>
              <a:t>Về lãng phí, nhóm nhận diện 6 biểu hiện. Nhóm Overdo chiếm ưu thế với 3 trên 6 biểu hiện: truy vấn dư thừa dù bộ đệm còn hiệu lực, khách phải nhập lại tiêu chí dù hệ thống đã có lịch sử, và lặp thao tác lọc trung bình 1,8 lần mỗi phiên.</a:t>
            </a:r>
          </a:p>
          <a:p/>
          <a:p>
            <a:r>
              <a:t>Kết luận của phần định tính: vấn đề chính của quy trình này không phải là chờ đợi, mà là làm nhiều hơn mức cần thiết. Đây là dạng lãng phí nằm hoàn toàn trong tầm kiểm soát nội bộ của MoMo.</a:t>
            </a:r>
          </a:p>
          <a:p/>
          <a:p>
            <a:r>
              <a:t>CHUYEN Y: Phần định lượng sẽ kiểm chứng nhận định đó bằng con số.</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thời gian: thời gian chu kỳ 107,2 giây, trong đó thời gian chờ chỉ 4,42 giây, còn lại 102,8 giây là thời gian xử lý. Hiệu suất thời gian đạt 95,9%.</a:t>
            </a:r>
          </a:p>
          <a:p/>
          <a:p>
            <a:r>
              <a:t>Con số 95,9% này nếu nhìn một mình thì rất đẹp, nhưng nhóm đọc nó theo hướng khác. Nó cho thấy hệ thống gần như không chờ đợi gì cả. Nghĩa là nếu quy trình có vấn đề, vấn đề không nằm ở hạ tầng. Và đúng là như vậy: thao tác của chính khách hàng chiếm tới 84,4% thời gian chu kỳ.</a:t>
            </a:r>
          </a:p>
          <a:p/>
          <a:p>
            <a:r>
              <a:t>Về chất lượng, nhóm đặt 8 chỉ số kèm mục tiêu. Kết quả hiện tại là 0 trên 8 chỉ số đạt mục tiêu — tỷ lệ chuyển đổi 38% so với mục tiêu 50%, phản hồi p95 là 6,2 giây so với mục tiêu 4 giây, tỷ lệ phục vụ từ bộ đệm 40% so với mục tiêu 65%. Điều này cho thấy dư địa cải thiện trải đều nhiều mặt, chứ không tập trung ở một điểm nghẽn duy nhất.</a:t>
            </a:r>
          </a:p>
          <a:p/>
          <a:p>
            <a:r>
              <a:t>Về chi phí, nhóm gặp một tình huống thú vị. Quy trình này chạy tự động hoàn toàn, không có nhân sự MoMo thao tác trong luồng chính, nên nếu áp công thức chi phí nhân sự bằng thời gian nhân đơn giá lương thì kết quả bằng 0 đồng. Đúng công thức, nhưng vô nghĩa về kinh tế. Nhóm thay bằng mô hình chi phí hạ tầng và truy vấn.</a:t>
            </a:r>
          </a:p>
          <a:p/>
          <a:p>
            <a:r>
              <a:t>Kết quả: 24,4 đồng mỗi phiên. Ở quy mô 100.000 phiên một ngày là khoảng 890 triệu đồng một năm. Và đây là con số đáng chú ý: nếu nâng tỷ lệ phục vụ từ bộ đệm từ 40% lên 65% đúng như mục tiêu chất lượng đã đặt, chi phí mỗi phiên giảm còn 18,4 đồng, tức giảm 24,6%, tiết kiệm khoảng 219 triệu đồng mỗi năm. Một cải tiến kỹ thuật duy nhất, nhưng lượng hóa được thành tiền.</a:t>
            </a:r>
          </a:p>
          <a:p/>
          <a:p>
            <a:r>
              <a:t>CHUYEN Y: Quy trình thứ hai được phân tích sâu là Hỗ trợ khách hàng.</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Hỗ trợ khách hàng thực chất gồm hai quy trình con, nên nhóm phân tích tách riêng.</a:t>
            </a:r>
          </a:p>
          <a:p/>
          <a:p>
            <a:r>
              <a:t>Quy trình con thứ nhất là tra soát giao dịch lỗi hoặc treo: thời gian chu kỳ khoảng 5,8 giờ, hiệu suất thời gian 69%, chi phí xử lý một ca khoảng 301.000 đồng. Quy trình con thứ hai là xử lý khiếu nại: thời gian chu kỳ 4,23 giờ, nhưng hiệu suất thời gian chỉ 43,3%, chi phí một ca 123.500 đồng.</a:t>
            </a:r>
          </a:p>
          <a:p/>
          <a:p>
            <a:r>
              <a:t>Em xin nói qua cách tính, vì đây là chỗ nhóm áp dụng đúng quy tắc đã học. Các bước tuần tự thì cộng dồn, còn nhánh XOR thì lấy trung bình có trọng số theo xác suất từng nhánh. Công thức đầy đủ của quy trình khiếu nại ở dưới bảng.</a:t>
            </a:r>
          </a:p>
          <a:p/>
          <a:p>
            <a:r>
              <a:t>Điều đáng chú ý là quy trình khiếu nại có thời gian chu kỳ ngắn hơn nhưng hiệu suất lại thấp hơn nhiều — 43,3% so với 69%. Nghĩa là trong 4,23 giờ đó, hơn một nửa là thời gian chờ chứ không phải thời gian làm việc. Chờ ai? Chờ hãng bay và đối tác xác minh. Đây chính là nhóm lãng phí Hold, và nó nằm ngoài tầm kiểm soát trực tiếp của MoMo.</a:t>
            </a:r>
          </a:p>
          <a:p/>
          <a:p>
            <a:r>
              <a:t>Bên phải là phân tích Pareto trên 590 ticket trong một quý. Bốn nhóm vấn đề đầu tiên — trừ tiền nhưng chưa xuất vé 31,5%, chậm hoàn tiền 21%, sai lệch thông tin 16,6%, và không nhận được vé điện tử 10,3% — cộng lại chiếm 79,4%. Rất sát với nguyên tắc 80/20. Nghĩa là chỉ cần tập trung xử lý bốn nhóm này là giải quyết được gần bốn phần năm khối lượng công việc hậu mãi.</a:t>
            </a:r>
          </a:p>
          <a:p/>
          <a:p>
            <a:r>
              <a:t>CHUYEN Y: Quy trình thứ ba được phân tích sâu là Quản trị giá.</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Quy trình Quản trị giá được bóc tách thành 23 hoạt động: 4 tạo giá trị, 14 cần cho vận hành, và 5 không tạo giá trị.</a:t>
            </a:r>
          </a:p>
          <a:p/>
          <a:p>
            <a:r>
              <a:t>Chỉ có 4 hoạt động thực sự tạo giá trị: xây dựng chính sách khuyến mãi, thiết kế cơ chế, cấu hình lên hệ thống, và công bố. Còn lại 14 hoạt động là kiểm tra, chuẩn hóa, thẩm định — cần thiết để kiểm soát rủi ro nhưng khách hàng không nhìn thấy.</a:t>
            </a:r>
          </a:p>
          <a:p/>
          <a:p>
            <a:r>
              <a:t>Giống như quy trình Tìm kiếm, cả 5 hoạt động NVA ở đây đều thuộc một dạng duy nhất: làm lại. Yêu cầu bổ sung dữ liệu, trả lại chuẩn hóa, điều chỉnh mục tiêu chiến dịch, bổ sung hồ sơ pháp lý, và sửa cấu hình lỗi. Đây chính là 5 vòng lặp mà thầy đã thấy trong sơ đồ BPMN ở Chương 3.</a:t>
            </a:r>
          </a:p>
          <a:p/>
          <a:p>
            <a:r>
              <a:t>Về lãng phí, quy trình này khác với quy trình Tìm kiếm ở chỗ nhóm Move nổi lên rõ: hồ sơ giá và khuyến mãi phải luân chuyển qua 5 khâu thủ công, mỗi lần bàn giao đều qua email hoặc file rời rạc, không có hệ thống theo dõi trạng thái tập trung.</a:t>
            </a:r>
          </a:p>
          <a:p/>
          <a:p>
            <a:r>
              <a:t>Bên phải là phân tích Pareto trên 85 điểm ghi nhận vấn đề. Ba nhóm đầu — hồ sơ pháp lý không chặt chẽ, dữ liệu đầu vào thiếu sót, và lỗi cấu hình kỹ thuật — cộng lại chiếm 70,59%. Điểm chung của cả ba là lỗi chất lượng đầu vào, nên hướng khắc phục đều xoay quanh kiểm soát chất lượng ngay từ đầu thay vì sửa ở cuối.</a:t>
            </a:r>
          </a:p>
          <a:p/>
          <a:p>
            <a:r>
              <a:t>CHUYEN Y: Phần định lượng của quy trình này có một điểm về công thức mà nhóm muốn trình bày kỹ.</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Phần này có một điểm về công thức mà nhóm muốn trình bày kỹ, vì đây là chỗ nhóm đã sửa lại cách tính ban đầu.</a:t>
            </a:r>
          </a:p>
          <a:p/>
          <a:p>
            <a:r>
              <a:t>Ban đầu nhóm tính thời gian trễ do làm lại bằng cách lấy xác suất nhân với thời gian, ra tổng 70,5 phút. Nhưng cách đó bỏ sót một khả năng: một nhánh có thể phải làm lại nhiều hơn một lần. Ví dụ hồ sơ pháp lý bị trả về, sửa xong nộp lại vẫn có thể bị trả về lần nữa.</a:t>
            </a:r>
          </a:p>
          <a:p/>
          <a:p>
            <a:r>
              <a:t>Công thức đúng cho vòng lặp là CT bằng T chia cho 1 trừ r, từ đó thời gian trễ bằng T nhân r chia cho 1 trừ r. Áp dụng công thức này, tổng thời gian trễ là 87,06 phút, chứ không phải 70,5 phút. Chênh lệch hơn 16 phút mỗi chiến dịch.</a:t>
            </a:r>
          </a:p>
          <a:p/>
          <a:p>
            <a:r>
              <a:t>Từ đó, thời gian chu kỳ trung bình là 940 cộng 87 bằng khoảng 1.027 phút, tức 17,1 giờ. Thời gian thực sự tạo giá trị chỉ 465 phút. Hiệu suất chu kỳ quy trình PCE đạt 45,28%, nghĩa là hơn một nửa thời gian bị tiêu cho kiểm duyệt, chuẩn hóa và chờ đợi.</a:t>
            </a:r>
          </a:p>
          <a:p/>
          <a:p>
            <a:r>
              <a:t>Về chất lượng, nhóm dùng chỉ số RTY — tỷ lệ chất lượng xuyên suốt. Nhân năm tỷ lệ đạt của năm khâu lại với nhau: 80%, 90%, 85%, 75%, 85% — kết quả chỉ 39,01%. Nghĩa là chưa tới 4 trên 10 chiến dịch chạy trót lọt ngay lần đầu mà không phải quay lại khâu nào.</a:t>
            </a:r>
          </a:p>
          <a:p/>
          <a:p>
            <a:r>
              <a:t>Điều RTY cho biết mà từng chỉ số riêng lẻ không cho biết, là khâu nào kéo tổng thể xuống mạnh nhất. Ở đây là khâu hồ sơ pháp lý với 75%. Nên thứ tự ưu tiên cải tiến là nâng chất lượng đầu vào và hồ sơ pháp lý trước.</a:t>
            </a:r>
          </a:p>
          <a:p/>
          <a:p>
            <a:r>
              <a:t>Về chi phí, khác với quy trình Tìm kiếm, quy trình này có nhân sự thao tác ở hầu hết các bước nên mô hình chi phí bằng thời gian nhân đơn giá lương là phù hợp. Chi phí một chiến dịch khoảng 1,41 triệu đồng, trong đó phần chi cho hoạt động tạo giá trị là 752.000 đồng, tức hiệu suất chi phí 53,2%.</a:t>
            </a:r>
          </a:p>
          <a:p/>
          <a:p>
            <a:r>
              <a:t>CHUYEN Y: Nhóm xin tổng hợp lại ba quy trình vừa phân tích.</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Bảng này đặt ba quy trình cạnh nhau để thấy điều mà từng quy trình riêng lẻ không cho thấy.</a:t>
            </a:r>
          </a:p>
          <a:p/>
          <a:p>
            <a:r>
              <a:t>Thầy xin nhìn dòng Hiệu suất thời gian. Quy trình Tìm kiếm đạt 95,9%, quy trình Khiếu nại chỉ 43,3%, quy trình Quản trị giá thì PCE là 45,28%. Chênh lệch rất lớn.</a:t>
            </a:r>
          </a:p>
          <a:p/>
          <a:p>
            <a:r>
              <a:t>Câu hỏi là vì sao. Nhóm nhận thấy mức chênh này tỷ lệ thuận với mức độ lệ thuộc vào đối tác bên ngoài. Quy trình Tìm kiếm chạy tự động hoàn toàn trong nội bộ, gọi API song song, nên gần như không chờ. Hai quy trình còn lại đều có bước chờ người khác — chờ hãng bay xác minh, chờ hãng bay gửi lại dữ liệu, chờ bộ phận khác phê duyệt.</a:t>
            </a:r>
          </a:p>
          <a:p/>
          <a:p>
            <a:r>
              <a:t>Dòng lãng phí trội cũng phản ánh đúng điều đó: quy trình nội bộ thì lãng phí thuộc nhóm Overdo — làm quá mức cần thiết; hai quy trình liên đới bên ngoài thì lãng phí thuộc nhóm Hold và Move — chờ và chuyển giao.</a:t>
            </a:r>
          </a:p>
          <a:p/>
          <a:p>
            <a:r>
              <a:t>Đây chính là mẫu hình mà nhóm rút ra làm kết luận chính của đồ án.</a:t>
            </a:r>
          </a:p>
          <a:p/>
          <a:p>
            <a:r>
              <a:t>CHUYEN Y: Em xin sang phần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Từ ba quy trình được phân tích, nhóm rút ra bốn mẫu hình lặp lại.</a:t>
            </a:r>
          </a:p>
          <a:p/>
          <a:p>
            <a:r>
              <a:t>Mẫu hình thứ nhất: giá trị gia tăng tập trung ở khâu ra quyết định của khách hàng và khâu xử lý dữ liệu. Còn phần lớn hoạt động không tạo giá trị đều là bước sửa lỗi hoặc làm lại. Điều này quan trọng vì nó nói lên rằng cải tiến không cần đầu tư lớn — chỉ cần thiết kế lại và siết chất lượng đầu vào.</a:t>
            </a:r>
          </a:p>
          <a:p/>
          <a:p>
            <a:r>
              <a:t>Mẫu hình thứ hai: lãng phí chủ yếu thuộc hai nhóm Hold và Overdo. Hold thì nằm ngoài tầm kiểm soát vì phụ thuộc đối tác. Overdo thì hoàn toàn nằm trong nội lực. Nên nhóm đề xuất ưu tiên xử lý Overdo trước.</a:t>
            </a:r>
          </a:p>
          <a:p/>
          <a:p>
            <a:r>
              <a:t>Mẫu hình thứ ba, và là phát hiện nhóm thấy có giá trị nhất: hiệu suất thời gian chênh lệch theo đúng mức độ lệ thuộc bên ngoài. Quy trình nội bộ đạt gần 96%, quy trình phụ thuộc đối tác chỉ 43 đến 69%. Kết luận là nút thắt của hệ thống không nằm ở năng lực xử lý của MoMo mà ở tốc độ phối hợp với đối tác.</a:t>
            </a:r>
          </a:p>
          <a:p/>
          <a:p>
            <a:r>
              <a:t>Mẫu hình thứ tư: qua sơ đồ xương cá và biểu đồ Pareto, nguyên nhân gốc rễ đều quy về ba nhóm — thiếu chuẩn hóa và tự động hóa trong trao đổi dữ liệu với đối tác, thiếu SLA nội bộ rõ ràng, và hạn chế trong hệ thống đo lường vận hành theo thời gian thực.</a:t>
            </a:r>
          </a:p>
          <a:p/>
          <a:p>
            <a:r>
              <a:t>CHUYEN Y: Cuối cùng là hạn chế và hướng phát triển.</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Về hạn chế, nhóm xin nêu bốn điểm một cách thẳng thắn.</a:t>
            </a:r>
          </a:p>
          <a:p/>
          <a:p>
            <a:r>
              <a:t>Thứ nhất và quan trọng nhất: toàn bộ số liệu định lượng là số liệu minh họa do nhóm xây dựng, vì nhóm không tiếp cận được dữ liệu vận hành nội bộ và không phỏng vấn được nhân sự M_Service. Bộ câu hỏi ở Chương 3 vì vậy là công cụ đã thiết kế nhưng chưa triển khai thực tế.</a:t>
            </a:r>
          </a:p>
          <a:p/>
          <a:p>
            <a:r>
              <a:t>Thứ hai, mô hình BPMN phản ánh cách nhóm hiểu quy trình từ bằng chứng công khai, có thể khác với thiết kế thực tế bên trong hệ thống MoMo, nhất là ở các bước kỹ thuật nội bộ.</a:t>
            </a:r>
          </a:p>
          <a:p/>
          <a:p>
            <a:r>
              <a:t>Thứ ba, một số tham số là giả định của nhóm — mốc 72 giờ xuất hóa đơn, việc dùng hệ thống hóa đơn của đối tác thứ ba, và giới hạn 2 lần thử lại API. Nhóm đã ghi chú rõ ngay tại chỗ sử dụng.</a:t>
            </a:r>
          </a:p>
          <a:p/>
          <a:p>
            <a:r>
              <a:t>Thứ tư, phân tích định lượng mới bao phủ 3 trong 10 quy trình.</a:t>
            </a:r>
          </a:p>
          <a:p/>
          <a:p>
            <a:r>
              <a:t>Về hướng phát triển, nếu có điều kiện, ưu tiên đầu tiên là triển khai bộ câu hỏi đã thiết kế để hiệu chỉnh số liệu và xác thực các giả định. Tiếp theo là mở rộng mô hình hóa sang các quy trình còn lại, và xây dựng mô hình To-Be để lượng hóa mức cải thiện của từng đề xuất.</a:t>
            </a:r>
          </a:p>
          <a:p/>
          <a:p>
            <a:r>
              <a:t>CHUYEN Y: Bài trình bày của nhóm em đến đây là hết.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Bài trình bày của nhóm em đến đây là hết. Nhóm em xin cảm ơn thầy và các bạn đã lắng nghe, và xin sẵn sàng nhận câu hỏi.</a:t>
            </a:r>
          </a:p>
          <a:p/>
          <a:p>
            <a:r>
              <a:t>Lưu ý khi trả lời: người phụ trách phần nào trả lời câu hỏi phần đó; nếu câu hỏi liên quan số liệu, nhớ nói rõ đây là số liệu giả định minh họa và giải thích cách nhóm suy ra con số.</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847088"/>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384048"/>
            <a:ext cx="11185855" cy="274320"/>
          </a:xfrm>
          <a:prstGeom prst="rect">
            <a:avLst/>
          </a:prstGeom>
          <a:noFill/>
        </p:spPr>
        <p:txBody>
          <a:bodyPr wrap="square" lIns="0" rIns="0" tIns="0" bIns="0">
            <a:spAutoFit/>
          </a:bodyPr>
          <a:lstStyle/>
          <a:p>
            <a:pPr algn="l">
              <a:lnSpc>
                <a:spcPct val="100000"/>
              </a:lnSpc>
            </a:pPr>
            <a:r>
              <a:rPr sz="1200" b="1" i="0">
                <a:solidFill>
                  <a:srgbClr val="FFFFFF"/>
                </a:solidFill>
                <a:latin typeface="Arial"/>
              </a:rPr>
              <a:t>TRƯỜNG ĐẠI HỌC CÔNG NGHỆ THÔNG TIN  ·  ĐHQG TP.HCM</a:t>
            </a:r>
          </a:p>
        </p:txBody>
      </p:sp>
      <p:sp>
        <p:nvSpPr>
          <p:cNvPr id="4" name="TextBox 3"/>
          <p:cNvSpPr txBox="1"/>
          <p:nvPr/>
        </p:nvSpPr>
        <p:spPr>
          <a:xfrm>
            <a:off x="502920" y="676656"/>
            <a:ext cx="11185855" cy="274320"/>
          </a:xfrm>
          <a:prstGeom prst="rect">
            <a:avLst/>
          </a:prstGeom>
          <a:noFill/>
        </p:spPr>
        <p:txBody>
          <a:bodyPr wrap="square" lIns="0" rIns="0" tIns="0" bIns="0">
            <a:spAutoFit/>
          </a:bodyPr>
          <a:lstStyle/>
          <a:p>
            <a:pPr algn="l">
              <a:lnSpc>
                <a:spcPct val="100000"/>
              </a:lnSpc>
            </a:pPr>
            <a:r>
              <a:rPr sz="1050" b="0" i="0">
                <a:solidFill>
                  <a:srgbClr val="FFFFFF"/>
                </a:solidFill>
                <a:latin typeface="Arial"/>
              </a:rPr>
              <a:t>TRUNG TÂM PHÁT TRIỂN CÔNG NGHỆ THÔNG TIN</a:t>
            </a:r>
          </a:p>
        </p:txBody>
      </p:sp>
      <p:sp>
        <p:nvSpPr>
          <p:cNvPr id="5" name="TextBox 4"/>
          <p:cNvSpPr txBox="1"/>
          <p:nvPr/>
        </p:nvSpPr>
        <p:spPr>
          <a:xfrm>
            <a:off x="502920" y="1115568"/>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BÁO CÁO ĐỒ ÁN CUỐI KỲ  —  HỆ THỐNG QUẢN TRỊ QUY TRÌNH NGHIỆP VỤ</a:t>
            </a:r>
          </a:p>
        </p:txBody>
      </p:sp>
      <p:sp>
        <p:nvSpPr>
          <p:cNvPr id="6" name="TextBox 5"/>
          <p:cNvSpPr txBox="1"/>
          <p:nvPr/>
        </p:nvSpPr>
        <p:spPr>
          <a:xfrm>
            <a:off x="502920" y="2121408"/>
            <a:ext cx="11185855" cy="1051560"/>
          </a:xfrm>
          <a:prstGeom prst="rect">
            <a:avLst/>
          </a:prstGeom>
          <a:noFill/>
        </p:spPr>
        <p:txBody>
          <a:bodyPr wrap="square" lIns="0" rIns="0" tIns="0" bIns="0">
            <a:spAutoFit/>
          </a:bodyPr>
          <a:lstStyle/>
          <a:p>
            <a:pPr algn="l">
              <a:lnSpc>
                <a:spcPct val="105000"/>
              </a:lnSpc>
            </a:pPr>
            <a:r>
              <a:rPr sz="2900" b="1" i="0">
                <a:solidFill>
                  <a:srgbClr val="1F2430"/>
                </a:solidFill>
                <a:latin typeface="Arial"/>
              </a:rPr>
              <a:t>Tìm hiểu hệ thống quy trình nghiệp vụ</a:t>
            </a:r>
          </a:p>
          <a:p>
            <a:pPr algn="l">
              <a:lnSpc>
                <a:spcPct val="105000"/>
              </a:lnSpc>
            </a:pPr>
            <a:r>
              <a:rPr sz="2900" b="1" i="0">
                <a:solidFill>
                  <a:srgbClr val="1F2430"/>
                </a:solidFill>
                <a:latin typeface="Arial"/>
              </a:rPr>
              <a:t>mảng đặt vé máy bay trên ứng dụng MoMo</a:t>
            </a:r>
          </a:p>
        </p:txBody>
      </p:sp>
      <p:sp>
        <p:nvSpPr>
          <p:cNvPr id="7" name="TextBox 6"/>
          <p:cNvSpPr txBox="1"/>
          <p:nvPr/>
        </p:nvSpPr>
        <p:spPr>
          <a:xfrm>
            <a:off x="502920" y="3163824"/>
            <a:ext cx="11185855" cy="274320"/>
          </a:xfrm>
          <a:prstGeom prst="rect">
            <a:avLst/>
          </a:prstGeom>
          <a:noFill/>
        </p:spPr>
        <p:txBody>
          <a:bodyPr wrap="square" lIns="0" rIns="0" tIns="0" bIns="0">
            <a:spAutoFit/>
          </a:bodyPr>
          <a:lstStyle/>
          <a:p>
            <a:pPr algn="l">
              <a:lnSpc>
                <a:spcPct val="100000"/>
              </a:lnSpc>
            </a:pPr>
            <a:r>
              <a:rPr sz="1250" b="0" i="1">
                <a:solidFill>
                  <a:srgbClr val="5A6172"/>
                </a:solidFill>
                <a:latin typeface="Arial"/>
              </a:rPr>
              <a:t>Công ty Cổ phần Dịch vụ Di động Trực tuyến (M_Service)</a:t>
            </a:r>
          </a:p>
        </p:txBody>
      </p:sp>
      <p:sp>
        <p:nvSpPr>
          <p:cNvPr id="8" name="Rectangle 7"/>
          <p:cNvSpPr/>
          <p:nvPr/>
        </p:nvSpPr>
        <p:spPr>
          <a:xfrm>
            <a:off x="502920" y="3547872"/>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502920" y="3712463"/>
            <a:ext cx="28346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NHÓM THỰC HIỆN — NHÓM 9</a:t>
            </a:r>
          </a:p>
        </p:txBody>
      </p:sp>
      <p:sp>
        <p:nvSpPr>
          <p:cNvPr id="10" name="TextBox 9"/>
          <p:cNvSpPr txBox="1"/>
          <p:nvPr/>
        </p:nvSpPr>
        <p:spPr>
          <a:xfrm>
            <a:off x="502920" y="4023360"/>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25410175</a:t>
            </a:r>
          </a:p>
        </p:txBody>
      </p:sp>
      <p:sp>
        <p:nvSpPr>
          <p:cNvPr id="11" name="TextBox 10"/>
          <p:cNvSpPr txBox="1"/>
          <p:nvPr/>
        </p:nvSpPr>
        <p:spPr>
          <a:xfrm>
            <a:off x="1399032" y="4023360"/>
            <a:ext cx="2834640" cy="237744"/>
          </a:xfrm>
          <a:prstGeom prst="rect">
            <a:avLst/>
          </a:prstGeom>
          <a:noFill/>
        </p:spPr>
        <p:txBody>
          <a:bodyPr wrap="square" lIns="0" rIns="0" tIns="0" bIns="0">
            <a:spAutoFit/>
          </a:bodyPr>
          <a:lstStyle/>
          <a:p>
            <a:pPr algn="l">
              <a:lnSpc>
                <a:spcPct val="100000"/>
              </a:lnSpc>
            </a:pPr>
            <a:r>
              <a:rPr sz="1050" b="1" i="0">
                <a:solidFill>
                  <a:srgbClr val="1F2430"/>
                </a:solidFill>
                <a:latin typeface="Arial"/>
              </a:rPr>
              <a:t>Đinh Xuân Bảo  ·  Nhóm trưởng</a:t>
            </a:r>
          </a:p>
        </p:txBody>
      </p:sp>
      <p:sp>
        <p:nvSpPr>
          <p:cNvPr id="12" name="TextBox 11"/>
          <p:cNvSpPr txBox="1"/>
          <p:nvPr/>
        </p:nvSpPr>
        <p:spPr>
          <a:xfrm>
            <a:off x="502920" y="4334256"/>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25410167</a:t>
            </a:r>
          </a:p>
        </p:txBody>
      </p:sp>
      <p:sp>
        <p:nvSpPr>
          <p:cNvPr id="13" name="TextBox 12"/>
          <p:cNvSpPr txBox="1"/>
          <p:nvPr/>
        </p:nvSpPr>
        <p:spPr>
          <a:xfrm>
            <a:off x="1399032" y="4334256"/>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Vũ Thị Nhân Ái</a:t>
            </a:r>
          </a:p>
        </p:txBody>
      </p:sp>
      <p:sp>
        <p:nvSpPr>
          <p:cNvPr id="14" name="TextBox 13"/>
          <p:cNvSpPr txBox="1"/>
          <p:nvPr/>
        </p:nvSpPr>
        <p:spPr>
          <a:xfrm>
            <a:off x="502920" y="4645152"/>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25410168</a:t>
            </a:r>
          </a:p>
        </p:txBody>
      </p:sp>
      <p:sp>
        <p:nvSpPr>
          <p:cNvPr id="15" name="TextBox 14"/>
          <p:cNvSpPr txBox="1"/>
          <p:nvPr/>
        </p:nvSpPr>
        <p:spPr>
          <a:xfrm>
            <a:off x="1399032" y="4645152"/>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Phạm Ngọc Bảo An</a:t>
            </a:r>
          </a:p>
        </p:txBody>
      </p:sp>
      <p:sp>
        <p:nvSpPr>
          <p:cNvPr id="16" name="TextBox 15"/>
          <p:cNvSpPr txBox="1"/>
          <p:nvPr/>
        </p:nvSpPr>
        <p:spPr>
          <a:xfrm>
            <a:off x="502920" y="4956048"/>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25410191</a:t>
            </a:r>
          </a:p>
        </p:txBody>
      </p:sp>
      <p:sp>
        <p:nvSpPr>
          <p:cNvPr id="17" name="TextBox 16"/>
          <p:cNvSpPr txBox="1"/>
          <p:nvPr/>
        </p:nvSpPr>
        <p:spPr>
          <a:xfrm>
            <a:off x="1399032" y="4956048"/>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Hồ Nguyễn Bảo Duy</a:t>
            </a:r>
          </a:p>
        </p:txBody>
      </p:sp>
      <p:sp>
        <p:nvSpPr>
          <p:cNvPr id="18" name="TextBox 17"/>
          <p:cNvSpPr txBox="1"/>
          <p:nvPr/>
        </p:nvSpPr>
        <p:spPr>
          <a:xfrm>
            <a:off x="4297680" y="4023360"/>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25410195</a:t>
            </a:r>
          </a:p>
        </p:txBody>
      </p:sp>
      <p:sp>
        <p:nvSpPr>
          <p:cNvPr id="19" name="TextBox 18"/>
          <p:cNvSpPr txBox="1"/>
          <p:nvPr/>
        </p:nvSpPr>
        <p:spPr>
          <a:xfrm>
            <a:off x="5193792" y="4023360"/>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Huỳnh Mỹ Duyên</a:t>
            </a:r>
          </a:p>
        </p:txBody>
      </p:sp>
      <p:sp>
        <p:nvSpPr>
          <p:cNvPr id="20" name="TextBox 19"/>
          <p:cNvSpPr txBox="1"/>
          <p:nvPr/>
        </p:nvSpPr>
        <p:spPr>
          <a:xfrm>
            <a:off x="4297680" y="4334256"/>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25410206</a:t>
            </a:r>
          </a:p>
        </p:txBody>
      </p:sp>
      <p:sp>
        <p:nvSpPr>
          <p:cNvPr id="21" name="TextBox 20"/>
          <p:cNvSpPr txBox="1"/>
          <p:nvPr/>
        </p:nvSpPr>
        <p:spPr>
          <a:xfrm>
            <a:off x="5193792" y="4334256"/>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Đắc Hiển</a:t>
            </a:r>
          </a:p>
        </p:txBody>
      </p:sp>
      <p:sp>
        <p:nvSpPr>
          <p:cNvPr id="22" name="TextBox 21"/>
          <p:cNvSpPr txBox="1"/>
          <p:nvPr/>
        </p:nvSpPr>
        <p:spPr>
          <a:xfrm>
            <a:off x="4297680" y="4645152"/>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25410223</a:t>
            </a:r>
          </a:p>
        </p:txBody>
      </p:sp>
      <p:sp>
        <p:nvSpPr>
          <p:cNvPr id="23" name="TextBox 22"/>
          <p:cNvSpPr txBox="1"/>
          <p:nvPr/>
        </p:nvSpPr>
        <p:spPr>
          <a:xfrm>
            <a:off x="5193792" y="4645152"/>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Lê Quốc Hưng</a:t>
            </a:r>
          </a:p>
        </p:txBody>
      </p:sp>
      <p:sp>
        <p:nvSpPr>
          <p:cNvPr id="24" name="TextBox 23"/>
          <p:cNvSpPr txBox="1"/>
          <p:nvPr/>
        </p:nvSpPr>
        <p:spPr>
          <a:xfrm>
            <a:off x="4297680" y="4956048"/>
            <a:ext cx="868680" cy="237744"/>
          </a:xfrm>
          <a:prstGeom prst="rect">
            <a:avLst/>
          </a:prstGeom>
          <a:noFill/>
        </p:spPr>
        <p:txBody>
          <a:bodyPr wrap="square" lIns="0" rIns="0" tIns="0" bIns="0">
            <a:spAutoFit/>
          </a:bodyPr>
          <a:lstStyle/>
          <a:p>
            <a:pPr algn="l">
              <a:lnSpc>
                <a:spcPct val="100000"/>
              </a:lnSpc>
            </a:pPr>
            <a:r>
              <a:rPr sz="1050" b="0" i="0">
                <a:solidFill>
                  <a:srgbClr val="5A6172"/>
                </a:solidFill>
                <a:latin typeface="Arial"/>
              </a:rPr>
              <a:t>25410237</a:t>
            </a:r>
          </a:p>
        </p:txBody>
      </p:sp>
      <p:sp>
        <p:nvSpPr>
          <p:cNvPr id="25" name="TextBox 24"/>
          <p:cNvSpPr txBox="1"/>
          <p:nvPr/>
        </p:nvSpPr>
        <p:spPr>
          <a:xfrm>
            <a:off x="5193792" y="4956048"/>
            <a:ext cx="2834640" cy="237744"/>
          </a:xfrm>
          <a:prstGeom prst="rect">
            <a:avLst/>
          </a:prstGeom>
          <a:noFill/>
        </p:spPr>
        <p:txBody>
          <a:bodyPr wrap="square" lIns="0" rIns="0" tIns="0" bIns="0">
            <a:spAutoFit/>
          </a:bodyPr>
          <a:lstStyle/>
          <a:p>
            <a:pPr algn="l">
              <a:lnSpc>
                <a:spcPct val="100000"/>
              </a:lnSpc>
            </a:pPr>
            <a:r>
              <a:rPr sz="1050" b="0" i="0">
                <a:solidFill>
                  <a:srgbClr val="1F2430"/>
                </a:solidFill>
                <a:latin typeface="Arial"/>
              </a:rPr>
              <a:t>Nguyễn Mậu An Khương</a:t>
            </a:r>
          </a:p>
        </p:txBody>
      </p:sp>
      <p:sp>
        <p:nvSpPr>
          <p:cNvPr id="26" name="TextBox 25"/>
          <p:cNvSpPr txBox="1"/>
          <p:nvPr/>
        </p:nvSpPr>
        <p:spPr>
          <a:xfrm>
            <a:off x="8366760" y="3712463"/>
            <a:ext cx="32918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GIẢNG VIÊN HƯỚNG DẪN</a:t>
            </a:r>
          </a:p>
        </p:txBody>
      </p:sp>
      <p:sp>
        <p:nvSpPr>
          <p:cNvPr id="27" name="TextBox 26"/>
          <p:cNvSpPr txBox="1"/>
          <p:nvPr/>
        </p:nvSpPr>
        <p:spPr>
          <a:xfrm>
            <a:off x="8366760" y="4023360"/>
            <a:ext cx="3291840" cy="274320"/>
          </a:xfrm>
          <a:prstGeom prst="rect">
            <a:avLst/>
          </a:prstGeom>
          <a:noFill/>
        </p:spPr>
        <p:txBody>
          <a:bodyPr wrap="square" lIns="0" rIns="0" tIns="0" bIns="0">
            <a:spAutoFit/>
          </a:bodyPr>
          <a:lstStyle/>
          <a:p>
            <a:pPr algn="l">
              <a:lnSpc>
                <a:spcPct val="100000"/>
              </a:lnSpc>
            </a:pPr>
            <a:r>
              <a:rPr sz="1300" b="1" i="0">
                <a:solidFill>
                  <a:srgbClr val="1F2430"/>
                </a:solidFill>
                <a:latin typeface="Arial"/>
              </a:rPr>
              <a:t>ThS. Hà Lê Hoài Trung</a:t>
            </a:r>
          </a:p>
        </p:txBody>
      </p:sp>
      <p:sp>
        <p:nvSpPr>
          <p:cNvPr id="28" name="TextBox 27"/>
          <p:cNvSpPr txBox="1"/>
          <p:nvPr/>
        </p:nvSpPr>
        <p:spPr>
          <a:xfrm>
            <a:off x="8366760" y="4645152"/>
            <a:ext cx="3291840" cy="237744"/>
          </a:xfrm>
          <a:prstGeom prst="rect">
            <a:avLst/>
          </a:prstGeom>
          <a:noFill/>
        </p:spPr>
        <p:txBody>
          <a:bodyPr wrap="square" lIns="0" rIns="0" tIns="0" bIns="0">
            <a:spAutoFit/>
          </a:bodyPr>
          <a:lstStyle/>
          <a:p>
            <a:pPr algn="l">
              <a:lnSpc>
                <a:spcPct val="100000"/>
              </a:lnSpc>
            </a:pPr>
            <a:r>
              <a:rPr sz="1000" b="1" i="0">
                <a:solidFill>
                  <a:srgbClr val="A50064"/>
                </a:solidFill>
                <a:latin typeface="Arial"/>
              </a:rPr>
              <a:t>NĂM HỌC</a:t>
            </a:r>
          </a:p>
        </p:txBody>
      </p:sp>
      <p:sp>
        <p:nvSpPr>
          <p:cNvPr id="29" name="TextBox 28"/>
          <p:cNvSpPr txBox="1"/>
          <p:nvPr/>
        </p:nvSpPr>
        <p:spPr>
          <a:xfrm>
            <a:off x="8366760" y="4956048"/>
            <a:ext cx="3291840" cy="274320"/>
          </a:xfrm>
          <a:prstGeom prst="rect">
            <a:avLst/>
          </a:prstGeom>
          <a:noFill/>
        </p:spPr>
        <p:txBody>
          <a:bodyPr wrap="square" lIns="0" rIns="0" tIns="0" bIns="0">
            <a:spAutoFit/>
          </a:bodyPr>
          <a:lstStyle/>
          <a:p>
            <a:pPr algn="l">
              <a:lnSpc>
                <a:spcPct val="100000"/>
              </a:lnSpc>
            </a:pPr>
            <a:r>
              <a:rPr sz="1300" b="1" i="0">
                <a:solidFill>
                  <a:srgbClr val="1F2430"/>
                </a:solidFill>
                <a:latin typeface="Arial"/>
              </a:rPr>
              <a:t>2025 – 2026</a:t>
            </a:r>
          </a:p>
        </p:txBody>
      </p:sp>
      <p:sp>
        <p:nvSpPr>
          <p:cNvPr id="30" name="TextBox 29"/>
          <p:cNvSpPr txBox="1"/>
          <p:nvPr/>
        </p:nvSpPr>
        <p:spPr>
          <a:xfrm>
            <a:off x="502920" y="5989320"/>
            <a:ext cx="11185855" cy="274320"/>
          </a:xfrm>
          <a:prstGeom prst="rect">
            <a:avLst/>
          </a:prstGeom>
          <a:noFill/>
        </p:spPr>
        <p:txBody>
          <a:bodyPr wrap="square" lIns="0" rIns="0" tIns="0" bIns="0">
            <a:spAutoFit/>
          </a:bodyPr>
          <a:lstStyle/>
          <a:p>
            <a:pPr algn="ctr">
              <a:lnSpc>
                <a:spcPct val="100000"/>
              </a:lnSpc>
            </a:pPr>
            <a:r>
              <a:rPr sz="1100" b="0" i="1">
                <a:solidFill>
                  <a:srgbClr val="5A6172"/>
                </a:solidFill>
                <a:latin typeface="Arial"/>
              </a:rPr>
              <a:t>TP. Hồ Chí Minh, tháng 08 năm 2026</a:t>
            </a:r>
          </a:p>
        </p:txBody>
      </p:sp>
      <p:sp>
        <p:nvSpPr>
          <p:cNvPr id="31" name="TextBox 30"/>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32" name="TextBox 31"/>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NỘI DUNG TRÌNH BÀY</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Agenda</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572768"/>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40664" y="1755648"/>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01</a:t>
            </a:r>
          </a:p>
        </p:txBody>
      </p:sp>
      <p:sp>
        <p:nvSpPr>
          <p:cNvPr id="8" name="TextBox 7"/>
          <p:cNvSpPr txBox="1"/>
          <p:nvPr/>
        </p:nvSpPr>
        <p:spPr>
          <a:xfrm>
            <a:off x="1636776" y="1810512"/>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Tổng quan doanh nghiệp</a:t>
            </a:r>
          </a:p>
        </p:txBody>
      </p:sp>
      <p:sp>
        <p:nvSpPr>
          <p:cNvPr id="9" name="TextBox 8"/>
          <p:cNvSpPr txBox="1"/>
          <p:nvPr/>
        </p:nvSpPr>
        <p:spPr>
          <a:xfrm>
            <a:off x="1636776" y="2249424"/>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M_Service, ví MoMo và mảng "Du lịch – Đi lại"</a:t>
            </a:r>
          </a:p>
        </p:txBody>
      </p:sp>
      <p:sp>
        <p:nvSpPr>
          <p:cNvPr id="10" name="Rounded Rectangle 9"/>
          <p:cNvSpPr/>
          <p:nvPr/>
        </p:nvSpPr>
        <p:spPr>
          <a:xfrm>
            <a:off x="502920" y="3090672"/>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40664" y="3273552"/>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02</a:t>
            </a:r>
          </a:p>
        </p:txBody>
      </p:sp>
      <p:sp>
        <p:nvSpPr>
          <p:cNvPr id="12" name="TextBox 11"/>
          <p:cNvSpPr txBox="1"/>
          <p:nvPr/>
        </p:nvSpPr>
        <p:spPr>
          <a:xfrm>
            <a:off x="1636776" y="3328415"/>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Kiến trúc quy trình nghiệp vụ</a:t>
            </a:r>
          </a:p>
        </p:txBody>
      </p:sp>
      <p:sp>
        <p:nvSpPr>
          <p:cNvPr id="13" name="TextBox 12"/>
          <p:cNvSpPr txBox="1"/>
          <p:nvPr/>
        </p:nvSpPr>
        <p:spPr>
          <a:xfrm>
            <a:off x="1636776" y="3767328"/>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10 quy trình — 3 nhóm Quản lý / Cốt lõi / Hỗ trợ</a:t>
            </a:r>
          </a:p>
        </p:txBody>
      </p:sp>
      <p:sp>
        <p:nvSpPr>
          <p:cNvPr id="14" name="Rounded Rectangle 13"/>
          <p:cNvSpPr/>
          <p:nvPr/>
        </p:nvSpPr>
        <p:spPr>
          <a:xfrm>
            <a:off x="502920" y="4608576"/>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40664" y="4791456"/>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03</a:t>
            </a:r>
          </a:p>
        </p:txBody>
      </p:sp>
      <p:sp>
        <p:nvSpPr>
          <p:cNvPr id="16" name="TextBox 15"/>
          <p:cNvSpPr txBox="1"/>
          <p:nvPr/>
        </p:nvSpPr>
        <p:spPr>
          <a:xfrm>
            <a:off x="1636776" y="4846320"/>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Mô hình hóa BPMN</a:t>
            </a:r>
          </a:p>
        </p:txBody>
      </p:sp>
      <p:sp>
        <p:nvSpPr>
          <p:cNvPr id="17" name="TextBox 16"/>
          <p:cNvSpPr txBox="1"/>
          <p:nvPr/>
        </p:nvSpPr>
        <p:spPr>
          <a:xfrm>
            <a:off x="1636776" y="5285232"/>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6 quy trình đại diện: 2 Quản lý – 2 Cốt lõi – 2 Hỗ trợ</a:t>
            </a:r>
          </a:p>
        </p:txBody>
      </p:sp>
      <p:sp>
        <p:nvSpPr>
          <p:cNvPr id="18" name="Rounded Rectangle 17"/>
          <p:cNvSpPr/>
          <p:nvPr/>
        </p:nvSpPr>
        <p:spPr>
          <a:xfrm>
            <a:off x="6205575" y="1572768"/>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43319" y="1755648"/>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04</a:t>
            </a:r>
          </a:p>
        </p:txBody>
      </p:sp>
      <p:sp>
        <p:nvSpPr>
          <p:cNvPr id="20" name="TextBox 19"/>
          <p:cNvSpPr txBox="1"/>
          <p:nvPr/>
        </p:nvSpPr>
        <p:spPr>
          <a:xfrm>
            <a:off x="7339431" y="1810512"/>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Phân tích quy trình</a:t>
            </a:r>
          </a:p>
        </p:txBody>
      </p:sp>
      <p:sp>
        <p:nvSpPr>
          <p:cNvPr id="21" name="TextBox 20"/>
          <p:cNvSpPr txBox="1"/>
          <p:nvPr/>
        </p:nvSpPr>
        <p:spPr>
          <a:xfrm>
            <a:off x="7339431" y="2249424"/>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3 quy trình phân tích sâu: định tính + định lượng</a:t>
            </a:r>
          </a:p>
        </p:txBody>
      </p:sp>
      <p:sp>
        <p:nvSpPr>
          <p:cNvPr id="22" name="Rounded Rectangle 21"/>
          <p:cNvSpPr/>
          <p:nvPr/>
        </p:nvSpPr>
        <p:spPr>
          <a:xfrm>
            <a:off x="6205575" y="3090672"/>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6443319" y="3273552"/>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05</a:t>
            </a:r>
          </a:p>
        </p:txBody>
      </p:sp>
      <p:sp>
        <p:nvSpPr>
          <p:cNvPr id="24" name="TextBox 23"/>
          <p:cNvSpPr txBox="1"/>
          <p:nvPr/>
        </p:nvSpPr>
        <p:spPr>
          <a:xfrm>
            <a:off x="7339431" y="3328415"/>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Kết luận</a:t>
            </a:r>
          </a:p>
        </p:txBody>
      </p:sp>
      <p:sp>
        <p:nvSpPr>
          <p:cNvPr id="25" name="TextBox 24"/>
          <p:cNvSpPr txBox="1"/>
          <p:nvPr/>
        </p:nvSpPr>
        <p:spPr>
          <a:xfrm>
            <a:off x="7339431" y="3767328"/>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Mẫu hình chung, hạn chế và hướng phát triển</a:t>
            </a:r>
          </a:p>
        </p:txBody>
      </p:sp>
      <p:sp>
        <p:nvSpPr>
          <p:cNvPr id="26" name="Rounded Rectangle 25"/>
          <p:cNvSpPr/>
          <p:nvPr/>
        </p:nvSpPr>
        <p:spPr>
          <a:xfrm>
            <a:off x="6205575" y="4608576"/>
            <a:ext cx="5483199" cy="13167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6443319" y="4791456"/>
            <a:ext cx="822960" cy="457200"/>
          </a:xfrm>
          <a:prstGeom prst="rect">
            <a:avLst/>
          </a:prstGeom>
          <a:noFill/>
        </p:spPr>
        <p:txBody>
          <a:bodyPr wrap="square" lIns="0" rIns="0" tIns="0" bIns="0">
            <a:spAutoFit/>
          </a:bodyPr>
          <a:lstStyle/>
          <a:p>
            <a:pPr algn="l">
              <a:lnSpc>
                <a:spcPct val="100000"/>
              </a:lnSpc>
            </a:pPr>
            <a:r>
              <a:rPr sz="2700" b="1" i="0">
                <a:solidFill>
                  <a:srgbClr val="A50064"/>
                </a:solidFill>
                <a:latin typeface="Arial"/>
              </a:rPr>
              <a:t>06</a:t>
            </a:r>
          </a:p>
        </p:txBody>
      </p:sp>
      <p:sp>
        <p:nvSpPr>
          <p:cNvPr id="28" name="TextBox 27"/>
          <p:cNvSpPr txBox="1"/>
          <p:nvPr/>
        </p:nvSpPr>
        <p:spPr>
          <a:xfrm>
            <a:off x="7339431" y="4846320"/>
            <a:ext cx="4111599" cy="347472"/>
          </a:xfrm>
          <a:prstGeom prst="rect">
            <a:avLst/>
          </a:prstGeom>
          <a:noFill/>
        </p:spPr>
        <p:txBody>
          <a:bodyPr wrap="square" lIns="0" rIns="0" tIns="0" bIns="0">
            <a:spAutoFit/>
          </a:bodyPr>
          <a:lstStyle/>
          <a:p>
            <a:pPr algn="l">
              <a:lnSpc>
                <a:spcPct val="100000"/>
              </a:lnSpc>
            </a:pPr>
            <a:r>
              <a:rPr sz="1500" b="1" i="0">
                <a:solidFill>
                  <a:srgbClr val="1F2430"/>
                </a:solidFill>
                <a:latin typeface="Arial"/>
              </a:rPr>
              <a:t>Hỏi đáp</a:t>
            </a:r>
          </a:p>
        </p:txBody>
      </p:sp>
      <p:sp>
        <p:nvSpPr>
          <p:cNvPr id="29" name="TextBox 28"/>
          <p:cNvSpPr txBox="1"/>
          <p:nvPr/>
        </p:nvSpPr>
        <p:spPr>
          <a:xfrm>
            <a:off x="7339431" y="5285232"/>
            <a:ext cx="4111599" cy="457200"/>
          </a:xfrm>
          <a:prstGeom prst="rect">
            <a:avLst/>
          </a:prstGeom>
          <a:noFill/>
        </p:spPr>
        <p:txBody>
          <a:bodyPr wrap="square" lIns="0" rIns="0" tIns="0" bIns="0">
            <a:spAutoFit/>
          </a:bodyPr>
          <a:lstStyle/>
          <a:p>
            <a:pPr algn="l">
              <a:lnSpc>
                <a:spcPct val="100000"/>
              </a:lnSpc>
            </a:pPr>
            <a:r>
              <a:rPr sz="1100" b="0" i="0">
                <a:solidFill>
                  <a:srgbClr val="5A6172"/>
                </a:solidFill>
                <a:latin typeface="Arial"/>
              </a:rPr>
              <a:t>Q &amp; A</a:t>
            </a:r>
          </a:p>
        </p:txBody>
      </p:sp>
      <p:sp>
        <p:nvSpPr>
          <p:cNvPr id="30" name="TextBox 2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31" name="TextBox 3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1 · TỔNG QUAN DOANH NGHIỆP</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M_Service và ví điện tử MoMo</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21031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HÌNH THÀNH VÀ PHÁT TRIỂN</a:t>
            </a:r>
          </a:p>
        </p:txBody>
      </p:sp>
      <p:sp>
        <p:nvSpPr>
          <p:cNvPr id="8" name="TextBox 7"/>
          <p:cNvSpPr txBox="1"/>
          <p:nvPr/>
        </p:nvSpPr>
        <p:spPr>
          <a:xfrm>
            <a:off x="704088" y="1865376"/>
            <a:ext cx="5080863" cy="148132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2007 — </a:t>
            </a:r>
            <a:r>
              <a:rPr sz="1150" b="0" i="0">
                <a:solidFill>
                  <a:srgbClr val="1F2430"/>
                </a:solidFill>
                <a:latin typeface="Arial"/>
              </a:rPr>
              <a:t>thành lập Công ty CP Dịch vụ Di động Trực tuyến (M_Service).</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2010 — </a:t>
            </a:r>
            <a:r>
              <a:rPr sz="1150" b="0" i="0">
                <a:solidFill>
                  <a:srgbClr val="1F2430"/>
                </a:solidFill>
                <a:latin typeface="Arial"/>
              </a:rPr>
              <a:t>ra mắt dịch vụ trên SIM điện thoại, hợp tác Vinaphone.</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2014 — </a:t>
            </a:r>
            <a:r>
              <a:rPr sz="1150" b="0" i="0">
                <a:solidFill>
                  <a:srgbClr val="1F2430"/>
                </a:solidFill>
                <a:latin typeface="Arial"/>
              </a:rPr>
              <a:t>ra mắt ứng dụng smartphone tên MoMo — viết tắt của "Mobile Money".</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Hiện nay — </a:t>
            </a:r>
            <a:r>
              <a:rPr sz="1150" b="0" i="0">
                <a:solidFill>
                  <a:srgbClr val="1F2430"/>
                </a:solidFill>
                <a:latin typeface="Arial"/>
              </a:rPr>
              <a:t>kỳ lân công nghệ, siêu ứng dụng thanh toán hàng đầu Việt Nam.</a:t>
            </a:r>
          </a:p>
        </p:txBody>
      </p:sp>
      <p:sp>
        <p:nvSpPr>
          <p:cNvPr id="9" name="Rounded Rectangle 8"/>
          <p:cNvSpPr/>
          <p:nvPr/>
        </p:nvSpPr>
        <p:spPr>
          <a:xfrm>
            <a:off x="6205575" y="1389888"/>
            <a:ext cx="5483199" cy="210312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6743"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BA NHÓM DỊCH VỤ CHÍNH</a:t>
            </a:r>
          </a:p>
        </p:txBody>
      </p:sp>
      <p:sp>
        <p:nvSpPr>
          <p:cNvPr id="11" name="TextBox 10"/>
          <p:cNvSpPr txBox="1"/>
          <p:nvPr/>
        </p:nvSpPr>
        <p:spPr>
          <a:xfrm>
            <a:off x="6406743" y="1865376"/>
            <a:ext cx="5080863" cy="148132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Thanh toán &amp; chuyển tiền — </a:t>
            </a:r>
            <a:r>
              <a:rPr sz="1150" b="0" i="0">
                <a:solidFill>
                  <a:srgbClr val="1F2430"/>
                </a:solidFill>
                <a:latin typeface="Arial"/>
              </a:rPr>
              <a:t>nạp/rút, chuyển tiền, thanh toán hóa đơn.</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Dịch vụ tài chính — </a:t>
            </a:r>
            <a:r>
              <a:rPr sz="1150" b="0" i="0">
                <a:solidFill>
                  <a:srgbClr val="1F2430"/>
                </a:solidFill>
                <a:latin typeface="Arial"/>
              </a:rPr>
              <a:t>ví trả sau, tiết kiệm, bảo hiểm, đầu tư.</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Tiện ích đời sống &amp; du lịch — </a:t>
            </a:r>
            <a:r>
              <a:rPr sz="1150" b="0" i="0">
                <a:solidFill>
                  <a:srgbClr val="1F2430"/>
                </a:solidFill>
                <a:latin typeface="Arial"/>
              </a:rPr>
              <a:t>nhóm "Du lịch – Đi lại", chứa mảng đặt vé máy bay.</a:t>
            </a:r>
          </a:p>
          <a:p>
            <a:pPr marL="219456" indent="-219456">
              <a:lnSpc>
                <a:spcPct val="112000"/>
              </a:lnSpc>
              <a:spcAft>
                <a:spcPts val="400"/>
              </a:spcAft>
            </a:pPr>
            <a:r>
              <a:rPr sz="1150" b="1" i="0">
                <a:solidFill>
                  <a:srgbClr val="A50064"/>
                </a:solidFill>
                <a:latin typeface="Arial"/>
              </a:rPr>
              <a:t>▸  </a:t>
            </a:r>
            <a:r>
              <a:rPr sz="1150" b="0" i="0">
                <a:solidFill>
                  <a:srgbClr val="1F2430"/>
                </a:solidFill>
                <a:latin typeface="Arial"/>
              </a:rPr>
              <a:t>Mảng đặt vé máy bay chính là phạm vi nghiên cứu của đồ án.</a:t>
            </a:r>
          </a:p>
        </p:txBody>
      </p:sp>
      <p:sp>
        <p:nvSpPr>
          <p:cNvPr id="12" name="Rounded Rectangle 11"/>
          <p:cNvSpPr/>
          <p:nvPr/>
        </p:nvSpPr>
        <p:spPr>
          <a:xfrm>
            <a:off x="502920" y="3639312"/>
            <a:ext cx="11185855" cy="265175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3785615"/>
            <a:ext cx="1078351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BA ĐẶC ĐIỂM CHI PHỐI CÁCH VẬN HÀNH QUY TRÌNH</a:t>
            </a:r>
          </a:p>
        </p:txBody>
      </p:sp>
      <p:sp>
        <p:nvSpPr>
          <p:cNvPr id="14" name="TextBox 13"/>
          <p:cNvSpPr txBox="1"/>
          <p:nvPr/>
        </p:nvSpPr>
        <p:spPr>
          <a:xfrm>
            <a:off x="704088" y="4114800"/>
            <a:ext cx="10783519" cy="2029967"/>
          </a:xfrm>
          <a:prstGeom prst="rect">
            <a:avLst/>
          </a:prstGeom>
          <a:noFill/>
        </p:spPr>
        <p:txBody>
          <a:bodyPr wrap="square" lIns="0" rIns="0" tIns="0" bIns="0">
            <a:spAutoFit/>
          </a:bodyPr>
          <a:lstStyle/>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MoMo không tự vận hành đội bay </a:t>
            </a:r>
            <a:r>
              <a:rPr sz="1150" b="0" i="0">
                <a:solidFill>
                  <a:srgbClr val="1F2430"/>
                </a:solidFill>
                <a:latin typeface="Arial"/>
              </a:rPr>
              <a:t>— đóng vai trò nền tảng trung gian giữa khách hàng và hãng bay/nhà cung ứng. Vì vậy hầu hết quy trình đều có bước phối hợp hoặc chờ phản hồi từ đối tác bên ngoài.</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Là tổ chức cung ứng dịch vụ trung gian thanh toán </a:t>
            </a:r>
            <a:r>
              <a:rPr sz="1150" b="0" i="0">
                <a:solidFill>
                  <a:srgbClr val="1F2430"/>
                </a:solidFill>
                <a:latin typeface="Arial"/>
              </a:rPr>
              <a:t>— chịu điều chỉnh của Ngân hàng Nhà nước: Thông tư 17/2024, Thông tư 23/2019, và yêu cầu xác thực sinh trắc học theo Thông tư 77/2025.</a:t>
            </a:r>
          </a:p>
          <a:p>
            <a:pPr marL="219456" indent="-219456">
              <a:lnSpc>
                <a:spcPct val="112000"/>
              </a:lnSpc>
              <a:spcAft>
                <a:spcPts val="400"/>
              </a:spcAft>
            </a:pPr>
            <a:r>
              <a:rPr sz="1150" b="1" i="0">
                <a:solidFill>
                  <a:srgbClr val="A50064"/>
                </a:solidFill>
                <a:latin typeface="Arial"/>
              </a:rPr>
              <a:t>▸  </a:t>
            </a:r>
            <a:r>
              <a:rPr sz="1150" b="1" i="0">
                <a:solidFill>
                  <a:srgbClr val="1F2430"/>
                </a:solidFill>
                <a:latin typeface="Arial"/>
              </a:rPr>
              <a:t>Chưa niêm yết, không công bố báo cáo tài chính </a:t>
            </a:r>
            <a:r>
              <a:rPr sz="1150" b="0" i="0">
                <a:solidFill>
                  <a:srgbClr val="1F2430"/>
                </a:solidFill>
                <a:latin typeface="Arial"/>
              </a:rPr>
              <a:t>— nên đồ án tập trung phân tích cấu trúc và logic vận hành của quy trình, không dùng chỉ tiêu tài chính doanh nghiệp.</a:t>
            </a:r>
          </a:p>
        </p:txBody>
      </p:sp>
      <p:sp>
        <p:nvSpPr>
          <p:cNvPr id="15" name="TextBox 14"/>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6" name="TextBox 15"/>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1 · CƠ CẤU TỔ CHỨC</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Bản đồ chức năng các bộ phận liên quan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11185855" cy="457200"/>
          </a:xfrm>
          <a:prstGeom prst="rect">
            <a:avLst/>
          </a:prstGeom>
          <a:noFill/>
        </p:spPr>
        <p:txBody>
          <a:bodyPr wrap="square" lIns="0" rIns="0" tIns="0" bIns="0">
            <a:spAutoFit/>
          </a:bodyPr>
          <a:lstStyle/>
          <a:p>
            <a:pPr algn="l">
              <a:lnSpc>
                <a:spcPct val="100000"/>
              </a:lnSpc>
            </a:pPr>
            <a:r>
              <a:rPr sz="1150" b="0" i="0">
                <a:solidFill>
                  <a:srgbClr val="5A6172"/>
                </a:solidFill>
                <a:latin typeface="Arial"/>
              </a:rPr>
              <a:t>M_Service không công bố sơ đồ tổ chức chính thức. Nhóm xây dựng bản đồ chức năng theo hướng "từ quy trình suy ra chức năng": xác định các tác nhân xuất hiện trong quy trình, rồi đối chiếu với thông lệ tổ chức của các nền tảng OTA và ví điện tử.</a:t>
            </a:r>
          </a:p>
        </p:txBody>
      </p:sp>
      <p:graphicFrame>
        <p:nvGraphicFramePr>
          <p:cNvPr id="7" name="Table 6"/>
          <p:cNvGraphicFramePr>
            <a:graphicFrameLocks noGrp="1"/>
          </p:cNvGraphicFramePr>
          <p:nvPr/>
        </p:nvGraphicFramePr>
        <p:xfrm>
          <a:off x="502920" y="1920240"/>
          <a:ext cx="11183112" cy="3456432"/>
        </p:xfrm>
        <a:graphic>
          <a:graphicData uri="http://schemas.openxmlformats.org/drawingml/2006/table">
            <a:tbl>
              <a:tblPr firstRow="1" bandRow="1">
                <a:tableStyleId>{5C22544A-7EE6-4342-B048-85BDC9FD1C3A}</a:tableStyleId>
              </a:tblPr>
              <a:tblGrid>
                <a:gridCol w="2148840"/>
                <a:gridCol w="3246120"/>
                <a:gridCol w="5788152"/>
              </a:tblGrid>
              <a:tr h="576072">
                <a:tc>
                  <a:txBody>
                    <a:bodyPr wrap="square"/>
                    <a:lstStyle/>
                    <a:p>
                      <a:pPr algn="ctr"/>
                      <a:r>
                        <a:rPr sz="1050" b="1" i="0">
                          <a:solidFill>
                            <a:srgbClr val="FFFFFF"/>
                          </a:solidFill>
                          <a:latin typeface="Arial"/>
                        </a:rPr>
                        <a:t>Nhóm chức năng</a:t>
                      </a:r>
                    </a:p>
                  </a:txBody>
                  <a:tcPr marL="64008" marR="64008" marT="27432" marB="27432" anchor="ctr">
                    <a:solidFill>
                      <a:srgbClr val="A50064"/>
                    </a:solidFill>
                  </a:tcPr>
                </a:tc>
                <a:tc>
                  <a:txBody>
                    <a:bodyPr wrap="square"/>
                    <a:lstStyle/>
                    <a:p>
                      <a:pPr algn="ctr"/>
                      <a:r>
                        <a:rPr sz="1050" b="1" i="0">
                          <a:solidFill>
                            <a:srgbClr val="FFFFFF"/>
                          </a:solidFill>
                          <a:latin typeface="Arial"/>
                        </a:rPr>
                        <a:t>Bộ phận liên quan</a:t>
                      </a:r>
                    </a:p>
                  </a:txBody>
                  <a:tcPr marL="64008" marR="64008" marT="27432" marB="27432" anchor="ctr">
                    <a:solidFill>
                      <a:srgbClr val="A50064"/>
                    </a:solidFill>
                  </a:tcPr>
                </a:tc>
                <a:tc>
                  <a:txBody>
                    <a:bodyPr wrap="square"/>
                    <a:lstStyle/>
                    <a:p>
                      <a:pPr algn="ctr"/>
                      <a:r>
                        <a:rPr sz="1050" b="1" i="0">
                          <a:solidFill>
                            <a:srgbClr val="FFFFFF"/>
                          </a:solidFill>
                          <a:latin typeface="Arial"/>
                        </a:rPr>
                        <a:t>Vai trò chính trong mảng đặt vé máy bay</a:t>
                      </a:r>
                    </a:p>
                  </a:txBody>
                  <a:tcPr marL="64008" marR="64008" marT="27432" marB="27432" anchor="ctr">
                    <a:solidFill>
                      <a:srgbClr val="A50064"/>
                    </a:solidFill>
                  </a:tcPr>
                </a:tc>
              </a:tr>
              <a:tr h="576072">
                <a:tc>
                  <a:txBody>
                    <a:bodyPr wrap="square"/>
                    <a:lstStyle/>
                    <a:p>
                      <a:pPr algn="l"/>
                      <a:r>
                        <a:rPr sz="1050" b="0" i="0">
                          <a:solidFill>
                            <a:srgbClr val="1F2430"/>
                          </a:solidFill>
                          <a:latin typeface="Arial"/>
                        </a:rPr>
                        <a:t>Khách hàng
(Front-office)</a:t>
                      </a:r>
                    </a:p>
                  </a:txBody>
                  <a:tcPr marL="64008" marR="64008" marT="27432" marB="27432" anchor="ctr">
                    <a:solidFill>
                      <a:srgbClr val="FFFFFF"/>
                    </a:solidFill>
                  </a:tcPr>
                </a:tc>
                <a:tc>
                  <a:txBody>
                    <a:bodyPr wrap="square"/>
                    <a:lstStyle/>
                    <a:p>
                      <a:pPr algn="ctr"/>
                      <a:r>
                        <a:rPr sz="1050" b="0" i="0">
                          <a:solidFill>
                            <a:srgbClr val="1F2430"/>
                          </a:solidFill>
                          <a:latin typeface="Arial"/>
                        </a:rPr>
                        <a:t>Bộ phận CSKH</a:t>
                      </a:r>
                    </a:p>
                  </a:txBody>
                  <a:tcPr marL="64008" marR="64008" marT="27432" marB="27432" anchor="ctr">
                    <a:solidFill>
                      <a:srgbClr val="FFFFFF"/>
                    </a:solidFill>
                  </a:tcPr>
                </a:tc>
                <a:tc>
                  <a:txBody>
                    <a:bodyPr wrap="square"/>
                    <a:lstStyle/>
                    <a:p>
                      <a:pPr algn="ctr"/>
                      <a:r>
                        <a:rPr sz="1050" b="0" i="0">
                          <a:solidFill>
                            <a:srgbClr val="1F2430"/>
                          </a:solidFill>
                          <a:latin typeface="Arial"/>
                        </a:rPr>
                        <a:t>Tiếp nhận, xử lý phản ánh, hoàn/hủy vé, hỗ trợ khách hàng</a:t>
                      </a:r>
                    </a:p>
                  </a:txBody>
                  <a:tcPr marL="64008" marR="64008" marT="27432" marB="27432" anchor="ctr">
                    <a:solidFill>
                      <a:srgbClr val="FFFFFF"/>
                    </a:solidFill>
                  </a:tcPr>
                </a:tc>
              </a:tr>
              <a:tr h="576072">
                <a:tc>
                  <a:txBody>
                    <a:bodyPr wrap="square"/>
                    <a:lstStyle/>
                    <a:p>
                      <a:pPr algn="l"/>
                      <a:r>
                        <a:rPr sz="1050" b="0" i="0">
                          <a:solidFill>
                            <a:srgbClr val="1F2430"/>
                          </a:solidFill>
                          <a:latin typeface="Arial"/>
                        </a:rPr>
                        <a:t>Đối tác &amp; Vận hành</a:t>
                      </a:r>
                    </a:p>
                  </a:txBody>
                  <a:tcPr marL="64008" marR="64008" marT="27432" marB="27432" anchor="ctr">
                    <a:solidFill>
                      <a:srgbClr val="F4F4F7"/>
                    </a:solidFill>
                  </a:tcPr>
                </a:tc>
                <a:tc>
                  <a:txBody>
                    <a:bodyPr wrap="square"/>
                    <a:lstStyle/>
                    <a:p>
                      <a:pPr algn="ctr"/>
                      <a:r>
                        <a:rPr sz="1050" b="0" i="0">
                          <a:solidFill>
                            <a:srgbClr val="1F2430"/>
                          </a:solidFill>
                          <a:latin typeface="Arial"/>
                        </a:rPr>
                        <a:t>Bộ phận Business Development (BD), Bộ phận Ticketing, Đội Kỹ thuật</a:t>
                      </a:r>
                    </a:p>
                  </a:txBody>
                  <a:tcPr marL="64008" marR="64008" marT="27432" marB="27432" anchor="ctr">
                    <a:solidFill>
                      <a:srgbClr val="F4F4F7"/>
                    </a:solidFill>
                  </a:tcPr>
                </a:tc>
                <a:tc>
                  <a:txBody>
                    <a:bodyPr wrap="square"/>
                    <a:lstStyle/>
                    <a:p>
                      <a:pPr algn="ctr"/>
                      <a:r>
                        <a:rPr sz="1050" b="0" i="0">
                          <a:solidFill>
                            <a:srgbClr val="1F2430"/>
                          </a:solidFill>
                          <a:latin typeface="Arial"/>
                        </a:rPr>
                        <a:t>Thẩm định/tích hợp hãng bay &amp; NCC, chuẩn hóa và cấu hình hạng vé, đồng bộ giá vé và lịch bay real-time</a:t>
                      </a:r>
                    </a:p>
                  </a:txBody>
                  <a:tcPr marL="64008" marR="64008" marT="27432" marB="27432" anchor="ctr">
                    <a:solidFill>
                      <a:srgbClr val="F4F4F7"/>
                    </a:solidFill>
                  </a:tcPr>
                </a:tc>
              </a:tr>
              <a:tr h="576072">
                <a:tc>
                  <a:txBody>
                    <a:bodyPr wrap="square"/>
                    <a:lstStyle/>
                    <a:p>
                      <a:pPr algn="l"/>
                      <a:r>
                        <a:rPr sz="1050" b="0" i="0">
                          <a:solidFill>
                            <a:srgbClr val="1F2430"/>
                          </a:solidFill>
                          <a:latin typeface="Arial"/>
                        </a:rPr>
                        <a:t>Đối tác &amp; Vận hành</a:t>
                      </a:r>
                    </a:p>
                  </a:txBody>
                  <a:tcPr marL="64008" marR="64008" marT="27432" marB="27432" anchor="ctr">
                    <a:solidFill>
                      <a:srgbClr val="FFFFFF"/>
                    </a:solidFill>
                  </a:tcPr>
                </a:tc>
                <a:tc>
                  <a:txBody>
                    <a:bodyPr wrap="square"/>
                    <a:lstStyle/>
                    <a:p>
                      <a:pPr algn="ctr"/>
                      <a:r>
                        <a:rPr sz="1050" b="0" i="0">
                          <a:solidFill>
                            <a:srgbClr val="1F2430"/>
                          </a:solidFill>
                          <a:latin typeface="Arial"/>
                        </a:rPr>
                        <a:t>Đội Vận hành Sản phẩm Du lịch, Bộ phận Tài chính – Kế toán</a:t>
                      </a:r>
                    </a:p>
                  </a:txBody>
                  <a:tcPr marL="64008" marR="64008" marT="27432" marB="27432" anchor="ctr">
                    <a:solidFill>
                      <a:srgbClr val="FFFFFF"/>
                    </a:solidFill>
                  </a:tcPr>
                </a:tc>
                <a:tc>
                  <a:txBody>
                    <a:bodyPr wrap="square"/>
                    <a:lstStyle/>
                    <a:p>
                      <a:pPr algn="ctr"/>
                      <a:r>
                        <a:rPr sz="1050" b="0" i="0">
                          <a:solidFill>
                            <a:srgbClr val="1F2430"/>
                          </a:solidFill>
                          <a:latin typeface="Arial"/>
                        </a:rPr>
                        <a:t>Đối soát giao dịch, thanh toán hoa hồng với hãng bay/đối tác, xử lý hoàn tiền</a:t>
                      </a:r>
                    </a:p>
                  </a:txBody>
                  <a:tcPr marL="64008" marR="64008" marT="27432" marB="27432" anchor="ctr">
                    <a:solidFill>
                      <a:srgbClr val="FFFFFF"/>
                    </a:solidFill>
                  </a:tcPr>
                </a:tc>
              </a:tr>
              <a:tr h="576072">
                <a:tc>
                  <a:txBody>
                    <a:bodyPr wrap="square"/>
                    <a:lstStyle/>
                    <a:p>
                      <a:pPr algn="l"/>
                      <a:r>
                        <a:rPr sz="1050" b="0" i="0">
                          <a:solidFill>
                            <a:srgbClr val="1F2430"/>
                          </a:solidFill>
                          <a:latin typeface="Arial"/>
                        </a:rPr>
                        <a:t>Tuân thủ &amp;
Quản trị rủi ro</a:t>
                      </a:r>
                    </a:p>
                  </a:txBody>
                  <a:tcPr marL="64008" marR="64008" marT="27432" marB="27432" anchor="ctr">
                    <a:solidFill>
                      <a:srgbClr val="F4F4F7"/>
                    </a:solidFill>
                  </a:tcPr>
                </a:tc>
                <a:tc>
                  <a:txBody>
                    <a:bodyPr wrap="square"/>
                    <a:lstStyle/>
                    <a:p>
                      <a:pPr algn="ctr"/>
                      <a:r>
                        <a:rPr sz="1050" b="0" i="0">
                          <a:solidFill>
                            <a:srgbClr val="1F2430"/>
                          </a:solidFill>
                          <a:latin typeface="Arial"/>
                        </a:rPr>
                        <a:t>Bộ phận Tài chính/Pháp chế</a:t>
                      </a:r>
                    </a:p>
                  </a:txBody>
                  <a:tcPr marL="64008" marR="64008" marT="27432" marB="27432" anchor="ctr">
                    <a:solidFill>
                      <a:srgbClr val="F4F4F7"/>
                    </a:solidFill>
                  </a:tcPr>
                </a:tc>
                <a:tc>
                  <a:txBody>
                    <a:bodyPr wrap="square"/>
                    <a:lstStyle/>
                    <a:p>
                      <a:pPr algn="ctr"/>
                      <a:r>
                        <a:rPr sz="1050" b="0" i="0">
                          <a:solidFill>
                            <a:srgbClr val="1F2430"/>
                          </a:solidFill>
                          <a:latin typeface="Arial"/>
                        </a:rPr>
                        <a:t>Thẩm định chính sách giá/khuyến mãi, xác thực giao dịch (eKYC), phòng chống gian lận, xử lý tranh chấp</a:t>
                      </a:r>
                    </a:p>
                  </a:txBody>
                  <a:tcPr marL="64008" marR="64008" marT="27432" marB="27432" anchor="ctr">
                    <a:solidFill>
                      <a:srgbClr val="F4F4F7"/>
                    </a:solidFill>
                  </a:tcPr>
                </a:tc>
              </a:tr>
              <a:tr h="576072">
                <a:tc>
                  <a:txBody>
                    <a:bodyPr wrap="square"/>
                    <a:lstStyle/>
                    <a:p>
                      <a:pPr algn="l"/>
                      <a:r>
                        <a:rPr sz="1050" b="0" i="0">
                          <a:solidFill>
                            <a:srgbClr val="1F2430"/>
                          </a:solidFill>
                          <a:latin typeface="Arial"/>
                        </a:rPr>
                        <a:t>Hỗ trợ nội bộ</a:t>
                      </a:r>
                    </a:p>
                  </a:txBody>
                  <a:tcPr marL="64008" marR="64008" marT="27432" marB="27432" anchor="ctr">
                    <a:solidFill>
                      <a:srgbClr val="FFFFFF"/>
                    </a:solidFill>
                  </a:tcPr>
                </a:tc>
                <a:tc>
                  <a:txBody>
                    <a:bodyPr wrap="square"/>
                    <a:lstStyle/>
                    <a:p>
                      <a:pPr algn="ctr"/>
                      <a:r>
                        <a:rPr sz="1050" b="0" i="0">
                          <a:solidFill>
                            <a:srgbClr val="1F2430"/>
                          </a:solidFill>
                          <a:latin typeface="Arial"/>
                        </a:rPr>
                        <a:t>Bộ phận Quản lý Giá, Marketing, Growth Specialist</a:t>
                      </a:r>
                    </a:p>
                  </a:txBody>
                  <a:tcPr marL="64008" marR="64008" marT="27432" marB="27432" anchor="ctr">
                    <a:solidFill>
                      <a:srgbClr val="FFFFFF"/>
                    </a:solidFill>
                  </a:tcPr>
                </a:tc>
                <a:tc>
                  <a:txBody>
                    <a:bodyPr wrap="square"/>
                    <a:lstStyle/>
                    <a:p>
                      <a:pPr algn="ctr"/>
                      <a:r>
                        <a:rPr sz="1050" b="0" i="0">
                          <a:solidFill>
                            <a:srgbClr val="1F2430"/>
                          </a:solidFill>
                          <a:latin typeface="Arial"/>
                        </a:rPr>
                        <a:t>Xây dựng chính sách giá và ưu đãi, cá nhân hóa khuyến mãi, giám sát KPI/SLA đối tác</a:t>
                      </a:r>
                    </a:p>
                  </a:txBody>
                  <a:tcPr marL="64008" marR="64008" marT="27432" marB="27432" anchor="ctr">
                    <a:solidFill>
                      <a:srgbClr val="FFFFFF"/>
                    </a:solidFill>
                  </a:tcPr>
                </a:tc>
              </a:tr>
            </a:tbl>
          </a:graphicData>
        </a:graphic>
      </p:graphicFrame>
      <p:sp>
        <p:nvSpPr>
          <p:cNvPr id="8" name="TextBox 7"/>
          <p:cNvSpPr txBox="1"/>
          <p:nvPr/>
        </p:nvSpPr>
        <p:spPr>
          <a:xfrm>
            <a:off x="502920" y="5815584"/>
            <a:ext cx="11185855" cy="365760"/>
          </a:xfrm>
          <a:prstGeom prst="rect">
            <a:avLst/>
          </a:prstGeom>
          <a:noFill/>
        </p:spPr>
        <p:txBody>
          <a:bodyPr wrap="square" lIns="0" rIns="0" tIns="0" bIns="0">
            <a:spAutoFit/>
          </a:bodyPr>
          <a:lstStyle/>
          <a:p>
            <a:pPr algn="l">
              <a:lnSpc>
                <a:spcPct val="100000"/>
              </a:lnSpc>
            </a:pPr>
            <a:r>
              <a:rPr sz="1050" b="0" i="1">
                <a:solidFill>
                  <a:srgbClr val="A50064"/>
                </a:solidFill>
                <a:latin typeface="Arial"/>
              </a:rPr>
              <a:t>Tên gọi các bộ phận trong bảng được dùng thống nhất xuyên suốt Chương 2, 3 và 4 — đồng thời chính là tên các làn (swimlane) trong sơ đồ BPMN.</a:t>
            </a:r>
          </a:p>
        </p:txBody>
      </p:sp>
      <p:sp>
        <p:nvSpPr>
          <p:cNvPr id="9" name="TextBox 8"/>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0" name="TextBox 9"/>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2 · PHẠM VI VÀ PHƯƠNG PHÁP</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Từ 10 quy trình → 6 mô hình BPMN → 3 phân tích sâu</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2237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10</a:t>
            </a:r>
          </a:p>
        </p:txBody>
      </p:sp>
      <p:sp>
        <p:nvSpPr>
          <p:cNvPr id="8" name="TextBox 7"/>
          <p:cNvSpPr txBox="1"/>
          <p:nvPr/>
        </p:nvSpPr>
        <p:spPr>
          <a:xfrm>
            <a:off x="180136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được liệt kê</a:t>
            </a:r>
          </a:p>
        </p:txBody>
      </p:sp>
      <p:sp>
        <p:nvSpPr>
          <p:cNvPr id="9" name="TextBox 8"/>
          <p:cNvSpPr txBox="1"/>
          <p:nvPr/>
        </p:nvSpPr>
        <p:spPr>
          <a:xfrm>
            <a:off x="72237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Đủ 4 thành phần: Tác nhân · Mô tả các bước · Đối tượng khách hàng · Kết quả</a:t>
            </a:r>
          </a:p>
        </p:txBody>
      </p:sp>
      <p:sp>
        <p:nvSpPr>
          <p:cNvPr id="10" name="Rounded Rectangle 9"/>
          <p:cNvSpPr/>
          <p:nvPr/>
        </p:nvSpPr>
        <p:spPr>
          <a:xfrm>
            <a:off x="425897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47842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6</a:t>
            </a:r>
          </a:p>
        </p:txBody>
      </p:sp>
      <p:sp>
        <p:nvSpPr>
          <p:cNvPr id="12" name="TextBox 11"/>
          <p:cNvSpPr txBox="1"/>
          <p:nvPr/>
        </p:nvSpPr>
        <p:spPr>
          <a:xfrm>
            <a:off x="555741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mô hình hóa BPMN</a:t>
            </a:r>
          </a:p>
        </p:txBody>
      </p:sp>
      <p:sp>
        <p:nvSpPr>
          <p:cNvPr id="13" name="TextBox 12"/>
          <p:cNvSpPr txBox="1"/>
          <p:nvPr/>
        </p:nvSpPr>
        <p:spPr>
          <a:xfrm>
            <a:off x="447842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Đúng cơ cấu 2 Quản lý – 2 Cốt lõi – 2 Hỗ trợ, chuẩn BPMN 2.0, có swimlane</a:t>
            </a:r>
          </a:p>
        </p:txBody>
      </p:sp>
      <p:sp>
        <p:nvSpPr>
          <p:cNvPr id="14" name="Rounded Rectangle 13"/>
          <p:cNvSpPr/>
          <p:nvPr/>
        </p:nvSpPr>
        <p:spPr>
          <a:xfrm>
            <a:off x="8015020" y="1389888"/>
            <a:ext cx="3673754"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8234476" y="1536192"/>
            <a:ext cx="1280160" cy="548640"/>
          </a:xfrm>
          <a:prstGeom prst="rect">
            <a:avLst/>
          </a:prstGeom>
          <a:noFill/>
        </p:spPr>
        <p:txBody>
          <a:bodyPr wrap="square" lIns="0" rIns="0" tIns="0" bIns="0">
            <a:spAutoFit/>
          </a:bodyPr>
          <a:lstStyle/>
          <a:p>
            <a:pPr algn="l">
              <a:lnSpc>
                <a:spcPct val="100000"/>
              </a:lnSpc>
            </a:pPr>
            <a:r>
              <a:rPr sz="3200" b="1" i="0">
                <a:solidFill>
                  <a:srgbClr val="A50064"/>
                </a:solidFill>
                <a:latin typeface="Arial"/>
              </a:rPr>
              <a:t>3</a:t>
            </a:r>
          </a:p>
        </p:txBody>
      </p:sp>
      <p:sp>
        <p:nvSpPr>
          <p:cNvPr id="16" name="TextBox 15"/>
          <p:cNvSpPr txBox="1"/>
          <p:nvPr/>
        </p:nvSpPr>
        <p:spPr>
          <a:xfrm>
            <a:off x="9313468" y="1645920"/>
            <a:ext cx="2155850" cy="365760"/>
          </a:xfrm>
          <a:prstGeom prst="rect">
            <a:avLst/>
          </a:prstGeom>
          <a:noFill/>
        </p:spPr>
        <p:txBody>
          <a:bodyPr wrap="square" lIns="0" rIns="0" tIns="0" bIns="0">
            <a:spAutoFit/>
          </a:bodyPr>
          <a:lstStyle/>
          <a:p>
            <a:pPr algn="l">
              <a:lnSpc>
                <a:spcPct val="100000"/>
              </a:lnSpc>
            </a:pPr>
            <a:r>
              <a:rPr sz="1250" b="1" i="0">
                <a:solidFill>
                  <a:srgbClr val="1F2430"/>
                </a:solidFill>
                <a:latin typeface="Arial"/>
              </a:rPr>
              <a:t>quy trình phân tích chuyên sâu</a:t>
            </a:r>
          </a:p>
        </p:txBody>
      </p:sp>
      <p:sp>
        <p:nvSpPr>
          <p:cNvPr id="17" name="TextBox 16"/>
          <p:cNvSpPr txBox="1"/>
          <p:nvPr/>
        </p:nvSpPr>
        <p:spPr>
          <a:xfrm>
            <a:off x="8234476" y="2212848"/>
            <a:ext cx="3234842" cy="548640"/>
          </a:xfrm>
          <a:prstGeom prst="rect">
            <a:avLst/>
          </a:prstGeom>
          <a:noFill/>
        </p:spPr>
        <p:txBody>
          <a:bodyPr wrap="square" lIns="0" rIns="0" tIns="0" bIns="0">
            <a:spAutoFit/>
          </a:bodyPr>
          <a:lstStyle/>
          <a:p>
            <a:pPr algn="l">
              <a:lnSpc>
                <a:spcPct val="100000"/>
              </a:lnSpc>
            </a:pPr>
            <a:r>
              <a:rPr sz="1050" b="0" i="0">
                <a:solidFill>
                  <a:srgbClr val="5A6172"/>
                </a:solidFill>
                <a:latin typeface="Arial"/>
              </a:rPr>
              <a:t>Vượt yêu cầu tối thiểu 2 quy trình — cả định tính lẫn định lượng</a:t>
            </a:r>
          </a:p>
        </p:txBody>
      </p:sp>
      <p:sp>
        <p:nvSpPr>
          <p:cNvPr id="18" name="Rounded Rectangle 17"/>
          <p:cNvSpPr/>
          <p:nvPr/>
        </p:nvSpPr>
        <p:spPr>
          <a:xfrm>
            <a:off x="502920" y="2953512"/>
            <a:ext cx="5483199" cy="173736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704088" y="3099816"/>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PHƯƠNG PHÁP — 5 CẤU PHẦN BẰNG CHỨNG</a:t>
            </a:r>
          </a:p>
        </p:txBody>
      </p:sp>
      <p:sp>
        <p:nvSpPr>
          <p:cNvPr id="20" name="TextBox 19"/>
          <p:cNvSpPr txBox="1"/>
          <p:nvPr/>
        </p:nvSpPr>
        <p:spPr>
          <a:xfrm>
            <a:off x="704088" y="3429000"/>
            <a:ext cx="5080863" cy="111556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Mô tả quy trình hiện có (dựa trên bằng chứng công khai)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Sơ đồ tổ chức và phân định trách nhiệm</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Kế hoạch làm việc theo mốc thời gian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Thuật ngữ nghiệp vụ và sổ tay</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Biểu mẫu tác nghiệp</a:t>
            </a:r>
          </a:p>
        </p:txBody>
      </p:sp>
      <p:sp>
        <p:nvSpPr>
          <p:cNvPr id="21" name="Rounded Rectangle 20"/>
          <p:cNvSpPr/>
          <p:nvPr/>
        </p:nvSpPr>
        <p:spPr>
          <a:xfrm>
            <a:off x="6205575" y="2953512"/>
            <a:ext cx="5483199" cy="173736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406743" y="3099816"/>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BỘ CÂU HỎI KHẢO SÁT — LƯỚI 2×2, 20 CÂU MỖI QUY TRÌNH</a:t>
            </a:r>
          </a:p>
        </p:txBody>
      </p:sp>
      <p:sp>
        <p:nvSpPr>
          <p:cNvPr id="23" name="TextBox 22"/>
          <p:cNvSpPr txBox="1"/>
          <p:nvPr/>
        </p:nvSpPr>
        <p:spPr>
          <a:xfrm>
            <a:off x="6406743" y="3429000"/>
            <a:ext cx="5080863" cy="111556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Định tính </a:t>
            </a:r>
            <a:r>
              <a:rPr sz="1100" b="0" i="0">
                <a:solidFill>
                  <a:srgbClr val="1F2430"/>
                </a:solidFill>
                <a:latin typeface="Arial"/>
              </a:rPr>
              <a:t>× có cấu trúc (5 câu) và không cấu trúc (5 câu)</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Định lượng </a:t>
            </a:r>
            <a:r>
              <a:rPr sz="1100" b="0" i="0">
                <a:solidFill>
                  <a:srgbClr val="1F2430"/>
                </a:solidFill>
                <a:latin typeface="Arial"/>
              </a:rPr>
              <a:t>× có cấu trúc (5 câu) và không cấu trúc (5 câu)</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Áp dụng đầy đủ cho cả 6 quy trình được mô hình hóa.</a:t>
            </a:r>
          </a:p>
        </p:txBody>
      </p:sp>
      <p:sp>
        <p:nvSpPr>
          <p:cNvPr id="24" name="Rounded Rectangle 23"/>
          <p:cNvSpPr/>
          <p:nvPr/>
        </p:nvSpPr>
        <p:spPr>
          <a:xfrm>
            <a:off x="502920" y="5376672"/>
            <a:ext cx="11185855" cy="841248"/>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704088" y="5486400"/>
            <a:ext cx="10783519" cy="658368"/>
          </a:xfrm>
          <a:prstGeom prst="rect">
            <a:avLst/>
          </a:prstGeom>
          <a:noFill/>
        </p:spPr>
        <p:txBody>
          <a:bodyPr wrap="square" lIns="0" rIns="0" tIns="0" bIns="0">
            <a:spAutoFit/>
          </a:bodyPr>
          <a:lstStyle/>
          <a:p>
            <a:pPr algn="l">
              <a:lnSpc>
                <a:spcPct val="100000"/>
              </a:lnSpc>
            </a:pPr>
            <a:r>
              <a:rPr sz="1050" b="0" i="0">
                <a:solidFill>
                  <a:srgbClr val="7A5000"/>
                </a:solidFill>
                <a:latin typeface="Arial"/>
              </a:rPr>
              <a:t>TUYÊN BỐ VỀ PHƯƠNG PHÁP VÀ PHẠM VI DỮ LIỆU — Nhóm thực hiện hoàn toàn từ nguồn thông tin công khai, không phỏng vấn trực tiếp nhân sự M_Service. Bộ câu hỏi ở Chương 3 là công cụ khảo sát đã thiết kế nhưng chưa triển khai thực tế; toàn bộ số liệu định lượng ở Chương 4 là số liệu giả định mang tính minh họa, phục vụ minh họa phương pháp tính theo khung lý thuyết BPM — không phải số liệu vận hành do MoMo công bố.</a:t>
            </a:r>
          </a:p>
        </p:txBody>
      </p:sp>
      <p:sp>
        <p:nvSpPr>
          <p:cNvPr id="26" name="TextBox 25"/>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7" name="TextBox 26"/>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2 · KIẾN TRÚC QUY TRÌNH</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Sơ đồ kiến trúc 10 quy trình nghiệp vụ</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pic>
        <p:nvPicPr>
          <p:cNvPr id="6" name="Picture 5" descr="00_KienTrucQuyTrinh.png"/>
          <p:cNvPicPr>
            <a:picLocks noChangeAspect="1"/>
          </p:cNvPicPr>
          <p:nvPr/>
        </p:nvPicPr>
        <p:blipFill>
          <a:blip r:embed="rId2"/>
          <a:stretch>
            <a:fillRect/>
          </a:stretch>
        </p:blipFill>
        <p:spPr>
          <a:xfrm>
            <a:off x="1624323" y="1389888"/>
            <a:ext cx="8943048" cy="4590288"/>
          </a:xfrm>
          <a:prstGeom prst="rect">
            <a:avLst/>
          </a:prstGeom>
        </p:spPr>
      </p:pic>
      <p:sp>
        <p:nvSpPr>
          <p:cNvPr id="7" name="TextBox 6"/>
          <p:cNvSpPr txBox="1"/>
          <p:nvPr/>
        </p:nvSpPr>
        <p:spPr>
          <a:xfrm>
            <a:off x="502920" y="6071615"/>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2.1. Sơ đồ kiến trúc quy trình nghiệp vụ mảng đặt vé máy bay trên MoMo — 10 quy trình, 3 tầng Quản lý / Cốt lõi / Hỗ trợ</a:t>
            </a:r>
          </a:p>
        </p:txBody>
      </p:sp>
      <p:sp>
        <p:nvSpPr>
          <p:cNvPr id="8" name="TextBox 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9" name="TextBox 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94360" y="2194560"/>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PHẦN 03</a:t>
            </a:r>
          </a:p>
        </p:txBody>
      </p:sp>
      <p:sp>
        <p:nvSpPr>
          <p:cNvPr id="4" name="TextBox 3"/>
          <p:cNvSpPr txBox="1"/>
          <p:nvPr/>
        </p:nvSpPr>
        <p:spPr>
          <a:xfrm>
            <a:off x="594360" y="2615184"/>
            <a:ext cx="11185855" cy="1371600"/>
          </a:xfrm>
          <a:prstGeom prst="rect">
            <a:avLst/>
          </a:prstGeom>
          <a:noFill/>
        </p:spPr>
        <p:txBody>
          <a:bodyPr wrap="square" lIns="0" rIns="0" tIns="0" bIns="0">
            <a:spAutoFit/>
          </a:bodyPr>
          <a:lstStyle/>
          <a:p>
            <a:pPr algn="l">
              <a:lnSpc>
                <a:spcPct val="108000"/>
              </a:lnSpc>
            </a:pPr>
            <a:r>
              <a:rPr sz="3800" b="1" i="0">
                <a:solidFill>
                  <a:srgbClr val="FFFFFF"/>
                </a:solidFill>
                <a:latin typeface="Arial"/>
              </a:rPr>
              <a:t>Mô hình hóa quy trình</a:t>
            </a:r>
          </a:p>
          <a:p>
            <a:pPr algn="l">
              <a:lnSpc>
                <a:spcPct val="108000"/>
              </a:lnSpc>
            </a:pPr>
            <a:r>
              <a:rPr sz="3800" b="1" i="0">
                <a:solidFill>
                  <a:srgbClr val="FFFFFF"/>
                </a:solidFill>
                <a:latin typeface="Arial"/>
              </a:rPr>
              <a:t>bằng BPMN 2.0</a:t>
            </a:r>
          </a:p>
        </p:txBody>
      </p:sp>
      <p:sp>
        <p:nvSpPr>
          <p:cNvPr id="5" name="Rectangle 4"/>
          <p:cNvSpPr/>
          <p:nvPr/>
        </p:nvSpPr>
        <p:spPr>
          <a:xfrm>
            <a:off x="594360" y="4133087"/>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94360" y="4407408"/>
            <a:ext cx="10271455" cy="548640"/>
          </a:xfrm>
          <a:prstGeom prst="rect">
            <a:avLst/>
          </a:prstGeom>
          <a:noFill/>
        </p:spPr>
        <p:txBody>
          <a:bodyPr wrap="square" lIns="0" rIns="0" tIns="0" bIns="0">
            <a:spAutoFit/>
          </a:bodyPr>
          <a:lstStyle/>
          <a:p>
            <a:pPr algn="l">
              <a:lnSpc>
                <a:spcPct val="100000"/>
              </a:lnSpc>
            </a:pPr>
            <a:r>
              <a:rPr sz="1400" b="0" i="0">
                <a:solidFill>
                  <a:srgbClr val="FFFFFF"/>
                </a:solidFill>
                <a:latin typeface="Arial"/>
              </a:rPr>
              <a:t>6 quy trình đại diện · 2 Quản lý – 2 Cốt lõi – 2 Hỗ trợ · tổng 65 cổng điều kiện</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3 · KHUNG TRÌNH BÀY</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Sáu quy trình được mô hình hóa chi tiết</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11183112" cy="2560320"/>
        </p:xfrm>
        <a:graphic>
          <a:graphicData uri="http://schemas.openxmlformats.org/drawingml/2006/table">
            <a:tbl>
              <a:tblPr firstRow="1" bandRow="1">
                <a:tableStyleId>{5C22544A-7EE6-4342-B048-85BDC9FD1C3A}</a:tableStyleId>
              </a:tblPr>
              <a:tblGrid>
                <a:gridCol w="1051560"/>
                <a:gridCol w="1234440"/>
                <a:gridCol w="6062472"/>
                <a:gridCol w="1280160"/>
                <a:gridCol w="1554480"/>
              </a:tblGrid>
              <a:tr h="365760">
                <a:tc>
                  <a:txBody>
                    <a:bodyPr wrap="square"/>
                    <a:lstStyle/>
                    <a:p>
                      <a:pPr algn="ctr"/>
                      <a:r>
                        <a:rPr sz="1100" b="1" i="0">
                          <a:solidFill>
                            <a:srgbClr val="FFFFFF"/>
                          </a:solidFill>
                          <a:latin typeface="Arial"/>
                        </a:rPr>
                        <a:t>Sơ đồ</a:t>
                      </a:r>
                    </a:p>
                  </a:txBody>
                  <a:tcPr marL="64008" marR="64008" marT="27432" marB="27432" anchor="ctr">
                    <a:solidFill>
                      <a:srgbClr val="A50064"/>
                    </a:solidFill>
                  </a:tcPr>
                </a:tc>
                <a:tc>
                  <a:txBody>
                    <a:bodyPr wrap="square"/>
                    <a:lstStyle/>
                    <a:p>
                      <a:pPr algn="ctr"/>
                      <a:r>
                        <a:rPr sz="1100" b="1" i="0">
                          <a:solidFill>
                            <a:srgbClr val="FFFFFF"/>
                          </a:solidFill>
                          <a:latin typeface="Arial"/>
                        </a:rPr>
                        <a:t>Nhóm</a:t>
                      </a:r>
                    </a:p>
                  </a:txBody>
                  <a:tcPr marL="64008" marR="64008" marT="27432" marB="27432" anchor="ctr">
                    <a:solidFill>
                      <a:srgbClr val="A50064"/>
                    </a:solidFill>
                  </a:tcPr>
                </a:tc>
                <a:tc>
                  <a:txBody>
                    <a:bodyPr wrap="square"/>
                    <a:lstStyle/>
                    <a:p>
                      <a:pPr algn="ctr"/>
                      <a:r>
                        <a:rPr sz="1100" b="1" i="0">
                          <a:solidFill>
                            <a:srgbClr val="FFFFFF"/>
                          </a:solidFill>
                          <a:latin typeface="Arial"/>
                        </a:rPr>
                        <a:t>Quy trình</a:t>
                      </a:r>
                    </a:p>
                  </a:txBody>
                  <a:tcPr marL="64008" marR="64008" marT="27432" marB="27432" anchor="ctr">
                    <a:solidFill>
                      <a:srgbClr val="A50064"/>
                    </a:solidFill>
                  </a:tcPr>
                </a:tc>
                <a:tc>
                  <a:txBody>
                    <a:bodyPr wrap="square"/>
                    <a:lstStyle/>
                    <a:p>
                      <a:pPr algn="ctr"/>
                      <a:r>
                        <a:rPr sz="1100" b="1" i="0">
                          <a:solidFill>
                            <a:srgbClr val="FFFFFF"/>
                          </a:solidFill>
                          <a:latin typeface="Arial"/>
                        </a:rPr>
                        <a:t>Số làn</a:t>
                      </a:r>
                    </a:p>
                  </a:txBody>
                  <a:tcPr marL="64008" marR="64008" marT="27432" marB="27432" anchor="ctr">
                    <a:solidFill>
                      <a:srgbClr val="A50064"/>
                    </a:solidFill>
                  </a:tcPr>
                </a:tc>
                <a:tc>
                  <a:txBody>
                    <a:bodyPr wrap="square"/>
                    <a:lstStyle/>
                    <a:p>
                      <a:pPr algn="ctr"/>
                      <a:r>
                        <a:rPr sz="1100" b="1" i="0">
                          <a:solidFill>
                            <a:srgbClr val="FFFFFF"/>
                          </a:solidFill>
                          <a:latin typeface="Arial"/>
                        </a:rPr>
                        <a:t>Cổng điều kiện</a:t>
                      </a:r>
                    </a:p>
                  </a:txBody>
                  <a:tcPr marL="64008" marR="64008" marT="27432" marB="27432" anchor="ctr">
                    <a:solidFill>
                      <a:srgbClr val="A50064"/>
                    </a:solidFill>
                  </a:tcPr>
                </a:tc>
              </a:tr>
              <a:tr h="365760">
                <a:tc>
                  <a:txBody>
                    <a:bodyPr wrap="square"/>
                    <a:lstStyle/>
                    <a:p>
                      <a:pPr algn="l"/>
                      <a:r>
                        <a:rPr sz="1100" b="0" i="0">
                          <a:solidFill>
                            <a:srgbClr val="1F2430"/>
                          </a:solidFill>
                          <a:latin typeface="Arial"/>
                        </a:rPr>
                        <a:t>Hình 3.1</a:t>
                      </a:r>
                    </a:p>
                  </a:txBody>
                  <a:tcPr marL="64008" marR="64008" marT="27432" marB="27432" anchor="ctr">
                    <a:solidFill>
                      <a:srgbClr val="FFFFFF"/>
                    </a:solidFill>
                  </a:tcPr>
                </a:tc>
                <a:tc>
                  <a:txBody>
                    <a:bodyPr wrap="square"/>
                    <a:lstStyle/>
                    <a:p>
                      <a:pPr algn="ctr"/>
                      <a:r>
                        <a:rPr sz="1100" b="0" i="0">
                          <a:solidFill>
                            <a:srgbClr val="1F2430"/>
                          </a:solidFill>
                          <a:latin typeface="Arial"/>
                        </a:rPr>
                        <a:t>Quản lý</a:t>
                      </a:r>
                    </a:p>
                  </a:txBody>
                  <a:tcPr marL="64008" marR="64008" marT="27432" marB="27432" anchor="ctr">
                    <a:solidFill>
                      <a:srgbClr val="FFFFFF"/>
                    </a:solidFill>
                  </a:tcPr>
                </a:tc>
                <a:tc>
                  <a:txBody>
                    <a:bodyPr wrap="square"/>
                    <a:lstStyle/>
                    <a:p>
                      <a:pPr algn="ctr"/>
                      <a:r>
                        <a:rPr sz="1100" b="0" i="0">
                          <a:solidFill>
                            <a:srgbClr val="1F2430"/>
                          </a:solidFill>
                          <a:latin typeface="Arial"/>
                        </a:rPr>
                        <a:t>Quản trị giá, khuyến mãi và chính sách hiển thị giá</a:t>
                      </a:r>
                    </a:p>
                  </a:txBody>
                  <a:tcPr marL="64008" marR="64008" marT="27432" marB="27432" anchor="ctr">
                    <a:solidFill>
                      <a:srgbClr val="FFFFFF"/>
                    </a:solidFill>
                  </a:tcPr>
                </a:tc>
                <a:tc>
                  <a:txBody>
                    <a:bodyPr wrap="square"/>
                    <a:lstStyle/>
                    <a:p>
                      <a:pPr algn="ctr"/>
                      <a:r>
                        <a:rPr sz="1100" b="0" i="0">
                          <a:solidFill>
                            <a:srgbClr val="1F2430"/>
                          </a:solidFill>
                          <a:latin typeface="Arial"/>
                        </a:rPr>
                        <a:t>6</a:t>
                      </a:r>
                    </a:p>
                  </a:txBody>
                  <a:tcPr marL="64008" marR="64008" marT="27432" marB="27432" anchor="ctr">
                    <a:solidFill>
                      <a:srgbClr val="FFFFFF"/>
                    </a:solidFill>
                  </a:tcPr>
                </a:tc>
                <a:tc>
                  <a:txBody>
                    <a:bodyPr wrap="square"/>
                    <a:lstStyle/>
                    <a:p>
                      <a:pPr algn="ctr"/>
                      <a:r>
                        <a:rPr sz="1100" b="0" i="0">
                          <a:solidFill>
                            <a:srgbClr val="1F2430"/>
                          </a:solidFill>
                          <a:latin typeface="Arial"/>
                        </a:rPr>
                        <a:t>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3.2</a:t>
                      </a:r>
                    </a:p>
                  </a:txBody>
                  <a:tcPr marL="64008" marR="64008" marT="27432" marB="27432" anchor="ctr">
                    <a:solidFill>
                      <a:srgbClr val="F4F4F7"/>
                    </a:solidFill>
                  </a:tcPr>
                </a:tc>
                <a:tc>
                  <a:txBody>
                    <a:bodyPr wrap="square"/>
                    <a:lstStyle/>
                    <a:p>
                      <a:pPr algn="ctr"/>
                      <a:r>
                        <a:rPr sz="1100" b="0" i="0">
                          <a:solidFill>
                            <a:srgbClr val="1F2430"/>
                          </a:solidFill>
                          <a:latin typeface="Arial"/>
                        </a:rPr>
                        <a:t>Quản lý</a:t>
                      </a:r>
                    </a:p>
                  </a:txBody>
                  <a:tcPr marL="64008" marR="64008" marT="27432" marB="27432" anchor="ctr">
                    <a:solidFill>
                      <a:srgbClr val="F4F4F7"/>
                    </a:solidFill>
                  </a:tcPr>
                </a:tc>
                <a:tc>
                  <a:txBody>
                    <a:bodyPr wrap="square"/>
                    <a:lstStyle/>
                    <a:p>
                      <a:pPr algn="ctr"/>
                      <a:r>
                        <a:rPr sz="1100" b="0" i="0">
                          <a:solidFill>
                            <a:srgbClr val="1F2430"/>
                          </a:solidFill>
                          <a:latin typeface="Arial"/>
                        </a:rPr>
                        <a:t>Quản lý hạng vé máy bay</a:t>
                      </a:r>
                    </a:p>
                  </a:txBody>
                  <a:tcPr marL="64008" marR="64008" marT="27432" marB="27432" anchor="ctr">
                    <a:solidFill>
                      <a:srgbClr val="F4F4F7"/>
                    </a:solidFill>
                  </a:tcPr>
                </a:tc>
                <a:tc>
                  <a:txBody>
                    <a:bodyPr wrap="square"/>
                    <a:lstStyle/>
                    <a:p>
                      <a:pPr algn="ctr"/>
                      <a:r>
                        <a:rPr sz="1100" b="0" i="0">
                          <a:solidFill>
                            <a:srgbClr val="1F2430"/>
                          </a:solidFill>
                          <a:latin typeface="Arial"/>
                        </a:rPr>
                        <a:t>4</a:t>
                      </a:r>
                    </a:p>
                  </a:txBody>
                  <a:tcPr marL="64008" marR="64008" marT="27432" marB="27432" anchor="ctr">
                    <a:solidFill>
                      <a:srgbClr val="F4F4F7"/>
                    </a:solidFill>
                  </a:tcPr>
                </a:tc>
                <a:tc>
                  <a:txBody>
                    <a:bodyPr wrap="square"/>
                    <a:lstStyle/>
                    <a:p>
                      <a:pPr algn="ctr"/>
                      <a:r>
                        <a:rPr sz="1100" b="0" i="0">
                          <a:solidFill>
                            <a:srgbClr val="1F2430"/>
                          </a:solidFill>
                          <a:latin typeface="Arial"/>
                        </a:rPr>
                        <a:t>10</a:t>
                      </a:r>
                    </a:p>
                  </a:txBody>
                  <a:tcPr marL="64008" marR="64008" marT="27432" marB="27432" anchor="ctr">
                    <a:solidFill>
                      <a:srgbClr val="F4F4F7"/>
                    </a:solidFill>
                  </a:tcPr>
                </a:tc>
              </a:tr>
              <a:tr h="365760">
                <a:tc>
                  <a:txBody>
                    <a:bodyPr wrap="square"/>
                    <a:lstStyle/>
                    <a:p>
                      <a:pPr algn="l"/>
                      <a:r>
                        <a:rPr sz="1100" b="0" i="0">
                          <a:solidFill>
                            <a:srgbClr val="1F2430"/>
                          </a:solidFill>
                          <a:latin typeface="Arial"/>
                        </a:rPr>
                        <a:t>Hình 3.3</a:t>
                      </a:r>
                    </a:p>
                  </a:txBody>
                  <a:tcPr marL="64008" marR="64008" marT="27432" marB="27432" anchor="ctr">
                    <a:solidFill>
                      <a:srgbClr val="FFFFFF"/>
                    </a:solidFill>
                  </a:tcPr>
                </a:tc>
                <a:tc>
                  <a:txBody>
                    <a:bodyPr wrap="square"/>
                    <a:lstStyle/>
                    <a:p>
                      <a:pPr algn="ctr"/>
                      <a:r>
                        <a:rPr sz="1100" b="0" i="0">
                          <a:solidFill>
                            <a:srgbClr val="1F2430"/>
                          </a:solidFill>
                          <a:latin typeface="Arial"/>
                        </a:rPr>
                        <a:t>Cốt lõi</a:t>
                      </a:r>
                    </a:p>
                  </a:txBody>
                  <a:tcPr marL="64008" marR="64008" marT="27432" marB="27432" anchor="ctr">
                    <a:solidFill>
                      <a:srgbClr val="FFFFFF"/>
                    </a:solidFill>
                  </a:tcPr>
                </a:tc>
                <a:tc>
                  <a:txBody>
                    <a:bodyPr wrap="square"/>
                    <a:lstStyle/>
                    <a:p>
                      <a:pPr algn="ctr"/>
                      <a:r>
                        <a:rPr sz="1100" b="0" i="0">
                          <a:solidFill>
                            <a:srgbClr val="1F2430"/>
                          </a:solidFill>
                          <a:latin typeface="Arial"/>
                        </a:rPr>
                        <a:t>Tìm kiếm, lựa chọn hành trình, thanh toán và xác nhận đặt vé</a:t>
                      </a:r>
                    </a:p>
                  </a:txBody>
                  <a:tcPr marL="64008" marR="64008" marT="27432" marB="27432" anchor="ctr">
                    <a:solidFill>
                      <a:srgbClr val="FFFFFF"/>
                    </a:solidFill>
                  </a:tcPr>
                </a:tc>
                <a:tc>
                  <a:txBody>
                    <a:bodyPr wrap="square"/>
                    <a:lstStyle/>
                    <a:p>
                      <a:pPr algn="ctr"/>
                      <a:r>
                        <a:rPr sz="1100" b="0" i="0">
                          <a:solidFill>
                            <a:srgbClr val="1F2430"/>
                          </a:solidFill>
                          <a:latin typeface="Arial"/>
                        </a:rPr>
                        <a:t>4</a:t>
                      </a:r>
                    </a:p>
                  </a:txBody>
                  <a:tcPr marL="64008" marR="64008" marT="27432" marB="27432" anchor="ctr">
                    <a:solidFill>
                      <a:srgbClr val="FFFFFF"/>
                    </a:solidFill>
                  </a:tcPr>
                </a:tc>
                <a:tc>
                  <a:txBody>
                    <a:bodyPr wrap="square"/>
                    <a:lstStyle/>
                    <a:p>
                      <a:pPr algn="ctr"/>
                      <a:r>
                        <a:rPr sz="1100" b="0" i="0">
                          <a:solidFill>
                            <a:srgbClr val="1F2430"/>
                          </a:solidFill>
                          <a:latin typeface="Arial"/>
                        </a:rPr>
                        <a:t>19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3.4</a:t>
                      </a:r>
                    </a:p>
                  </a:txBody>
                  <a:tcPr marL="64008" marR="64008" marT="27432" marB="27432" anchor="ctr">
                    <a:solidFill>
                      <a:srgbClr val="F4F4F7"/>
                    </a:solidFill>
                  </a:tcPr>
                </a:tc>
                <a:tc>
                  <a:txBody>
                    <a:bodyPr wrap="square"/>
                    <a:lstStyle/>
                    <a:p>
                      <a:pPr algn="ctr"/>
                      <a:r>
                        <a:rPr sz="1100" b="0" i="0">
                          <a:solidFill>
                            <a:srgbClr val="1F2430"/>
                          </a:solidFill>
                          <a:latin typeface="Arial"/>
                        </a:rPr>
                        <a:t>Cốt lõi</a:t>
                      </a:r>
                    </a:p>
                  </a:txBody>
                  <a:tcPr marL="64008" marR="64008" marT="27432" marB="27432" anchor="ctr">
                    <a:solidFill>
                      <a:srgbClr val="F4F4F7"/>
                    </a:solidFill>
                  </a:tcPr>
                </a:tc>
                <a:tc>
                  <a:txBody>
                    <a:bodyPr wrap="square"/>
                    <a:lstStyle/>
                    <a:p>
                      <a:pPr algn="ctr"/>
                      <a:r>
                        <a:rPr sz="1100" b="0" i="0">
                          <a:solidFill>
                            <a:srgbClr val="1F2430"/>
                          </a:solidFill>
                          <a:latin typeface="Arial"/>
                        </a:rPr>
                        <a:t>Đổi chuyến bay</a:t>
                      </a:r>
                    </a:p>
                  </a:txBody>
                  <a:tcPr marL="64008" marR="64008" marT="27432" marB="27432" anchor="ctr">
                    <a:solidFill>
                      <a:srgbClr val="F4F4F7"/>
                    </a:solidFill>
                  </a:tcPr>
                </a:tc>
                <a:tc>
                  <a:txBody>
                    <a:bodyPr wrap="square"/>
                    <a:lstStyle/>
                    <a:p>
                      <a:pPr algn="ctr"/>
                      <a:r>
                        <a:rPr sz="1100" b="0" i="0">
                          <a:solidFill>
                            <a:srgbClr val="1F2430"/>
                          </a:solidFill>
                          <a:latin typeface="Arial"/>
                        </a:rPr>
                        <a:t>6</a:t>
                      </a:r>
                    </a:p>
                  </a:txBody>
                  <a:tcPr marL="64008" marR="64008" marT="27432" marB="27432" anchor="ctr">
                    <a:solidFill>
                      <a:srgbClr val="F4F4F7"/>
                    </a:solidFill>
                  </a:tcPr>
                </a:tc>
                <a:tc>
                  <a:txBody>
                    <a:bodyPr wrap="square"/>
                    <a:lstStyle/>
                    <a:p>
                      <a:pPr algn="ctr"/>
                      <a:r>
                        <a:rPr sz="1100" b="0" i="0">
                          <a:solidFill>
                            <a:srgbClr val="1F2430"/>
                          </a:solidFill>
                          <a:latin typeface="Arial"/>
                        </a:rPr>
                        <a:t>10</a:t>
                      </a:r>
                    </a:p>
                  </a:txBody>
                  <a:tcPr marL="64008" marR="64008" marT="27432" marB="27432" anchor="ctr">
                    <a:solidFill>
                      <a:srgbClr val="F4F4F7"/>
                    </a:solidFill>
                  </a:tcPr>
                </a:tc>
              </a:tr>
              <a:tr h="365760">
                <a:tc>
                  <a:txBody>
                    <a:bodyPr wrap="square"/>
                    <a:lstStyle/>
                    <a:p>
                      <a:pPr algn="l"/>
                      <a:r>
                        <a:rPr sz="1100" b="0" i="0">
                          <a:solidFill>
                            <a:srgbClr val="1F2430"/>
                          </a:solidFill>
                          <a:latin typeface="Arial"/>
                        </a:rPr>
                        <a:t>Hình 3.5</a:t>
                      </a:r>
                    </a:p>
                  </a:txBody>
                  <a:tcPr marL="64008" marR="64008" marT="27432" marB="27432" anchor="ctr">
                    <a:solidFill>
                      <a:srgbClr val="FFFFFF"/>
                    </a:solidFill>
                  </a:tcPr>
                </a:tc>
                <a:tc>
                  <a:txBody>
                    <a:bodyPr wrap="square"/>
                    <a:lstStyle/>
                    <a:p>
                      <a:pPr algn="ctr"/>
                      <a:r>
                        <a:rPr sz="1100" b="0" i="0">
                          <a:solidFill>
                            <a:srgbClr val="1F2430"/>
                          </a:solidFill>
                          <a:latin typeface="Arial"/>
                        </a:rPr>
                        <a:t>Hỗ trợ</a:t>
                      </a:r>
                    </a:p>
                  </a:txBody>
                  <a:tcPr marL="64008" marR="64008" marT="27432" marB="27432" anchor="ctr">
                    <a:solidFill>
                      <a:srgbClr val="FFFFFF"/>
                    </a:solidFill>
                  </a:tcPr>
                </a:tc>
                <a:tc>
                  <a:txBody>
                    <a:bodyPr wrap="square"/>
                    <a:lstStyle/>
                    <a:p>
                      <a:pPr algn="ctr"/>
                      <a:r>
                        <a:rPr sz="1100" b="0" i="0">
                          <a:solidFill>
                            <a:srgbClr val="1F2430"/>
                          </a:solidFill>
                          <a:latin typeface="Arial"/>
                        </a:rPr>
                        <a:t>Hỗ trợ khách hàng, tiếp nhận phản hồi và tra soát giao dịch</a:t>
                      </a:r>
                    </a:p>
                  </a:txBody>
                  <a:tcPr marL="64008" marR="64008" marT="27432" marB="27432" anchor="ctr">
                    <a:solidFill>
                      <a:srgbClr val="FFFFFF"/>
                    </a:solidFill>
                  </a:tcPr>
                </a:tc>
                <a:tc>
                  <a:txBody>
                    <a:bodyPr wrap="square"/>
                    <a:lstStyle/>
                    <a:p>
                      <a:pPr algn="ctr"/>
                      <a:r>
                        <a:rPr sz="1100" b="0" i="0">
                          <a:solidFill>
                            <a:srgbClr val="1F2430"/>
                          </a:solidFill>
                          <a:latin typeface="Arial"/>
                        </a:rPr>
                        <a:t>4</a:t>
                      </a:r>
                    </a:p>
                  </a:txBody>
                  <a:tcPr marL="64008" marR="64008" marT="27432" marB="27432" anchor="ctr">
                    <a:solidFill>
                      <a:srgbClr val="FFFFFF"/>
                    </a:solidFill>
                  </a:tcPr>
                </a:tc>
                <a:tc>
                  <a:txBody>
                    <a:bodyPr wrap="square"/>
                    <a:lstStyle/>
                    <a:p>
                      <a:pPr algn="ctr"/>
                      <a:r>
                        <a:rPr sz="1100" b="0" i="0">
                          <a:solidFill>
                            <a:srgbClr val="1F2430"/>
                          </a:solidFill>
                          <a:latin typeface="Arial"/>
                        </a:rPr>
                        <a:t>9</a:t>
                      </a:r>
                    </a:p>
                  </a:txBody>
                  <a:tcPr marL="64008" marR="64008" marT="27432" marB="27432" anchor="ctr">
                    <a:solidFill>
                      <a:srgbClr val="FFFFFF"/>
                    </a:solidFill>
                  </a:tcPr>
                </a:tc>
              </a:tr>
              <a:tr h="365760">
                <a:tc>
                  <a:txBody>
                    <a:bodyPr wrap="square"/>
                    <a:lstStyle/>
                    <a:p>
                      <a:pPr algn="l"/>
                      <a:r>
                        <a:rPr sz="1100" b="0" i="0">
                          <a:solidFill>
                            <a:srgbClr val="1F2430"/>
                          </a:solidFill>
                          <a:latin typeface="Arial"/>
                        </a:rPr>
                        <a:t>Hình 3.6</a:t>
                      </a:r>
                    </a:p>
                  </a:txBody>
                  <a:tcPr marL="64008" marR="64008" marT="27432" marB="27432" anchor="ctr">
                    <a:solidFill>
                      <a:srgbClr val="F4F4F7"/>
                    </a:solidFill>
                  </a:tcPr>
                </a:tc>
                <a:tc>
                  <a:txBody>
                    <a:bodyPr wrap="square"/>
                    <a:lstStyle/>
                    <a:p>
                      <a:pPr algn="ctr"/>
                      <a:r>
                        <a:rPr sz="1100" b="0" i="0">
                          <a:solidFill>
                            <a:srgbClr val="1F2430"/>
                          </a:solidFill>
                          <a:latin typeface="Arial"/>
                        </a:rPr>
                        <a:t>Hỗ trợ</a:t>
                      </a:r>
                    </a:p>
                  </a:txBody>
                  <a:tcPr marL="64008" marR="64008" marT="27432" marB="27432" anchor="ctr">
                    <a:solidFill>
                      <a:srgbClr val="F4F4F7"/>
                    </a:solidFill>
                  </a:tcPr>
                </a:tc>
                <a:tc>
                  <a:txBody>
                    <a:bodyPr wrap="square"/>
                    <a:lstStyle/>
                    <a:p>
                      <a:pPr algn="ctr"/>
                      <a:r>
                        <a:rPr sz="1100" b="0" i="0">
                          <a:solidFill>
                            <a:srgbClr val="1F2430"/>
                          </a:solidFill>
                          <a:latin typeface="Arial"/>
                        </a:rPr>
                        <a:t>Xuất hóa đơn điện tử (VAT)</a:t>
                      </a:r>
                    </a:p>
                  </a:txBody>
                  <a:tcPr marL="64008" marR="64008" marT="27432" marB="27432" anchor="ctr">
                    <a:solidFill>
                      <a:srgbClr val="F4F4F7"/>
                    </a:solidFill>
                  </a:tcPr>
                </a:tc>
                <a:tc>
                  <a:txBody>
                    <a:bodyPr wrap="square"/>
                    <a:lstStyle/>
                    <a:p>
                      <a:pPr algn="ctr"/>
                      <a:r>
                        <a:rPr sz="1100" b="0" i="0">
                          <a:solidFill>
                            <a:srgbClr val="1F2430"/>
                          </a:solidFill>
                          <a:latin typeface="Arial"/>
                        </a:rPr>
                        <a:t>6</a:t>
                      </a:r>
                    </a:p>
                  </a:txBody>
                  <a:tcPr marL="64008" marR="64008" marT="27432" marB="27432" anchor="ctr">
                    <a:solidFill>
                      <a:srgbClr val="F4F4F7"/>
                    </a:solidFill>
                  </a:tcPr>
                </a:tc>
                <a:tc>
                  <a:txBody>
                    <a:bodyPr wrap="square"/>
                    <a:lstStyle/>
                    <a:p>
                      <a:pPr algn="ctr"/>
                      <a:r>
                        <a:rPr sz="1100" b="0" i="0">
                          <a:solidFill>
                            <a:srgbClr val="1F2430"/>
                          </a:solidFill>
                          <a:latin typeface="Arial"/>
                        </a:rPr>
                        <a:t>8</a:t>
                      </a:r>
                    </a:p>
                  </a:txBody>
                  <a:tcPr marL="64008" marR="64008" marT="27432" marB="27432" anchor="ctr">
                    <a:solidFill>
                      <a:srgbClr val="F4F4F7"/>
                    </a:solidFill>
                  </a:tcPr>
                </a:tc>
              </a:tr>
            </a:tbl>
          </a:graphicData>
        </a:graphic>
      </p:graphicFrame>
      <p:sp>
        <p:nvSpPr>
          <p:cNvPr id="7" name="Rounded Rectangle 6"/>
          <p:cNvSpPr/>
          <p:nvPr/>
        </p:nvSpPr>
        <p:spPr>
          <a:xfrm>
            <a:off x="502920" y="4178808"/>
            <a:ext cx="5483199" cy="141732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432511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MỖI QUY TRÌNH ĐỀU TRÌNH BÀY THEO KHUNG THỐNG NHẤT</a:t>
            </a:r>
          </a:p>
        </p:txBody>
      </p:sp>
      <p:sp>
        <p:nvSpPr>
          <p:cNvPr id="9" name="TextBox 8"/>
          <p:cNvSpPr txBox="1"/>
          <p:nvPr/>
        </p:nvSpPr>
        <p:spPr>
          <a:xfrm>
            <a:off x="704088" y="4654296"/>
            <a:ext cx="5080863" cy="79552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3.X.1 Phương pháp thực hiện </a:t>
            </a:r>
            <a:r>
              <a:rPr sz="1100" b="0" i="0">
                <a:solidFill>
                  <a:srgbClr val="1F2430"/>
                </a:solidFill>
                <a:latin typeface="Arial"/>
              </a:rPr>
              <a:t>— 5 cấu phần bằng chứng + bộ 20 câu hỏi khảo sát theo lưới 2×2.</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3.X.2 Mô hình hóa quy trình </a:t>
            </a:r>
            <a:r>
              <a:rPr sz="1100" b="0" i="0">
                <a:solidFill>
                  <a:srgbClr val="1F2430"/>
                </a:solidFill>
                <a:latin typeface="Arial"/>
              </a:rPr>
              <a:t>— sơ đồ BPMN kèm diễn giải luồng chính và luồng ngoại lệ.</a:t>
            </a:r>
          </a:p>
        </p:txBody>
      </p:sp>
      <p:sp>
        <p:nvSpPr>
          <p:cNvPr id="10" name="Rounded Rectangle 9"/>
          <p:cNvSpPr/>
          <p:nvPr/>
        </p:nvSpPr>
        <p:spPr>
          <a:xfrm>
            <a:off x="6205575" y="4178808"/>
            <a:ext cx="5483199" cy="141732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06743" y="432511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ĐẶC ĐIỂM CHUNG CỦA 6 SƠ ĐỒ</a:t>
            </a:r>
          </a:p>
        </p:txBody>
      </p:sp>
      <p:sp>
        <p:nvSpPr>
          <p:cNvPr id="12" name="TextBox 11"/>
          <p:cNvSpPr txBox="1"/>
          <p:nvPr/>
        </p:nvSpPr>
        <p:spPr>
          <a:xfrm>
            <a:off x="6406743" y="4654296"/>
            <a:ext cx="5080863" cy="79552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Đều dùng swimlane theo đúng tên bộ phận ở Bảng 1.1.</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Mỗi sơ đồ đều có nhiều hơn 7 cổng điều kiện (gateway).</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Mọi nhánh rẽ đều hội tụ về cổng gộp hoặc kết thúc ở End Event riêng — không có nhánh treo.</a:t>
            </a:r>
          </a:p>
        </p:txBody>
      </p:sp>
      <p:sp>
        <p:nvSpPr>
          <p:cNvPr id="13" name="TextBox 12"/>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4" name="TextBox 13"/>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1/6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trị giá, khuyến mãi và chính sách hiển thị giá</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cung cấp dữ liệu giá, thuế,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Quản lý Giá </a:t>
            </a:r>
            <a:r>
              <a:rPr sz="1050" b="0" i="0">
                <a:solidFill>
                  <a:srgbClr val="1F2430"/>
                </a:solidFill>
                <a:latin typeface="Arial"/>
              </a:rPr>
              <a:t>— tiếp nhận, kiểm tra, chuẩn hóa cấu trúc giá</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Marketing </a:t>
            </a:r>
            <a:r>
              <a:rPr sz="1050" b="0" i="0">
                <a:solidFill>
                  <a:srgbClr val="1F2430"/>
                </a:solidFill>
                <a:latin typeface="Arial"/>
              </a:rPr>
              <a:t>— phân tích tệp KH, thiết kế cơ chế khuyến mãi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Tài chính / Pháp chế </a:t>
            </a:r>
            <a:r>
              <a:rPr sz="1050" b="0" i="0">
                <a:solidFill>
                  <a:srgbClr val="1F2430"/>
                </a:solidFill>
                <a:latin typeface="Arial"/>
              </a:rPr>
              <a:t>— thẩm định tài chính và pháp lý</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Growth Specialist / Kỹ thuật </a:t>
            </a:r>
            <a:r>
              <a:rPr sz="1050" b="0" i="0">
                <a:solidFill>
                  <a:srgbClr val="1F2430"/>
                </a:solidFill>
                <a:latin typeface="Arial"/>
              </a:rPr>
              <a:t>— cấu hình tham số giá lên hệ thống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hiển thị giá/KM tới người dùng cuối</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giá/KM được phê duyệt, cấu hình và công bố chính xác tới người dùng.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Hủy bỏ / Từ chối </a:t>
            </a:r>
            <a:r>
              <a:rPr sz="1100" b="0" i="0">
                <a:solidFill>
                  <a:srgbClr val="1F2430"/>
                </a:solidFill>
                <a:latin typeface="Arial"/>
              </a:rPr>
              <a:t>— không vượt qua thẩm định rủi ro của Tài chính/Pháp chế, hoặc hồ sơ điều kiện không được bổ sung đầy đủ.</a:t>
            </a:r>
          </a:p>
        </p:txBody>
      </p:sp>
      <p:sp>
        <p:nvSpPr>
          <p:cNvPr id="12" name="Rounded Rectangle 11"/>
          <p:cNvSpPr/>
          <p:nvPr/>
        </p:nvSpPr>
        <p:spPr>
          <a:xfrm>
            <a:off x="5160142" y="1389888"/>
            <a:ext cx="6528633" cy="274320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212140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Hãng bay gửi dữ liệu giá → Quản lý Giá kiểm tra đầy đủ và chuẩn hóa</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Marketing phân tích tệp khách hàng và xây dựng cơ chế khuyến mãi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Tài chính/Pháp chế thẩm định và phê duyệt</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Kỹ thuật cấu hình lên hệ thống → App kiểm tra hiển thị → Công bố</a:t>
            </a:r>
          </a:p>
        </p:txBody>
      </p:sp>
      <p:sp>
        <p:nvSpPr>
          <p:cNvPr id="15" name="Rounded Rectangle 14"/>
          <p:cNvSpPr/>
          <p:nvPr/>
        </p:nvSpPr>
        <p:spPr>
          <a:xfrm>
            <a:off x="5160142" y="4279392"/>
            <a:ext cx="6528633"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442569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754879"/>
            <a:ext cx="6126297"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giá không đầy đủ </a:t>
            </a:r>
            <a:r>
              <a:rPr sz="1100" b="0" i="0">
                <a:solidFill>
                  <a:srgbClr val="1F2430"/>
                </a:solidFill>
                <a:latin typeface="Arial"/>
              </a:rPr>
              <a:t>→ vòng lặp yêu cầu hãng bay bổ sung.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Chuẩn hóa sai </a:t>
            </a:r>
            <a:r>
              <a:rPr sz="1100" b="0" i="0">
                <a:solidFill>
                  <a:srgbClr val="1F2430"/>
                </a:solidFill>
                <a:latin typeface="Arial"/>
              </a:rPr>
              <a:t>→ trả lại Bộ phận Quản lý Giá điều chỉnh.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áp dụng khuyến mãi </a:t>
            </a:r>
            <a:r>
              <a:rPr sz="1100" b="0" i="0">
                <a:solidFill>
                  <a:srgbClr val="1F2430"/>
                </a:solidFill>
                <a:latin typeface="Arial"/>
              </a:rPr>
              <a:t>→ bỏ qua toàn bộ nhánh Marketing – Pháp chế, đẩy thẳng giá gốc sang Kỹ thuật; hai nhánh hội tụ tại cổng gộp trước bước cấu hình.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được phê duyệt / sai tệp khách hàng </a:t>
            </a:r>
            <a:r>
              <a:rPr sz="1100" b="0" i="0">
                <a:solidFill>
                  <a:srgbClr val="1F2430"/>
                </a:solidFill>
                <a:latin typeface="Arial"/>
              </a:rPr>
              <a:t>→ trả về Marketing điều chỉnh chiến dịch.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Hiển thị sai trên App </a:t>
            </a:r>
            <a:r>
              <a:rPr sz="1100" b="0" i="0">
                <a:solidFill>
                  <a:srgbClr val="1F2430"/>
                </a:solidFill>
                <a:latin typeface="Arial"/>
              </a:rPr>
              <a:t>→ quay về cổng gộp trước bước cấu hình để sửa và kiểm thử lại.</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1/6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trị giá và khuyến mãi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6 làn  ·  9 cổng điều kiện</a:t>
            </a:r>
          </a:p>
        </p:txBody>
      </p:sp>
      <p:pic>
        <p:nvPicPr>
          <p:cNvPr id="8" name="Picture 7" descr="01_Management_QuanTriGia_KhuyenMai.png"/>
          <p:cNvPicPr>
            <a:picLocks noChangeAspect="1"/>
          </p:cNvPicPr>
          <p:nvPr/>
        </p:nvPicPr>
        <p:blipFill>
          <a:blip r:embed="rId2"/>
          <a:stretch>
            <a:fillRect/>
          </a:stretch>
        </p:blipFill>
        <p:spPr>
          <a:xfrm>
            <a:off x="502920" y="2181305"/>
            <a:ext cx="11185855" cy="3053172"/>
          </a:xfrm>
          <a:prstGeom prst="rect">
            <a:avLst/>
          </a:prstGeom>
        </p:spPr>
      </p:pic>
      <p:sp>
        <p:nvSpPr>
          <p:cNvPr id="9" name="TextBox 8"/>
          <p:cNvSpPr txBox="1"/>
          <p:nvPr/>
        </p:nvSpPr>
        <p:spPr>
          <a:xfrm>
            <a:off x="502920" y="5325918"/>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3.1. Sơ đồ BPMN quy trình Quản trị giá, khuyến mãi và chính sách hiển thị giá</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2/6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lý hạng vé máy bay</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tạo và cập nhật thông tin hạng vé; cung cấp qua API (hãng quốc tế) hoặc gửi trực tiếp (hãng nội địa)</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Business Development (BD) </a:t>
            </a:r>
            <a:r>
              <a:rPr sz="1050" b="0" i="0">
                <a:solidFill>
                  <a:srgbClr val="1F2430"/>
                </a:solidFill>
                <a:latin typeface="Arial"/>
              </a:rPr>
              <a:t>— tích hợp API, kiểm tra, phân tích đối chiếu và chuẩn hóa dữ liệu</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Ticketing </a:t>
            </a:r>
            <a:r>
              <a:rPr sz="1050" b="0" i="0">
                <a:solidFill>
                  <a:srgbClr val="1F2430"/>
                </a:solidFill>
                <a:latin typeface="Arial"/>
              </a:rPr>
              <a:t>— kiểm tra dữ liệu chuẩn hóa, cấu hình, phê duyệt công bố, giám sát sau công bố</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nghiệm thu hiển thị hạng vé trên giao diện</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hạng vé được tích hợp, cấu hình và hiển thị ổn định trên App.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a:t>
            </a:r>
            <a:r>
              <a:rPr sz="1100" b="0" i="0">
                <a:solidFill>
                  <a:srgbClr val="1F2430"/>
                </a:solidFill>
                <a:latin typeface="Arial"/>
              </a:rPr>
              <a:t>— kết nối API thất bại quá 2 lần cho phép, dừng tiếp nhận hạng vé.</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Tạm hoãn </a:t>
            </a:r>
            <a:r>
              <a:rPr sz="1100" b="0" i="0">
                <a:solidFill>
                  <a:srgbClr val="1F2430"/>
                </a:solidFill>
                <a:latin typeface="Arial"/>
              </a:rPr>
              <a:t>— dữ liệu hợp lệ nhưng Ticketing quyết định chưa công bố vì lý do kinh doanh.</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Hãng phát hành hạng vé mới → phân luồng theo loại hãng</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Quốc tế: tích hợp API  /  Nội địa: BD kiểm tra, đối chiếu và chuẩn hóa</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Hai nhánh hội tụ tại cổng gộp → Ticketing kiểm tra và cấu hình hạng vé</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App nghiệm thu hiển thị → Ticketing phê duyệt, công bố và giám sát</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Tích hợp API thất bại </a:t>
            </a:r>
            <a:r>
              <a:rPr sz="1100" b="0" i="0">
                <a:solidFill>
                  <a:srgbClr val="1F2430"/>
                </a:solidFill>
                <a:latin typeface="Arial"/>
              </a:rPr>
              <a:t>→ còn trong giới hạn 2 lần thì sửa lỗi và thử lại; hết lượt thì kết thúc "Không tích hợp được API".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nội địa không đầy đủ </a:t>
            </a:r>
            <a:r>
              <a:rPr sz="1100" b="0" i="0">
                <a:solidFill>
                  <a:srgbClr val="1F2430"/>
                </a:solidFill>
                <a:latin typeface="Arial"/>
              </a:rPr>
              <a:t>→ trả hãng bay bổ sung rồi gửi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Chưa chuẩn hóa đúng yêu cầu </a:t>
            </a:r>
            <a:r>
              <a:rPr sz="1100" b="0" i="0">
                <a:solidFill>
                  <a:srgbClr val="1F2430"/>
                </a:solidFill>
                <a:latin typeface="Arial"/>
              </a:rPr>
              <a:t>→ Ticketing trả về BD đối chiếu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Hiển thị không hợp lệ / lỗi sau công bố </a:t>
            </a:r>
            <a:r>
              <a:rPr sz="1100" b="0" i="0">
                <a:solidFill>
                  <a:srgbClr val="1F2430"/>
                </a:solidFill>
                <a:latin typeface="Arial"/>
              </a:rPr>
              <a:t>→ cùng rẽ vào một cổng gộp xử lý lỗi, dùng chung nhánh khắc phục.</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Quyết định không công bố </a:t>
            </a:r>
            <a:r>
              <a:rPr sz="1100" b="0" i="0">
                <a:solidFill>
                  <a:srgbClr val="1F2430"/>
                </a:solidFill>
                <a:latin typeface="Arial"/>
              </a:rPr>
              <a:t>→ End Event riêng "Tạm hoãn/Hủy công bố", phân biệt rõ với kết thúc do lỗi kỹ thuật.</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2/6 · NHÓM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Quản lý hạng vé máy bay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10 cổng điều kiện</a:t>
            </a:r>
          </a:p>
        </p:txBody>
      </p:sp>
      <p:pic>
        <p:nvPicPr>
          <p:cNvPr id="8" name="Picture 7" descr="02_Management_QuanLyHangVe.png"/>
          <p:cNvPicPr>
            <a:picLocks noChangeAspect="1"/>
          </p:cNvPicPr>
          <p:nvPr/>
        </p:nvPicPr>
        <p:blipFill>
          <a:blip r:embed="rId2"/>
          <a:stretch>
            <a:fillRect/>
          </a:stretch>
        </p:blipFill>
        <p:spPr>
          <a:xfrm>
            <a:off x="502920" y="1760440"/>
            <a:ext cx="11185855" cy="3894903"/>
          </a:xfrm>
          <a:prstGeom prst="rect">
            <a:avLst/>
          </a:prstGeom>
        </p:spPr>
      </p:pic>
      <p:sp>
        <p:nvSpPr>
          <p:cNvPr id="9" name="TextBox 8"/>
          <p:cNvSpPr txBox="1"/>
          <p:nvPr/>
        </p:nvSpPr>
        <p:spPr>
          <a:xfrm>
            <a:off x="502920" y="5746783"/>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3.2. Sơ đồ BPMN quy trình Quản lý hạng vé máy bay</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lựa chọn hành trình, thanh toán và xác nhận đặt vé</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nhập tiêu chí, chọn hành trình,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 Nền tảng Core </a:t>
            </a:r>
            <a:r>
              <a:rPr sz="1050" b="0" i="0">
                <a:solidFill>
                  <a:srgbClr val="1F2430"/>
                </a:solidFill>
                <a:latin typeface="Arial"/>
              </a:rPr>
              <a:t>— dịch vụ tìm kiếm, hợp nhất dữ liệu, giữ chỗ và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 Xử lý ngoại lệ </a:t>
            </a:r>
            <a:r>
              <a:rPr sz="1050" b="0" i="0">
                <a:solidFill>
                  <a:srgbClr val="1F2430"/>
                </a:solidFill>
                <a:latin typeface="Arial"/>
              </a:rPr>
              <a:t>— xử lý giao dịch treo (Pending)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GDS </a:t>
            </a:r>
            <a:r>
              <a:rPr sz="1050" b="0" i="0">
                <a:solidFill>
                  <a:srgbClr val="1F2430"/>
                </a:solidFill>
                <a:latin typeface="Arial"/>
              </a:rPr>
              <a:t>— trả dữ liệu chuyến bay, xác nhận chỗ và phát hành vé</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thanh toán hoàn tất, hãng bay trả mã đặt chỗ (PNR), vé điện tử được gửi tới khách.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 Hủy giao dịch </a:t>
            </a:r>
            <a:r>
              <a:rPr sz="1100" b="0" i="0">
                <a:solidFill>
                  <a:srgbClr val="1F2430"/>
                </a:solidFill>
                <a:latin typeface="Arial"/>
              </a:rPr>
              <a:t>— thanh toán lỗi, hoặc đơn treo mà khách không còn nhu cầu nên rollback hoàn tiền.</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nhập tiêu chí → App truy vấn song song và hiển thị chuyến bay</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Chọn hành trình, hạng vé, nhập thông tin hành khách</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Phân luồng nội địa/quốc tế → chọn tiện ích bổ sung → tạo booking giữ chỗ</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Còn thời gian giữ chỗ → thanh toán → cập nhật vé và gửi vé điện tử</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Hết thời gian giữ chỗ </a:t>
            </a:r>
            <a:r>
              <a:rPr sz="1100" b="0" i="0">
                <a:solidFill>
                  <a:srgbClr val="1F2430"/>
                </a:solidFill>
                <a:latin typeface="Arial"/>
              </a:rPr>
              <a:t>→ quay lại bước nhập tiêu chí, khách thao tác lại từ đầu.</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Thanh toán thất bại </a:t>
            </a:r>
            <a:r>
              <a:rPr sz="1100" b="0" i="0">
                <a:solidFill>
                  <a:srgbClr val="1F2430"/>
                </a:solidFill>
                <a:latin typeface="Arial"/>
              </a:rPr>
              <a:t>→ kết thúc "Mua vé thất bại".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Giao dịch Pending (treo) </a:t>
            </a:r>
            <a:r>
              <a:rPr sz="1100" b="0" i="0">
                <a:solidFill>
                  <a:srgbClr val="1F2430"/>
                </a:solidFill>
                <a:latin typeface="Arial"/>
              </a:rPr>
              <a:t>→ tạo ticket sang CSKH → phân cấp VIP (24/7) hoặc thường (giờ hành chính) → liên hệ khách: không còn nhu cầu thì rollback hoàn tiền; còn nhu cầu thì kiểm tra vé phía hãng, có sẵn thì CSKH xuất vé thủ công, chưa có thì giữ chỗ và liên hệ hãng phát hành rồi nhập lại luồng thành công.</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Chuỗi tiện ích bổ sung </a:t>
            </a:r>
            <a:r>
              <a:rPr sz="1100" b="0" i="0">
                <a:solidFill>
                  <a:srgbClr val="1F2430"/>
                </a:solidFill>
                <a:latin typeface="Arial"/>
              </a:rPr>
              <a:t>— mỗi tiện ích (chỗ ngồi, suất ăn, hành lý, bảo hiểm) là một cặp cổng rẽ – cổng gộp độc lập; vé quốc tế đi tắt thẳng tới nhánh bảo hiểm.</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Sơ đồ BPMN (toàn cảnh)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Core_TimKiem_DatVe_ThanhToan.png"/>
          <p:cNvPicPr>
            <a:picLocks noChangeAspect="1"/>
          </p:cNvPicPr>
          <p:nvPr/>
        </p:nvPicPr>
        <p:blipFill>
          <a:blip r:embed="rId2"/>
          <a:stretch>
            <a:fillRect/>
          </a:stretch>
        </p:blipFill>
        <p:spPr>
          <a:xfrm>
            <a:off x="502920" y="2897373"/>
            <a:ext cx="11185855" cy="1621037"/>
          </a:xfrm>
          <a:prstGeom prst="rect">
            <a:avLst/>
          </a:prstGeom>
        </p:spPr>
      </p:pic>
      <p:sp>
        <p:nvSpPr>
          <p:cNvPr id="9" name="TextBox 8"/>
          <p:cNvSpPr txBox="1"/>
          <p:nvPr/>
        </p:nvSpPr>
        <p:spPr>
          <a:xfrm>
            <a:off x="502920" y="4609850"/>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Sơ đồ BPMN quy trình Tìm kiếm, lựa chọn hành trình, thanh toán và xác nhận đặt vé</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Phóng to nửa đầu sơ đồ</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phan1.png"/>
          <p:cNvPicPr>
            <a:picLocks noChangeAspect="1"/>
          </p:cNvPicPr>
          <p:nvPr/>
        </p:nvPicPr>
        <p:blipFill>
          <a:blip r:embed="rId2"/>
          <a:stretch>
            <a:fillRect/>
          </a:stretch>
        </p:blipFill>
        <p:spPr>
          <a:xfrm>
            <a:off x="502920" y="2178274"/>
            <a:ext cx="11185855" cy="3059234"/>
          </a:xfrm>
          <a:prstGeom prst="rect">
            <a:avLst/>
          </a:prstGeom>
        </p:spPr>
      </p:pic>
      <p:sp>
        <p:nvSpPr>
          <p:cNvPr id="9" name="TextBox 8"/>
          <p:cNvSpPr txBox="1"/>
          <p:nvPr/>
        </p:nvSpPr>
        <p:spPr>
          <a:xfrm>
            <a:off x="502920" y="5328949"/>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(phần 1/2). Từ nhập tiêu chí tìm kiếm đến chuỗi chọn tiện ích bổ sung</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3/6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Tìm kiếm – đặt vé — Phóng to nửa sau sơ đồ</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19 cổng điều kiện</a:t>
            </a:r>
          </a:p>
        </p:txBody>
      </p:sp>
      <p:pic>
        <p:nvPicPr>
          <p:cNvPr id="8" name="Picture 7" descr="03_phan2.png"/>
          <p:cNvPicPr>
            <a:picLocks noChangeAspect="1"/>
          </p:cNvPicPr>
          <p:nvPr/>
        </p:nvPicPr>
        <p:blipFill>
          <a:blip r:embed="rId2"/>
          <a:stretch>
            <a:fillRect/>
          </a:stretch>
        </p:blipFill>
        <p:spPr>
          <a:xfrm>
            <a:off x="502920" y="2178531"/>
            <a:ext cx="11185855" cy="3058720"/>
          </a:xfrm>
          <a:prstGeom prst="rect">
            <a:avLst/>
          </a:prstGeom>
        </p:spPr>
      </p:pic>
      <p:sp>
        <p:nvSpPr>
          <p:cNvPr id="9" name="TextBox 8"/>
          <p:cNvSpPr txBox="1"/>
          <p:nvPr/>
        </p:nvSpPr>
        <p:spPr>
          <a:xfrm>
            <a:off x="502920" y="5328692"/>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3.3 (phần 2/2). Từ tạo booking giữ chỗ đến nhánh xử lý giao dịch treo của CSKH</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4/6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Đổi chuyến bay</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yêu cầu đổi, chọn chuyến mới, xác nhận mức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Giao diện MoMo Client App </a:t>
            </a:r>
            <a:r>
              <a:rPr sz="1050" b="0" i="0">
                <a:solidFill>
                  <a:srgbClr val="1F2430"/>
                </a:solidFill>
                <a:latin typeface="Arial"/>
              </a:rPr>
              <a:t>— tiếp nhận thao tác và hiển thị phân rã phí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Backend MoMo Travel </a:t>
            </a:r>
            <a:r>
              <a:rPr sz="1050" b="0" i="0">
                <a:solidFill>
                  <a:srgbClr val="1F2430"/>
                </a:solidFill>
                <a:latin typeface="Arial"/>
              </a:rPr>
              <a:t>— kiểm tra điều kiện vé, truy vấn lịch bay, tính phí đổi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Cổng Thanh toán MoMo </a:t>
            </a:r>
            <a:r>
              <a:rPr sz="1050" b="0" i="0">
                <a:solidFill>
                  <a:srgbClr val="1F2430"/>
                </a:solidFill>
                <a:latin typeface="Arial"/>
              </a:rPr>
              <a:t>— xác thực mạnh và trích tiền phí đổi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MoMo Travel </a:t>
            </a:r>
            <a:r>
              <a:rPr sz="1050" b="0" i="0">
                <a:solidFill>
                  <a:srgbClr val="1F2430"/>
                </a:solidFill>
                <a:latin typeface="Arial"/>
              </a:rPr>
              <a:t>— xử lý các ca không đổi tự động được</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Hãng bay (CRS/GDS Re-issue API) </a:t>
            </a:r>
            <a:r>
              <a:rPr sz="1050" b="0" i="0">
                <a:solidFill>
                  <a:srgbClr val="1F2430"/>
                </a:solidFill>
                <a:latin typeface="Arial"/>
              </a:rPr>
              <a:t>— hủy chỗ cũ, cấp vé mới</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vé điện tử mới được cấp kèm PNR mới, vé cũ bị thu hồi.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Hủy đổi, giữ vé cũ </a:t>
            </a:r>
            <a:r>
              <a:rPr sz="1100" b="0" i="0">
                <a:solidFill>
                  <a:srgbClr val="1F2430"/>
                </a:solidFill>
                <a:latin typeface="Arial"/>
              </a:rPr>
              <a:t>— không có chuyến phù hợp, khách không đồng ý phí, hoặc hết chỗ khi đang trích tiền (hoàn 100% phí đổi).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Thất bại </a:t>
            </a:r>
            <a:r>
              <a:rPr sz="1100" b="0" i="0">
                <a:solidFill>
                  <a:srgbClr val="1F2430"/>
                </a:solidFill>
                <a:latin typeface="Arial"/>
              </a:rPr>
              <a:t>— xác thực bảo mật hoặc thanh toán phí đổi không thành công.</a:t>
            </a:r>
          </a:p>
        </p:txBody>
      </p:sp>
      <p:sp>
        <p:nvSpPr>
          <p:cNvPr id="12" name="Rounded Rectangle 11"/>
          <p:cNvSpPr/>
          <p:nvPr/>
        </p:nvSpPr>
        <p:spPr>
          <a:xfrm>
            <a:off x="5160142" y="1389888"/>
            <a:ext cx="6528633" cy="274320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212140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chọn "Đổi chuyến bay" → Backend kiểm tra điều kiện hạng vé gốc</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Truy vấn lịch bay mới sang GDS → khách chọn chuyến → tính phí đổi</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Hiển thị bảng phân rã phí → khách đồng ý → xác thực sinh trắc học/OTP</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Trích phí đổi → tái phát hành qua API → hãng hủy chỗ cũ, cấp vé mới</a:t>
            </a:r>
          </a:p>
        </p:txBody>
      </p:sp>
      <p:sp>
        <p:nvSpPr>
          <p:cNvPr id="15" name="Rounded Rectangle 14"/>
          <p:cNvSpPr/>
          <p:nvPr/>
        </p:nvSpPr>
        <p:spPr>
          <a:xfrm>
            <a:off x="5160142" y="4279392"/>
            <a:ext cx="6528633"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442569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754879"/>
            <a:ext cx="6126297"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Vé không được phép đổi / không có chuyến phù hợp </a:t>
            </a:r>
            <a:r>
              <a:rPr sz="1100" b="0" i="0">
                <a:solidFill>
                  <a:srgbClr val="1F2430"/>
                </a:solidFill>
                <a:latin typeface="Arial"/>
              </a:rPr>
              <a:t>→ kết thúc, giữ nguyên vé cũ.</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Hạng vé không hỗ trợ đổi tự động </a:t>
            </a:r>
            <a:r>
              <a:rPr sz="1100" b="0" i="0">
                <a:solidFill>
                  <a:srgbClr val="1F2430"/>
                </a:solidFill>
                <a:latin typeface="Arial"/>
              </a:rPr>
              <a:t>→ tạo Support Ticket, CSKH liên hệ hãng kiểm tra phí thủ công rồi hội tụ lại luồng chính tại cổng gộp sau khâu kiểm tra phí.</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Khách không đồng ý mức phí </a:t>
            </a:r>
            <a:r>
              <a:rPr sz="1100" b="0" i="0">
                <a:solidFill>
                  <a:srgbClr val="1F2430"/>
                </a:solidFill>
                <a:latin typeface="Arial"/>
              </a:rPr>
              <a:t>→ kết thúc "Khách hủy yêu cầu đổi".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Xác thực hoặc trích tiền thất bại </a:t>
            </a:r>
            <a:r>
              <a:rPr sz="1100" b="0" i="0">
                <a:solidFill>
                  <a:srgbClr val="1F2430"/>
                </a:solidFill>
                <a:latin typeface="Arial"/>
              </a:rPr>
              <a:t>→ hai End Event riêng biệt.</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Hết chỗ chuyến mới khi đang Re-issue </a:t>
            </a:r>
            <a:r>
              <a:rPr sz="1100" b="0" i="0">
                <a:solidFill>
                  <a:srgbClr val="1F2430"/>
                </a:solidFill>
                <a:latin typeface="Arial"/>
              </a:rPr>
              <a:t>→ hủy giao dịch, hoàn 100% phí đổi về Ví, giữ nguyên vé cũ và mời khách chọn chuyến khác.</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4/6 · NHÓM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Đổi chuyến bay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6 làn  ·  10 cổng điều kiện</a:t>
            </a:r>
          </a:p>
        </p:txBody>
      </p:sp>
      <p:pic>
        <p:nvPicPr>
          <p:cNvPr id="8" name="Picture 7" descr="04_Core_DoiChuyenBay.png"/>
          <p:cNvPicPr>
            <a:picLocks noChangeAspect="1"/>
          </p:cNvPicPr>
          <p:nvPr/>
        </p:nvPicPr>
        <p:blipFill>
          <a:blip r:embed="rId2"/>
          <a:stretch>
            <a:fillRect/>
          </a:stretch>
        </p:blipFill>
        <p:spPr>
          <a:xfrm>
            <a:off x="502920" y="1800826"/>
            <a:ext cx="11185855" cy="3814130"/>
          </a:xfrm>
          <a:prstGeom prst="rect">
            <a:avLst/>
          </a:prstGeom>
        </p:spPr>
      </p:pic>
      <p:sp>
        <p:nvSpPr>
          <p:cNvPr id="9" name="TextBox 8"/>
          <p:cNvSpPr txBox="1"/>
          <p:nvPr/>
        </p:nvSpPr>
        <p:spPr>
          <a:xfrm>
            <a:off x="502920" y="5706397"/>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3.4. Sơ đồ BPMN quy trình Đổi chuyến bay trên MoMo</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5/6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Hỗ trợ khách hàng, tiếp nhận phản hồi và tra soát giao dịch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21284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159105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liên hệ qua tổng đài hoặc App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kênh tiếp nhận và tra cứu trạng thái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a:t>
            </a:r>
            <a:r>
              <a:rPr sz="1050" b="0" i="0">
                <a:solidFill>
                  <a:srgbClr val="1F2430"/>
                </a:solidFill>
                <a:latin typeface="Arial"/>
              </a:rPr>
              <a:t>— đầu mối tiếp nhận, xác minh, tạo và đóng ticket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Hãng bay / NCC </a:t>
            </a:r>
            <a:r>
              <a:rPr sz="1050" b="0" i="0">
                <a:solidFill>
                  <a:srgbClr val="1F2430"/>
                </a:solidFill>
                <a:latin typeface="Arial"/>
              </a:rPr>
              <a:t>— xác minh thông tin đặt chỗ, chấp nhận hoặc từ chối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(Phối hợp) Đội Vận hành SP Du lịch, Đội Kỹ thuật, Bộ phận Tài chính/Pháp chế khi khiếu nại leo thang</a:t>
            </a:r>
            <a:r>
              <a:rPr sz="1050" b="0" i="0">
                <a:solidFill>
                  <a:srgbClr val="1F2430"/>
                </a:solidFill>
                <a:latin typeface="Arial"/>
              </a:rPr>
              <a:t/>
            </a:r>
          </a:p>
        </p:txBody>
      </p:sp>
      <p:sp>
        <p:nvSpPr>
          <p:cNvPr id="9" name="Rounded Rectangle 8"/>
          <p:cNvSpPr/>
          <p:nvPr/>
        </p:nvSpPr>
        <p:spPr>
          <a:xfrm>
            <a:off x="502920" y="3749039"/>
            <a:ext cx="4474342"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3895344"/>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224527"/>
            <a:ext cx="4072006"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 đóng ticket </a:t>
            </a:r>
            <a:r>
              <a:rPr sz="1100" b="0" i="0">
                <a:solidFill>
                  <a:srgbClr val="1F2430"/>
                </a:solidFill>
                <a:latin typeface="Arial"/>
              </a:rPr>
              <a:t>— sự cố được giải quyết dứt điểm, khách đồng ý phương án.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Bị từ chối </a:t>
            </a:r>
            <a:r>
              <a:rPr sz="1100" b="0" i="0">
                <a:solidFill>
                  <a:srgbClr val="1F2430"/>
                </a:solidFill>
                <a:latin typeface="Arial"/>
              </a:rPr>
              <a:t>— hãng bay/NCC từ chối hỗ trợ, kèm lý do.</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đạt thỏa thuận </a:t>
            </a:r>
            <a:r>
              <a:rPr sz="1100" b="0" i="0">
                <a:solidFill>
                  <a:srgbClr val="1F2430"/>
                </a:solidFill>
                <a:latin typeface="Arial"/>
              </a:rPr>
              <a:t>— khách không chấp nhận, chuyển sang khiếu nại cấp cao (Pháp chế).</a:t>
            </a:r>
          </a:p>
        </p:txBody>
      </p:sp>
      <p:sp>
        <p:nvSpPr>
          <p:cNvPr id="12" name="Rounded Rectangle 11"/>
          <p:cNvSpPr/>
          <p:nvPr/>
        </p:nvSpPr>
        <p:spPr>
          <a:xfrm>
            <a:off x="5160142" y="1389888"/>
            <a:ext cx="6528633" cy="221284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1591055"/>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liên hệ → CSKH tiếp nhận, xác minh và tạo ticket</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Phân hạng khách VIP / thường → phân tích yêu cầu đủ thông tin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Đánh giá phạm vi trách nhiệm → thuộc MoMo thì CSKH xử lý trực tiếp</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Phản hồi khách → khách chấp nhận → đóng ticket, hoàn tất hỗ trợ</a:t>
            </a:r>
          </a:p>
        </p:txBody>
      </p:sp>
      <p:sp>
        <p:nvSpPr>
          <p:cNvPr id="15" name="Rounded Rectangle 14"/>
          <p:cNvSpPr/>
          <p:nvPr/>
        </p:nvSpPr>
        <p:spPr>
          <a:xfrm>
            <a:off x="5160142" y="3749039"/>
            <a:ext cx="6528633" cy="2542031"/>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3895344"/>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224527"/>
            <a:ext cx="6126297" cy="1920239"/>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Không đủ thông tin </a:t>
            </a:r>
            <a:r>
              <a:rPr sz="1100" b="0" i="0">
                <a:solidFill>
                  <a:srgbClr val="1F2430"/>
                </a:solidFill>
                <a:latin typeface="Arial"/>
              </a:rPr>
              <a:t>→ yêu cầu khách bổ sung, quay lại bước phân tích.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Vấn đề thuộc hãng bay/NCC </a:t>
            </a:r>
            <a:r>
              <a:rPr sz="1100" b="0" i="0">
                <a:solidFill>
                  <a:srgbClr val="1F2430"/>
                </a:solidFill>
                <a:latin typeface="Arial"/>
              </a:rPr>
              <a:t>→ chuyển sang hãng kiểm tra và quyết định chấp nhận hoặc từ chối kèm lý do, CSKH ghi nhận và phản hồi khách.</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Khách không chấp nhận hướng giải quyết </a:t>
            </a:r>
            <a:r>
              <a:rPr sz="1100" b="0" i="0">
                <a:solidFill>
                  <a:srgbClr val="1F2430"/>
                </a:solidFill>
                <a:latin typeface="Arial"/>
              </a:rPr>
              <a:t>→ hướng dẫn khiếu nại lên cấp cao hơn, kết thúc "Chuyển sang khiếu nại cấp cao (Pháp chế)".</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Nhánh tra soát giao dịch lỗi/treo </a:t>
            </a:r>
            <a:r>
              <a:rPr sz="1100" b="0" i="0">
                <a:solidFill>
                  <a:srgbClr val="1F2430"/>
                </a:solidFill>
                <a:latin typeface="Arial"/>
              </a:rPr>
              <a:t>→ đối chiếu dữ liệu nội bộ với xác nhận từ hãng: khớp thì cập nhật lại trạng thái vé; không khớp thì chuyển hướng hoàn tiền hoặc tiếp tục chờ xác nhận từ đối tác.</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5/6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Hỗ trợ khách hàng và tra soát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4 làn  ·  9 cổng điều kiện</a:t>
            </a:r>
          </a:p>
        </p:txBody>
      </p:sp>
      <p:pic>
        <p:nvPicPr>
          <p:cNvPr id="8" name="Picture 7" descr="05_Support_HoTro_CSKH_TraSoat.png"/>
          <p:cNvPicPr>
            <a:picLocks noChangeAspect="1"/>
          </p:cNvPicPr>
          <p:nvPr/>
        </p:nvPicPr>
        <p:blipFill>
          <a:blip r:embed="rId2"/>
          <a:stretch>
            <a:fillRect/>
          </a:stretch>
        </p:blipFill>
        <p:spPr>
          <a:xfrm>
            <a:off x="502920" y="2198070"/>
            <a:ext cx="11185855" cy="3019642"/>
          </a:xfrm>
          <a:prstGeom prst="rect">
            <a:avLst/>
          </a:prstGeom>
        </p:spPr>
      </p:pic>
      <p:sp>
        <p:nvSpPr>
          <p:cNvPr id="9" name="TextBox 8"/>
          <p:cNvSpPr txBox="1"/>
          <p:nvPr/>
        </p:nvSpPr>
        <p:spPr>
          <a:xfrm>
            <a:off x="502920" y="5309153"/>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3.5. Sơ đồ BPMN quy trình Hỗ trợ khách hàng, tiếp nhận phản hồi và tra soát giao dịch</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6/6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Xuất hóa đơn điện tử (VAT)</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4474342" cy="2743200"/>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TÁC NHÂN — CÁC LÀN TRONG SƠ ĐỒ</a:t>
            </a:r>
          </a:p>
        </p:txBody>
      </p:sp>
      <p:sp>
        <p:nvSpPr>
          <p:cNvPr id="8" name="TextBox 7"/>
          <p:cNvSpPr txBox="1"/>
          <p:nvPr/>
        </p:nvSpPr>
        <p:spPr>
          <a:xfrm>
            <a:off x="704088" y="1865376"/>
            <a:ext cx="4072006" cy="212140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Khách hàng </a:t>
            </a:r>
            <a:r>
              <a:rPr sz="1050" b="0" i="0">
                <a:solidFill>
                  <a:srgbClr val="1F2430"/>
                </a:solidFill>
                <a:latin typeface="Arial"/>
              </a:rPr>
              <a:t>— yêu cầu xuất hóa đơn, nhập thông tin doanh nghiệp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Ứng dụng MoMo </a:t>
            </a:r>
            <a:r>
              <a:rPr sz="1050" b="0" i="0">
                <a:solidFill>
                  <a:srgbClr val="1F2430"/>
                </a:solidFill>
                <a:latin typeface="Arial"/>
              </a:rPr>
              <a:t>— hiển thị form, kiểm tra hợp lệ dữ liệu nhập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Core M_Service </a:t>
            </a:r>
            <a:r>
              <a:rPr sz="1050" b="0" i="0">
                <a:solidFill>
                  <a:srgbClr val="1F2430"/>
                </a:solidFill>
                <a:latin typeface="Arial"/>
              </a:rPr>
              <a:t>— kiểm tra thời hạn, đối soát vé và thanh toán</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CSKH </a:t>
            </a:r>
            <a:r>
              <a:rPr sz="1050" b="0" i="0">
                <a:solidFill>
                  <a:srgbClr val="1F2430"/>
                </a:solidFill>
                <a:latin typeface="Arial"/>
              </a:rPr>
              <a:t>— tiếp nhận qua tổng đài, xử lý ca đối soát không khớp</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Bộ phận Kế toán (M_Service) </a:t>
            </a:r>
            <a:r>
              <a:rPr sz="1050" b="0" i="0">
                <a:solidFill>
                  <a:srgbClr val="1F2430"/>
                </a:solidFill>
                <a:latin typeface="Arial"/>
              </a:rPr>
              <a:t>— gọi API sang hệ thống hóa đơn điện tử</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Hệ thống Hóa đơn điện tử của đối tác </a:t>
            </a:r>
            <a:r>
              <a:rPr sz="1050" b="0" i="0">
                <a:solidFill>
                  <a:srgbClr val="1F2430"/>
                </a:solidFill>
                <a:latin typeface="Arial"/>
              </a:rPr>
              <a:t>— phát hành và ký số hóa đơn</a:t>
            </a:r>
          </a:p>
        </p:txBody>
      </p:sp>
      <p:sp>
        <p:nvSpPr>
          <p:cNvPr id="9" name="Rounded Rectangle 8"/>
          <p:cNvSpPr/>
          <p:nvPr/>
        </p:nvSpPr>
        <p:spPr>
          <a:xfrm>
            <a:off x="502920" y="4279392"/>
            <a:ext cx="4474342"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704088" y="4425696"/>
            <a:ext cx="4072006"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KẾT QUẢ CÓ THỂ ĐẠT ĐƯỢC</a:t>
            </a:r>
          </a:p>
        </p:txBody>
      </p:sp>
      <p:sp>
        <p:nvSpPr>
          <p:cNvPr id="11" name="TextBox 10"/>
          <p:cNvSpPr txBox="1"/>
          <p:nvPr/>
        </p:nvSpPr>
        <p:spPr>
          <a:xfrm>
            <a:off x="704088" y="4754879"/>
            <a:ext cx="4072006"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Thành công </a:t>
            </a:r>
            <a:r>
              <a:rPr sz="1100" b="0" i="0">
                <a:solidFill>
                  <a:srgbClr val="1F2430"/>
                </a:solidFill>
                <a:latin typeface="Arial"/>
              </a:rPr>
              <a:t>— dữ liệu đối soát khớp, hóa đơn được phát hành và gửi về App.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Từ chối / Lỗi hệ thống </a:t>
            </a:r>
            <a:r>
              <a:rPr sz="1100" b="0" i="0">
                <a:solidFill>
                  <a:srgbClr val="1F2430"/>
                </a:solidFill>
                <a:latin typeface="Arial"/>
              </a:rPr>
              <a:t>— quá thời hạn quy định, dữ liệu đối soát không khớp, hoặc hệ thống hóa đơn điện tử gặp lỗi kỹ thuật.</a:t>
            </a:r>
          </a:p>
        </p:txBody>
      </p:sp>
      <p:sp>
        <p:nvSpPr>
          <p:cNvPr id="12" name="Rounded Rectangle 11"/>
          <p:cNvSpPr/>
          <p:nvPr/>
        </p:nvSpPr>
        <p:spPr>
          <a:xfrm>
            <a:off x="5160142" y="1389888"/>
            <a:ext cx="6528633" cy="274320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361310" y="1536192"/>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CHÍNH</a:t>
            </a:r>
          </a:p>
        </p:txBody>
      </p:sp>
      <p:sp>
        <p:nvSpPr>
          <p:cNvPr id="14" name="TextBox 13"/>
          <p:cNvSpPr txBox="1"/>
          <p:nvPr/>
        </p:nvSpPr>
        <p:spPr>
          <a:xfrm>
            <a:off x="5361310" y="1865376"/>
            <a:ext cx="6126297" cy="2121408"/>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Khách yêu cầu xuất VAT → kiểm tra giao dịch chưa từng yêu cầu</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Nhập MST, tên công ty, địa chỉ, email → kiểm tra hợp lệ và thời hạn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Đối soát vé, thanh toán và thông tin hóa đơn → chuyển Kế toán</a:t>
            </a:r>
          </a:p>
          <a:p>
            <a:pPr marL="219456" indent="-219456">
              <a:lnSpc>
                <a:spcPct val="112000"/>
              </a:lnSpc>
              <a:spcAft>
                <a:spcPts val="400"/>
              </a:spcAft>
            </a:pPr>
            <a:r>
              <a:rPr sz="1100" b="1" i="0">
                <a:solidFill>
                  <a:srgbClr val="A50064"/>
                </a:solidFill>
                <a:latin typeface="Arial"/>
              </a:rPr>
              <a:t>▸  </a:t>
            </a:r>
            <a:r>
              <a:rPr sz="1100" b="0" i="0">
                <a:solidFill>
                  <a:srgbClr val="1F2430"/>
                </a:solidFill>
                <a:latin typeface="Arial"/>
              </a:rPr>
              <a:t>Kế toán gọi API → đối tác phát hành → cập nhật App và gửi email</a:t>
            </a:r>
          </a:p>
        </p:txBody>
      </p:sp>
      <p:sp>
        <p:nvSpPr>
          <p:cNvPr id="15" name="Rounded Rectangle 14"/>
          <p:cNvSpPr/>
          <p:nvPr/>
        </p:nvSpPr>
        <p:spPr>
          <a:xfrm>
            <a:off x="5160142" y="4279392"/>
            <a:ext cx="6528633" cy="2011679"/>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361310" y="4425696"/>
            <a:ext cx="6126297"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LUỒNG NGOẠI LỆ</a:t>
            </a:r>
          </a:p>
        </p:txBody>
      </p:sp>
      <p:sp>
        <p:nvSpPr>
          <p:cNvPr id="17" name="TextBox 16"/>
          <p:cNvSpPr txBox="1"/>
          <p:nvPr/>
        </p:nvSpPr>
        <p:spPr>
          <a:xfrm>
            <a:off x="5361310" y="4754879"/>
            <a:ext cx="6126297" cy="1389887"/>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Giao dịch đã yêu cầu trước đó </a:t>
            </a:r>
            <a:r>
              <a:rPr sz="1100" b="0" i="0">
                <a:solidFill>
                  <a:srgbClr val="1F2430"/>
                </a:solidFill>
                <a:latin typeface="Arial"/>
              </a:rPr>
              <a:t>→ hiển thị hóa đơn đã xuất và kết thúc.</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Thông tin nhập không hợp lệ </a:t>
            </a:r>
            <a:r>
              <a:rPr sz="1100" b="0" i="0">
                <a:solidFill>
                  <a:srgbClr val="1F2430"/>
                </a:solidFill>
                <a:latin typeface="Arial"/>
              </a:rPr>
              <a:t>→ quay lại form nhập lại.</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Kênh tổng đài </a:t>
            </a:r>
            <a:r>
              <a:rPr sz="1100" b="0" i="0">
                <a:solidFill>
                  <a:srgbClr val="1F2430"/>
                </a:solidFill>
                <a:latin typeface="Arial"/>
              </a:rPr>
              <a:t>→ CSKH nhập thay khách, hội tụ vào luồng chung tại cổng gộp.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Quá thời hạn </a:t>
            </a:r>
            <a:r>
              <a:rPr sz="1100" b="0" i="0">
                <a:solidFill>
                  <a:srgbClr val="1F2430"/>
                </a:solidFill>
                <a:latin typeface="Arial"/>
              </a:rPr>
              <a:t>→ kết thúc "Từ chối do quá thời hạn".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Dữ liệu đối soát không khớp </a:t>
            </a:r>
            <a:r>
              <a:rPr sz="1100" b="0" i="0">
                <a:solidFill>
                  <a:srgbClr val="1F2430"/>
                </a:solidFill>
                <a:latin typeface="Arial"/>
              </a:rPr>
              <a:t>→ CSKH liên hệ khách xác nhận rồi đối soát lại (vòng lặp).</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API / phát hành thất bại </a:t>
            </a:r>
            <a:r>
              <a:rPr sz="1100" b="0" i="0">
                <a:solidFill>
                  <a:srgbClr val="1F2430"/>
                </a:solidFill>
                <a:latin typeface="Arial"/>
              </a:rPr>
              <a:t>→ vòng lặp gửi lại, hoặc kết thúc "Xuất VAT thất bại".</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QUY TRÌNH 6/6 · NHÓM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Xuất hóa đơn điện tử (VAT) — Sơ đồ BPMN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8808415" y="713232"/>
            <a:ext cx="2880360" cy="402336"/>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8945575" y="813816"/>
            <a:ext cx="2651760" cy="274320"/>
          </a:xfrm>
          <a:prstGeom prst="rect">
            <a:avLst/>
          </a:prstGeom>
          <a:noFill/>
        </p:spPr>
        <p:txBody>
          <a:bodyPr wrap="square" lIns="0" rIns="0" tIns="0" bIns="0">
            <a:spAutoFit/>
          </a:bodyPr>
          <a:lstStyle/>
          <a:p>
            <a:pPr algn="ctr">
              <a:lnSpc>
                <a:spcPct val="100000"/>
              </a:lnSpc>
            </a:pPr>
            <a:r>
              <a:rPr sz="1200" b="1" i="0">
                <a:solidFill>
                  <a:srgbClr val="A50064"/>
                </a:solidFill>
                <a:latin typeface="Arial"/>
              </a:rPr>
              <a:t>6 làn  ·  8 cổng điều kiện</a:t>
            </a:r>
          </a:p>
        </p:txBody>
      </p:sp>
      <p:pic>
        <p:nvPicPr>
          <p:cNvPr id="8" name="Picture 7" descr="06_Support_XuatHoaDon.png"/>
          <p:cNvPicPr>
            <a:picLocks noChangeAspect="1"/>
          </p:cNvPicPr>
          <p:nvPr/>
        </p:nvPicPr>
        <p:blipFill>
          <a:blip r:embed="rId2"/>
          <a:stretch>
            <a:fillRect/>
          </a:stretch>
        </p:blipFill>
        <p:spPr>
          <a:xfrm>
            <a:off x="606001" y="1435608"/>
            <a:ext cx="10979691" cy="4544568"/>
          </a:xfrm>
          <a:prstGeom prst="rect">
            <a:avLst/>
          </a:prstGeom>
        </p:spPr>
      </p:pic>
      <p:sp>
        <p:nvSpPr>
          <p:cNvPr id="9" name="TextBox 8"/>
          <p:cNvSpPr txBox="1"/>
          <p:nvPr/>
        </p:nvSpPr>
        <p:spPr>
          <a:xfrm>
            <a:off x="502920" y="6071616"/>
            <a:ext cx="11185855" cy="274320"/>
          </a:xfrm>
          <a:prstGeom prst="rect">
            <a:avLst/>
          </a:prstGeom>
          <a:noFill/>
        </p:spPr>
        <p:txBody>
          <a:bodyPr wrap="square" lIns="0" rIns="0" tIns="0" bIns="0">
            <a:spAutoFit/>
          </a:bodyPr>
          <a:lstStyle/>
          <a:p>
            <a:pPr algn="ctr">
              <a:lnSpc>
                <a:spcPct val="100000"/>
              </a:lnSpc>
            </a:pPr>
            <a:r>
              <a:rPr sz="950" b="0" i="1">
                <a:solidFill>
                  <a:srgbClr val="5A6172"/>
                </a:solidFill>
                <a:latin typeface="Arial"/>
              </a:rPr>
              <a:t>Hình 3.6. Sơ đồ BPMN quy trình Xuất hóa đơn điện tử (VAT)</a:t>
            </a:r>
          </a:p>
        </p:txBody>
      </p:sp>
      <p:sp>
        <p:nvSpPr>
          <p:cNvPr id="10" name="TextBox 9"/>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1" name="TextBox 10"/>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94360" y="2194560"/>
            <a:ext cx="11185855" cy="365760"/>
          </a:xfrm>
          <a:prstGeom prst="rect">
            <a:avLst/>
          </a:prstGeom>
          <a:noFill/>
        </p:spPr>
        <p:txBody>
          <a:bodyPr wrap="square" lIns="0" rIns="0" tIns="0" bIns="0">
            <a:spAutoFit/>
          </a:bodyPr>
          <a:lstStyle/>
          <a:p>
            <a:pPr algn="l">
              <a:lnSpc>
                <a:spcPct val="100000"/>
              </a:lnSpc>
            </a:pPr>
            <a:r>
              <a:rPr sz="1300" b="1" i="0">
                <a:solidFill>
                  <a:srgbClr val="FFFFFF"/>
                </a:solidFill>
                <a:latin typeface="Arial"/>
              </a:rPr>
              <a:t>PHẦN 04</a:t>
            </a:r>
          </a:p>
        </p:txBody>
      </p:sp>
      <p:sp>
        <p:nvSpPr>
          <p:cNvPr id="4" name="TextBox 3"/>
          <p:cNvSpPr txBox="1"/>
          <p:nvPr/>
        </p:nvSpPr>
        <p:spPr>
          <a:xfrm>
            <a:off x="594360" y="2615184"/>
            <a:ext cx="11185855" cy="1371600"/>
          </a:xfrm>
          <a:prstGeom prst="rect">
            <a:avLst/>
          </a:prstGeom>
          <a:noFill/>
        </p:spPr>
        <p:txBody>
          <a:bodyPr wrap="square" lIns="0" rIns="0" tIns="0" bIns="0">
            <a:spAutoFit/>
          </a:bodyPr>
          <a:lstStyle/>
          <a:p>
            <a:pPr algn="l">
              <a:lnSpc>
                <a:spcPct val="108000"/>
              </a:lnSpc>
            </a:pPr>
            <a:r>
              <a:rPr sz="3800" b="1" i="0">
                <a:solidFill>
                  <a:srgbClr val="FFFFFF"/>
                </a:solidFill>
                <a:latin typeface="Arial"/>
              </a:rPr>
              <a:t>Phân tích quy trình</a:t>
            </a:r>
          </a:p>
        </p:txBody>
      </p:sp>
      <p:sp>
        <p:nvSpPr>
          <p:cNvPr id="5" name="Rectangle 4"/>
          <p:cNvSpPr/>
          <p:nvPr/>
        </p:nvSpPr>
        <p:spPr>
          <a:xfrm>
            <a:off x="594360" y="4133087"/>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94360" y="4407408"/>
            <a:ext cx="10271455" cy="548640"/>
          </a:xfrm>
          <a:prstGeom prst="rect">
            <a:avLst/>
          </a:prstGeom>
          <a:noFill/>
        </p:spPr>
        <p:txBody>
          <a:bodyPr wrap="square" lIns="0" rIns="0" tIns="0" bIns="0">
            <a:spAutoFit/>
          </a:bodyPr>
          <a:lstStyle/>
          <a:p>
            <a:pPr algn="l">
              <a:lnSpc>
                <a:spcPct val="100000"/>
              </a:lnSpc>
            </a:pPr>
            <a:r>
              <a:rPr sz="1400" b="0" i="0">
                <a:solidFill>
                  <a:srgbClr val="FFFFFF"/>
                </a:solidFill>
                <a:latin typeface="Arial"/>
              </a:rPr>
              <a:t>3 quy trình · định tính (VA/BVA/NVA, lãng phí) và định lượng (thời gian, chất lượng, chi phí)</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4.1 · TÌM KIẾM – ĐẶT VÉ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tính — giá trị gia tăng và lãng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GIÁ TRỊ GIA TĂNG — 16 HOẠT ĐỘNG</a:t>
            </a:r>
          </a:p>
        </p:txBody>
      </p:sp>
      <p:graphicFrame>
        <p:nvGraphicFramePr>
          <p:cNvPr id="7" name="Table 6"/>
          <p:cNvGraphicFramePr>
            <a:graphicFrameLocks noGrp="1"/>
          </p:cNvGraphicFramePr>
          <p:nvPr/>
        </p:nvGraphicFramePr>
        <p:xfrm>
          <a:off x="502920" y="1700784"/>
          <a:ext cx="5532120" cy="1645920"/>
        </p:xfrm>
        <a:graphic>
          <a:graphicData uri="http://schemas.openxmlformats.org/drawingml/2006/table">
            <a:tbl>
              <a:tblPr firstRow="1" bandRow="1">
                <a:tableStyleId>{5C22544A-7EE6-4342-B048-85BDC9FD1C3A}</a:tableStyleId>
              </a:tblPr>
              <a:tblGrid>
                <a:gridCol w="2331720"/>
                <a:gridCol w="1051560"/>
                <a:gridCol w="1234440"/>
                <a:gridCol w="914400"/>
              </a:tblGrid>
              <a:tr h="329184">
                <a:tc>
                  <a:txBody>
                    <a:bodyPr wrap="square"/>
                    <a:lstStyle/>
                    <a:p>
                      <a:pPr algn="ctr"/>
                      <a:r>
                        <a:rPr sz="1050" b="1" i="0">
                          <a:solidFill>
                            <a:srgbClr val="FFFFFF"/>
                          </a:solidFill>
                          <a:latin typeface="Arial"/>
                        </a:rPr>
                        <a:t>Loại</a:t>
                      </a:r>
                    </a:p>
                  </a:txBody>
                  <a:tcPr marL="64008" marR="64008" marT="27432" marB="27432" anchor="ctr">
                    <a:solidFill>
                      <a:srgbClr val="A50064"/>
                    </a:solidFill>
                  </a:tcPr>
                </a:tc>
                <a:tc>
                  <a:txBody>
                    <a:bodyPr wrap="square"/>
                    <a:lstStyle/>
                    <a:p>
                      <a:pPr algn="ctr"/>
                      <a:r>
                        <a:rPr sz="1050" b="1" i="0">
                          <a:solidFill>
                            <a:srgbClr val="FFFFFF"/>
                          </a:solidFill>
                          <a:latin typeface="Arial"/>
                        </a:rPr>
                        <a:t>Số hoạt động</a:t>
                      </a:r>
                    </a:p>
                  </a:txBody>
                  <a:tcPr marL="64008" marR="64008" marT="27432" marB="27432" anchor="ctr">
                    <a:solidFill>
                      <a:srgbClr val="A50064"/>
                    </a:solidFill>
                  </a:tcPr>
                </a:tc>
                <a:tc>
                  <a:txBody>
                    <a:bodyPr wrap="square"/>
                    <a:lstStyle/>
                    <a:p>
                      <a:pPr algn="ctr"/>
                      <a:r>
                        <a:rPr sz="1050" b="1" i="0">
                          <a:solidFill>
                            <a:srgbClr val="FFFFFF"/>
                          </a:solidFill>
                          <a:latin typeface="Arial"/>
                        </a:rPr>
                        <a:t>Thời gian</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r>
              <a:tr h="329184">
                <a:tc>
                  <a:txBody>
                    <a:bodyPr wrap="square"/>
                    <a:lstStyle/>
                    <a:p>
                      <a:pPr algn="l"/>
                      <a:r>
                        <a:rPr sz="1050" b="0" i="0">
                          <a:solidFill>
                            <a:srgbClr val="1F2430"/>
                          </a:solidFill>
                          <a:latin typeface="Arial"/>
                        </a:rPr>
                        <a:t>VA — tạo giá trị</a:t>
                      </a:r>
                    </a:p>
                  </a:txBody>
                  <a:tcPr marL="64008" marR="64008" marT="27432" marB="27432" anchor="ctr">
                    <a:solidFill>
                      <a:srgbClr val="FFFFFF"/>
                    </a:solidFill>
                  </a:tcPr>
                </a:tc>
                <a:tc>
                  <a:txBody>
                    <a:bodyPr wrap="square"/>
                    <a:lstStyle/>
                    <a:p>
                      <a:pPr algn="ctr"/>
                      <a:r>
                        <a:rPr sz="1050" b="0" i="0">
                          <a:solidFill>
                            <a:srgbClr val="1F2430"/>
                          </a:solidFill>
                          <a:latin typeface="Arial"/>
                        </a:rPr>
                        <a:t>5</a:t>
                      </a:r>
                    </a:p>
                  </a:txBody>
                  <a:tcPr marL="64008" marR="64008" marT="27432" marB="27432" anchor="ctr">
                    <a:solidFill>
                      <a:srgbClr val="FFFFFF"/>
                    </a:solidFill>
                  </a:tcPr>
                </a:tc>
                <a:tc>
                  <a:txBody>
                    <a:bodyPr wrap="square"/>
                    <a:lstStyle/>
                    <a:p>
                      <a:pPr algn="ctr"/>
                      <a:r>
                        <a:rPr sz="1050" b="0" i="0">
                          <a:solidFill>
                            <a:srgbClr val="1F2430"/>
                          </a:solidFill>
                          <a:latin typeface="Arial"/>
                        </a:rPr>
                        <a:t>58,2 giây</a:t>
                      </a:r>
                    </a:p>
                  </a:txBody>
                  <a:tcPr marL="64008" marR="64008" marT="27432" marB="27432" anchor="ctr">
                    <a:solidFill>
                      <a:srgbClr val="FFFFFF"/>
                    </a:solidFill>
                  </a:tcPr>
                </a:tc>
                <a:tc>
                  <a:txBody>
                    <a:bodyPr wrap="square"/>
                    <a:lstStyle/>
                    <a:p>
                      <a:pPr algn="ctr"/>
                      <a:r>
                        <a:rPr sz="1050" b="0" i="0">
                          <a:solidFill>
                            <a:srgbClr val="1F2430"/>
                          </a:solidFill>
                          <a:latin typeface="Arial"/>
                        </a:rPr>
                        <a:t>54,3%</a:t>
                      </a:r>
                    </a:p>
                  </a:txBody>
                  <a:tcPr marL="64008" marR="64008" marT="27432" marB="27432" anchor="ctr">
                    <a:solidFill>
                      <a:srgbClr val="FFFFFF"/>
                    </a:solidFill>
                  </a:tcPr>
                </a:tc>
              </a:tr>
              <a:tr h="329184">
                <a:tc>
                  <a:txBody>
                    <a:bodyPr wrap="square"/>
                    <a:lstStyle/>
                    <a:p>
                      <a:pPr algn="l"/>
                      <a:r>
                        <a:rPr sz="1050" b="0" i="0">
                          <a:solidFill>
                            <a:srgbClr val="1F2430"/>
                          </a:solidFill>
                          <a:latin typeface="Arial"/>
                        </a:rPr>
                        <a:t>BVA — cần cho vận hành</a:t>
                      </a:r>
                    </a:p>
                  </a:txBody>
                  <a:tcPr marL="64008" marR="64008" marT="27432" marB="27432" anchor="ctr">
                    <a:solidFill>
                      <a:srgbClr val="F4F4F7"/>
                    </a:solidFill>
                  </a:tcPr>
                </a:tc>
                <a:tc>
                  <a:txBody>
                    <a:bodyPr wrap="square"/>
                    <a:lstStyle/>
                    <a:p>
                      <a:pPr algn="ctr"/>
                      <a:r>
                        <a:rPr sz="1050" b="0" i="0">
                          <a:solidFill>
                            <a:srgbClr val="1F2430"/>
                          </a:solidFill>
                          <a:latin typeface="Arial"/>
                        </a:rPr>
                        <a:t>8</a:t>
                      </a:r>
                    </a:p>
                  </a:txBody>
                  <a:tcPr marL="64008" marR="64008" marT="27432" marB="27432" anchor="ctr">
                    <a:solidFill>
                      <a:srgbClr val="F4F4F7"/>
                    </a:solidFill>
                  </a:tcPr>
                </a:tc>
                <a:tc>
                  <a:txBody>
                    <a:bodyPr wrap="square"/>
                    <a:lstStyle/>
                    <a:p>
                      <a:pPr algn="ctr"/>
                      <a:r>
                        <a:rPr sz="1050" b="0" i="0">
                          <a:solidFill>
                            <a:srgbClr val="1F2430"/>
                          </a:solidFill>
                          <a:latin typeface="Arial"/>
                        </a:rPr>
                        <a:t>44,7 giây</a:t>
                      </a:r>
                    </a:p>
                  </a:txBody>
                  <a:tcPr marL="64008" marR="64008" marT="27432" marB="27432" anchor="ctr">
                    <a:solidFill>
                      <a:srgbClr val="F4F4F7"/>
                    </a:solidFill>
                  </a:tcPr>
                </a:tc>
                <a:tc>
                  <a:txBody>
                    <a:bodyPr wrap="square"/>
                    <a:lstStyle/>
                    <a:p>
                      <a:pPr algn="ctr"/>
                      <a:r>
                        <a:rPr sz="1050" b="0" i="0">
                          <a:solidFill>
                            <a:srgbClr val="1F2430"/>
                          </a:solidFill>
                          <a:latin typeface="Arial"/>
                        </a:rPr>
                        <a:t>41,7%</a:t>
                      </a:r>
                    </a:p>
                  </a:txBody>
                  <a:tcPr marL="64008" marR="64008" marT="27432" marB="27432" anchor="ctr">
                    <a:solidFill>
                      <a:srgbClr val="F4F4F7"/>
                    </a:solidFill>
                  </a:tcPr>
                </a:tc>
              </a:tr>
              <a:tr h="329184">
                <a:tc>
                  <a:txBody>
                    <a:bodyPr wrap="square"/>
                    <a:lstStyle/>
                    <a:p>
                      <a:pPr algn="l"/>
                      <a:r>
                        <a:rPr sz="1050" b="0" i="0">
                          <a:solidFill>
                            <a:srgbClr val="1F2430"/>
                          </a:solidFill>
                          <a:latin typeface="Arial"/>
                        </a:rPr>
                        <a:t>NVA — không tạo giá trị</a:t>
                      </a:r>
                    </a:p>
                  </a:txBody>
                  <a:tcPr marL="64008" marR="64008" marT="27432" marB="27432" anchor="ctr">
                    <a:solidFill>
                      <a:srgbClr val="FFFFFF"/>
                    </a:solidFill>
                  </a:tcPr>
                </a:tc>
                <a:tc>
                  <a:txBody>
                    <a:bodyPr wrap="square"/>
                    <a:lstStyle/>
                    <a:p>
                      <a:pPr algn="ctr"/>
                      <a:r>
                        <a:rPr sz="1050" b="0" i="0">
                          <a:solidFill>
                            <a:srgbClr val="1F2430"/>
                          </a:solidFill>
                          <a:latin typeface="Arial"/>
                        </a:rPr>
                        <a:t>3</a:t>
                      </a:r>
                    </a:p>
                  </a:txBody>
                  <a:tcPr marL="64008" marR="64008" marT="27432" marB="27432" anchor="ctr">
                    <a:solidFill>
                      <a:srgbClr val="FFFFFF"/>
                    </a:solidFill>
                  </a:tcPr>
                </a:tc>
                <a:tc>
                  <a:txBody>
                    <a:bodyPr wrap="square"/>
                    <a:lstStyle/>
                    <a:p>
                      <a:pPr algn="ctr"/>
                      <a:r>
                        <a:rPr sz="1050" b="0" i="0">
                          <a:solidFill>
                            <a:srgbClr val="1F2430"/>
                          </a:solidFill>
                          <a:latin typeface="Arial"/>
                        </a:rPr>
                        <a:t>4,3 giây</a:t>
                      </a:r>
                    </a:p>
                  </a:txBody>
                  <a:tcPr marL="64008" marR="64008" marT="27432" marB="27432" anchor="ctr">
                    <a:solidFill>
                      <a:srgbClr val="FFFFFF"/>
                    </a:solidFill>
                  </a:tcPr>
                </a:tc>
                <a:tc>
                  <a:txBody>
                    <a:bodyPr wrap="square"/>
                    <a:lstStyle/>
                    <a:p>
                      <a:pPr algn="ctr"/>
                      <a:r>
                        <a:rPr sz="1050" b="0" i="0">
                          <a:solidFill>
                            <a:srgbClr val="1F2430"/>
                          </a:solidFill>
                          <a:latin typeface="Arial"/>
                        </a:rPr>
                        <a:t>4,0%</a:t>
                      </a:r>
                    </a:p>
                  </a:txBody>
                  <a:tcPr marL="64008" marR="64008" marT="27432" marB="27432" anchor="ctr">
                    <a:solidFill>
                      <a:srgbClr val="FFFFFF"/>
                    </a:solidFill>
                  </a:tcPr>
                </a:tc>
              </a:tr>
              <a:tr h="329184">
                <a:tc>
                  <a:txBody>
                    <a:bodyPr wrap="square"/>
                    <a:lstStyle/>
                    <a:p>
                      <a:pPr algn="l"/>
                      <a:r>
                        <a:rPr sz="1050" b="0" i="0">
                          <a:solidFill>
                            <a:srgbClr val="1F2430"/>
                          </a:solidFill>
                          <a:latin typeface="Arial"/>
                        </a:rPr>
                        <a:t>Tổng thời gian chu kỳ</a:t>
                      </a:r>
                    </a:p>
                  </a:txBody>
                  <a:tcPr marL="64008" marR="64008" marT="27432" marB="27432" anchor="ctr">
                    <a:solidFill>
                      <a:srgbClr val="F4F4F7"/>
                    </a:solidFill>
                  </a:tcPr>
                </a:tc>
                <a:tc>
                  <a:txBody>
                    <a:bodyPr wrap="square"/>
                    <a:lstStyle/>
                    <a:p>
                      <a:pPr algn="ctr"/>
                      <a:r>
                        <a:rPr sz="1050" b="0" i="0">
                          <a:solidFill>
                            <a:srgbClr val="1F2430"/>
                          </a:solidFill>
                          <a:latin typeface="Arial"/>
                        </a:rPr>
                        <a:t>16</a:t>
                      </a:r>
                    </a:p>
                  </a:txBody>
                  <a:tcPr marL="64008" marR="64008" marT="27432" marB="27432" anchor="ctr">
                    <a:solidFill>
                      <a:srgbClr val="F4F4F7"/>
                    </a:solidFill>
                  </a:tcPr>
                </a:tc>
                <a:tc>
                  <a:txBody>
                    <a:bodyPr wrap="square"/>
                    <a:lstStyle/>
                    <a:p>
                      <a:pPr algn="ctr"/>
                      <a:r>
                        <a:rPr sz="1050" b="0" i="0">
                          <a:solidFill>
                            <a:srgbClr val="1F2430"/>
                          </a:solidFill>
                          <a:latin typeface="Arial"/>
                        </a:rPr>
                        <a:t>107,2 giây</a:t>
                      </a:r>
                    </a:p>
                  </a:txBody>
                  <a:tcPr marL="64008" marR="64008" marT="27432" marB="27432" anchor="ctr">
                    <a:solidFill>
                      <a:srgbClr val="F4F4F7"/>
                    </a:solidFill>
                  </a:tcPr>
                </a:tc>
                <a:tc>
                  <a:txBody>
                    <a:bodyPr wrap="square"/>
                    <a:lstStyle/>
                    <a:p>
                      <a:pPr algn="ctr"/>
                      <a:r>
                        <a:rPr sz="1050" b="0" i="0">
                          <a:solidFill>
                            <a:srgbClr val="1F2430"/>
                          </a:solidFill>
                          <a:latin typeface="Arial"/>
                        </a:rPr>
                        <a:t>100%</a:t>
                      </a:r>
                    </a:p>
                  </a:txBody>
                  <a:tcPr marL="64008" marR="64008" marT="27432" marB="27432" anchor="ctr">
                    <a:solidFill>
                      <a:srgbClr val="F4F4F7"/>
                    </a:solidFill>
                  </a:tcPr>
                </a:tc>
              </a:tr>
            </a:tbl>
          </a:graphicData>
        </a:graphic>
      </p:graphicFrame>
      <p:sp>
        <p:nvSpPr>
          <p:cNvPr id="8" name="TextBox 7"/>
          <p:cNvSpPr txBox="1"/>
          <p:nvPr/>
        </p:nvSpPr>
        <p:spPr>
          <a:xfrm>
            <a:off x="502920" y="3401568"/>
            <a:ext cx="5483199" cy="1371600"/>
          </a:xfrm>
          <a:prstGeom prst="rect">
            <a:avLst/>
          </a:prstGeom>
          <a:noFill/>
        </p:spPr>
        <p:txBody>
          <a:bodyPr wrap="square" lIns="0" rIns="0" tIns="0" bIns="0">
            <a:spAutoFit/>
          </a:bodyPr>
          <a:lstStyle/>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Cả 3 hoạt động NVA đều là sửa lỗi hoặc làm lại </a:t>
            </a:r>
            <a:r>
              <a:rPr sz="1100" b="0" i="0">
                <a:solidFill>
                  <a:srgbClr val="1F2430"/>
                </a:solidFill>
                <a:latin typeface="Arial"/>
              </a:rPr>
              <a:t>— cảnh báo nhập sai, báo không có kết quả, và thông báo phiên giữ chỗ hết hạn.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Hệ quả: </a:t>
            </a:r>
            <a:r>
              <a:rPr sz="1100" b="0" i="0">
                <a:solidFill>
                  <a:srgbClr val="1F2430"/>
                </a:solidFill>
                <a:latin typeface="Arial"/>
              </a:rPr>
              <a:t>có thể loại bỏ bằng thiết kế (ràng buộc đầu vào, gợi ý chủ động, làm mới phiên ngầm) chứ không cần đầu tư hạ tầng.</a:t>
            </a:r>
          </a:p>
        </p:txBody>
      </p:sp>
      <p:sp>
        <p:nvSpPr>
          <p:cNvPr id="9" name="TextBox 8"/>
          <p:cNvSpPr txBox="1"/>
          <p:nvPr/>
        </p:nvSpPr>
        <p:spPr>
          <a:xfrm>
            <a:off x="6205575"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LÃNG PHÍ (MOVE / HOLD / OVERDO)</a:t>
            </a:r>
          </a:p>
        </p:txBody>
      </p:sp>
      <p:sp>
        <p:nvSpPr>
          <p:cNvPr id="10" name="TextBox 9"/>
          <p:cNvSpPr txBox="1"/>
          <p:nvPr/>
        </p:nvSpPr>
        <p:spPr>
          <a:xfrm>
            <a:off x="6205575" y="1719072"/>
            <a:ext cx="5483199" cy="3108960"/>
          </a:xfrm>
          <a:prstGeom prst="rect">
            <a:avLst/>
          </a:prstGeom>
          <a:noFill/>
        </p:spPr>
        <p:txBody>
          <a:bodyPr wrap="square" lIns="0" rIns="0" tIns="0" bIns="0">
            <a:spAutoFit/>
          </a:bodyPr>
          <a:lstStyle/>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Move — </a:t>
            </a:r>
            <a:r>
              <a:rPr sz="1100" b="0" i="0">
                <a:solidFill>
                  <a:srgbClr val="1F2430"/>
                </a:solidFill>
                <a:latin typeface="Arial"/>
              </a:rPr>
              <a:t>dữ liệu một phiên đi qua 2–4 lượt truyền App → Core → NCC → Core → App.</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Hold — </a:t>
            </a:r>
            <a:r>
              <a:rPr sz="1100" b="0" i="0">
                <a:solidFill>
                  <a:srgbClr val="1F2430"/>
                </a:solidFill>
                <a:latin typeface="Arial"/>
              </a:rPr>
              <a:t>chờ nhà cung ứng phản hồi truy vấn (~2,1 giây/phiên).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Hold — </a:t>
            </a:r>
            <a:r>
              <a:rPr sz="1100" b="0" i="0">
                <a:solidFill>
                  <a:srgbClr val="1F2430"/>
                </a:solidFill>
                <a:latin typeface="Arial"/>
              </a:rPr>
              <a:t>chờ làm mới sau khi phiên giữ chỗ hết hạn (~8% số phiên).</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truy vấn dư thừa dù dữ liệu trong bộ đệm còn hiệu lực (~20% số lượt).</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khách phải nhập lại tiêu chí dù hệ thống đã có lịch sử hành vi.</a:t>
            </a:r>
          </a:p>
          <a:p>
            <a:pPr marL="219456" indent="-219456">
              <a:lnSpc>
                <a:spcPct val="112000"/>
              </a:lnSpc>
              <a:spcAft>
                <a:spcPts val="500"/>
              </a:spcAft>
            </a:pPr>
            <a:r>
              <a:rPr sz="1100" b="1" i="0">
                <a:solidFill>
                  <a:srgbClr val="A50064"/>
                </a:solidFill>
                <a:latin typeface="Arial"/>
              </a:rPr>
              <a:t>▸  </a:t>
            </a:r>
            <a:r>
              <a:rPr sz="1100" b="1" i="0">
                <a:solidFill>
                  <a:srgbClr val="1F2430"/>
                </a:solidFill>
                <a:latin typeface="Arial"/>
              </a:rPr>
              <a:t>Overdo — </a:t>
            </a:r>
            <a:r>
              <a:rPr sz="1100" b="0" i="0">
                <a:solidFill>
                  <a:srgbClr val="1F2430"/>
                </a:solidFill>
                <a:latin typeface="Arial"/>
              </a:rPr>
              <a:t>lặp thao tác lọc/sắp xếp nhiều lần trong cùng phiên (~1,8 lần).</a:t>
            </a:r>
          </a:p>
        </p:txBody>
      </p:sp>
      <p:sp>
        <p:nvSpPr>
          <p:cNvPr id="11" name="Rounded Rectangle 10"/>
          <p:cNvSpPr/>
          <p:nvPr/>
        </p:nvSpPr>
        <p:spPr>
          <a:xfrm>
            <a:off x="502920" y="4937760"/>
            <a:ext cx="11185855" cy="676656"/>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704088" y="5038344"/>
            <a:ext cx="10783519" cy="493776"/>
          </a:xfrm>
          <a:prstGeom prst="rect">
            <a:avLst/>
          </a:prstGeom>
          <a:noFill/>
        </p:spPr>
        <p:txBody>
          <a:bodyPr wrap="square" lIns="0" rIns="0" tIns="0" bIns="0">
            <a:spAutoFit/>
          </a:bodyPr>
          <a:lstStyle/>
          <a:p>
            <a:pPr algn="l">
              <a:lnSpc>
                <a:spcPct val="100000"/>
              </a:lnSpc>
            </a:pPr>
            <a:r>
              <a:rPr sz="1050" b="0" i="0">
                <a:solidFill>
                  <a:srgbClr val="7A5000"/>
                </a:solidFill>
                <a:latin typeface="Arial"/>
              </a:rPr>
              <a:t>PHÁT HIỆN CHÍNH — Nhóm Overdo chiếm ưu thế (3/6 biểu hiện): vấn đề của quy trình không phải chờ đợi mà là làm nhiều hơn mức cần thiết. Đây là tin tốt cho cải tiến, vì khắc phục chủ yếu nằm ở việc khai thác tốt hơn dữ liệu lịch sử đã có, không đòi hỏi đầu tư hạ tầng lớn.</a:t>
            </a:r>
          </a:p>
        </p:txBody>
      </p:sp>
      <p:sp>
        <p:nvSpPr>
          <p:cNvPr id="13" name="TextBox 12"/>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4" name="TextBox 13"/>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4.1 · TÌM KIẾM – ĐẶT VÉ (CỐT LÕI)</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lượng — thời gian, chất lượng, chi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3673754" cy="239572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A. THỜI GIAN</a:t>
            </a:r>
          </a:p>
        </p:txBody>
      </p:sp>
      <p:sp>
        <p:nvSpPr>
          <p:cNvPr id="8" name="TextBox 7"/>
          <p:cNvSpPr txBox="1"/>
          <p:nvPr/>
        </p:nvSpPr>
        <p:spPr>
          <a:xfrm>
            <a:off x="70408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chu kỳ </a:t>
            </a:r>
            <a:r>
              <a:rPr sz="1100" b="0" i="0">
                <a:solidFill>
                  <a:srgbClr val="1F2430"/>
                </a:solidFill>
                <a:latin typeface="Arial"/>
              </a:rPr>
              <a:t>T_ck ≈ 107,2 giây/phiên</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chờ </a:t>
            </a:r>
            <a:r>
              <a:rPr sz="1100" b="0" i="0">
                <a:solidFill>
                  <a:srgbClr val="1F2430"/>
                </a:solidFill>
                <a:latin typeface="Arial"/>
              </a:rPr>
              <a:t>T_chờ ≈ 4,42 giây</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Thời gian xử lý </a:t>
            </a:r>
            <a:r>
              <a:rPr sz="1100" b="0" i="0">
                <a:solidFill>
                  <a:srgbClr val="1F2430"/>
                </a:solidFill>
                <a:latin typeface="Arial"/>
              </a:rPr>
              <a:t>T_xl ≈ 102,8 giây</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Hiệu suất thời gian = 95,9%</a:t>
            </a:r>
            <a:r>
              <a:rPr sz="1100" b="0" i="0">
                <a:solidFill>
                  <a:srgbClr val="1F2430"/>
                </a:solidFill>
                <a:latin typeface="Arial"/>
              </a:rPr>
              <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Thao tác của khách hàng chiếm 90,5/107,2 ≈ 84,4% thời gian chu kỳ.</a:t>
            </a:r>
            <a:r>
              <a:rPr sz="1100" b="0" i="0">
                <a:solidFill>
                  <a:srgbClr val="1F2430"/>
                </a:solidFill>
                <a:latin typeface="Arial"/>
              </a:rPr>
              <a:t/>
            </a:r>
          </a:p>
        </p:txBody>
      </p:sp>
      <p:sp>
        <p:nvSpPr>
          <p:cNvPr id="9" name="Rounded Rectangle 8"/>
          <p:cNvSpPr/>
          <p:nvPr/>
        </p:nvSpPr>
        <p:spPr>
          <a:xfrm>
            <a:off x="4258970" y="1389888"/>
            <a:ext cx="3673754" cy="2395728"/>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46013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 CHẤT LƯỢNG — 0/8 CHỈ SỐ ĐẠT MỤC TIÊU</a:t>
            </a:r>
          </a:p>
        </p:txBody>
      </p:sp>
      <p:sp>
        <p:nvSpPr>
          <p:cNvPr id="11" name="TextBox 10"/>
          <p:cNvSpPr txBox="1"/>
          <p:nvPr/>
        </p:nvSpPr>
        <p:spPr>
          <a:xfrm>
            <a:off x="446013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Tỷ lệ chuyển đổi </a:t>
            </a:r>
            <a:r>
              <a:rPr sz="1100" b="0" i="0">
                <a:solidFill>
                  <a:srgbClr val="1F2430"/>
                </a:solidFill>
                <a:latin typeface="Arial"/>
              </a:rPr>
              <a:t>38%  →  mục tiêu ≥50%</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Phản hồi trung bình </a:t>
            </a:r>
            <a:r>
              <a:rPr sz="1100" b="0" i="0">
                <a:solidFill>
                  <a:srgbClr val="1F2430"/>
                </a:solidFill>
                <a:latin typeface="Arial"/>
              </a:rPr>
              <a:t>3,5s  →  ≤2,0s</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Phản hồi p95 </a:t>
            </a:r>
            <a:r>
              <a:rPr sz="1100" b="0" i="0">
                <a:solidFill>
                  <a:srgbClr val="1F2430"/>
                </a:solidFill>
                <a:latin typeface="Arial"/>
              </a:rPr>
              <a:t>6,2s  →  ≤4,0s</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Tỷ lệ phục vụ từ bộ đệm </a:t>
            </a:r>
            <a:r>
              <a:rPr sz="1100" b="0" i="0">
                <a:solidFill>
                  <a:srgbClr val="1F2430"/>
                </a:solidFill>
                <a:latin typeface="Arial"/>
              </a:rPr>
              <a:t>40%  →  ≥65%</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Phiên giữ chỗ hết hạn </a:t>
            </a:r>
            <a:r>
              <a:rPr sz="1100" b="0" i="0">
                <a:solidFill>
                  <a:srgbClr val="1F2430"/>
                </a:solidFill>
                <a:latin typeface="Arial"/>
              </a:rPr>
              <a:t>8%  →  ≤3%</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CSAT </a:t>
            </a:r>
            <a:r>
              <a:rPr sz="1100" b="0" i="0">
                <a:solidFill>
                  <a:srgbClr val="1F2430"/>
                </a:solidFill>
                <a:latin typeface="Arial"/>
              </a:rPr>
              <a:t>4,0/5  →  ≥4,5</a:t>
            </a:r>
          </a:p>
        </p:txBody>
      </p:sp>
      <p:sp>
        <p:nvSpPr>
          <p:cNvPr id="12" name="Rounded Rectangle 11"/>
          <p:cNvSpPr/>
          <p:nvPr/>
        </p:nvSpPr>
        <p:spPr>
          <a:xfrm>
            <a:off x="8015020" y="1389888"/>
            <a:ext cx="3673754" cy="239572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8216188" y="1536192"/>
            <a:ext cx="327141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C. CHI PHÍ — MÔ HÌNH HẠ TẦNG/TRUY VẤN</a:t>
            </a:r>
          </a:p>
        </p:txBody>
      </p:sp>
      <p:sp>
        <p:nvSpPr>
          <p:cNvPr id="14" name="TextBox 13"/>
          <p:cNvSpPr txBox="1"/>
          <p:nvPr/>
        </p:nvSpPr>
        <p:spPr>
          <a:xfrm>
            <a:off x="8216188" y="1865376"/>
            <a:ext cx="3271418" cy="1773936"/>
          </a:xfrm>
          <a:prstGeom prst="rect">
            <a:avLst/>
          </a:prstGeom>
          <a:noFill/>
        </p:spPr>
        <p:txBody>
          <a:bodyPr wrap="square" lIns="0" rIns="0" tIns="0" bIns="0">
            <a:spAutoFit/>
          </a:bodyPr>
          <a:lstStyle/>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C = 6 đ hạ tầng + 4 đ vận hành + 0,60 × 24 đ truy vấn = 24,4 đồng/phiên</a:t>
            </a:r>
            <a:r>
              <a:rPr sz="1100" b="0" i="0">
                <a:solidFill>
                  <a:srgbClr val="1F2430"/>
                </a:solidFill>
                <a:latin typeface="Arial"/>
              </a:rPr>
              <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Quy mô 100.000 phiên/ngày </a:t>
            </a:r>
            <a:r>
              <a:rPr sz="1100" b="0" i="0">
                <a:solidFill>
                  <a:srgbClr val="1F2430"/>
                </a:solidFill>
                <a:latin typeface="Arial"/>
              </a:rPr>
              <a:t>≈ 2,44 triệu đồng/ngày ≈ 890 triệu đồng/năm</a:t>
            </a:r>
          </a:p>
          <a:p>
            <a:pPr marL="219456" indent="-219456">
              <a:lnSpc>
                <a:spcPct val="112000"/>
              </a:lnSpc>
              <a:spcAft>
                <a:spcPts val="400"/>
              </a:spcAft>
            </a:pPr>
            <a:r>
              <a:rPr sz="1100" b="1" i="0">
                <a:solidFill>
                  <a:srgbClr val="A50064"/>
                </a:solidFill>
                <a:latin typeface="Arial"/>
              </a:rPr>
              <a:t>▸  </a:t>
            </a:r>
            <a:r>
              <a:rPr sz="1100" b="1" i="0">
                <a:solidFill>
                  <a:srgbClr val="1F2430"/>
                </a:solidFill>
                <a:latin typeface="Arial"/>
              </a:rPr>
              <a:t>Nâng cache-hit 40% → 65% </a:t>
            </a:r>
            <a:r>
              <a:rPr sz="1100" b="0" i="0">
                <a:solidFill>
                  <a:srgbClr val="1F2430"/>
                </a:solidFill>
                <a:latin typeface="Arial"/>
              </a:rPr>
              <a:t>⇒ 18,4 đ/phiên, giảm 24,6%, tiết kiệm ≈ 219 triệu đồng/năm</a:t>
            </a:r>
          </a:p>
        </p:txBody>
      </p:sp>
      <p:sp>
        <p:nvSpPr>
          <p:cNvPr id="15" name="Rounded Rectangle 14"/>
          <p:cNvSpPr/>
          <p:nvPr/>
        </p:nvSpPr>
        <p:spPr>
          <a:xfrm>
            <a:off x="502920" y="3931920"/>
            <a:ext cx="11185855" cy="73152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04088" y="4032504"/>
            <a:ext cx="10783519" cy="548640"/>
          </a:xfrm>
          <a:prstGeom prst="rect">
            <a:avLst/>
          </a:prstGeom>
          <a:noFill/>
        </p:spPr>
        <p:txBody>
          <a:bodyPr wrap="square" lIns="0" rIns="0" tIns="0" bIns="0">
            <a:spAutoFit/>
          </a:bodyPr>
          <a:lstStyle/>
          <a:p>
            <a:pPr algn="l">
              <a:lnSpc>
                <a:spcPct val="100000"/>
              </a:lnSpc>
            </a:pPr>
            <a:r>
              <a:rPr sz="1050" b="0" i="0">
                <a:solidFill>
                  <a:srgbClr val="7A5000"/>
                </a:solidFill>
                <a:latin typeface="Arial"/>
              </a:rPr>
              <a:t>KẾT LUẬN — Nút thắt KHÔNG nằm ở tốc độ hệ thống: toàn bộ độ trễ chỉ 4,4 giây trên chu kỳ 107,2 giây. Nút thắt nằm ở thời gian thao tác của khách hàng (84,4% chu kỳ) và ở tỷ lệ chuyển đổi thấp (38%). Vì vậy ưu tiên cải tiến phải đặt vào rút ngắn thao tác người dùng, không phải nâng cấp hạ tầng.</a:t>
            </a:r>
          </a:p>
        </p:txBody>
      </p:sp>
      <p:sp>
        <p:nvSpPr>
          <p:cNvPr id="17" name="TextBox 16"/>
          <p:cNvSpPr txBox="1"/>
          <p:nvPr/>
        </p:nvSpPr>
        <p:spPr>
          <a:xfrm>
            <a:off x="502920" y="4773168"/>
            <a:ext cx="11185855" cy="548640"/>
          </a:xfrm>
          <a:prstGeom prst="rect">
            <a:avLst/>
          </a:prstGeom>
          <a:noFill/>
        </p:spPr>
        <p:txBody>
          <a:bodyPr wrap="square" lIns="0" rIns="0" tIns="0" bIns="0">
            <a:spAutoFit/>
          </a:bodyPr>
          <a:lstStyle/>
          <a:p>
            <a:pPr algn="l">
              <a:lnSpc>
                <a:spcPct val="100000"/>
              </a:lnSpc>
            </a:pPr>
            <a:r>
              <a:rPr sz="1000" b="0" i="1">
                <a:solidFill>
                  <a:srgbClr val="5A6172"/>
                </a:solidFill>
                <a:latin typeface="Arial"/>
              </a:rPr>
              <a:t>Ghi chú về chi phí: quy trình chạy tự động hoàn toàn ở phần hệ thống, không có nhân sự MoMo thao tác trong luồng chính, nên công thức chi phí nhân sự = thời gian × đơn giá lương cho kết quả ≈ 0 đồng — đúng công thức nhưng không phản ánh bản chất kinh tế. Nhóm thay bằng mô hình chi phí hạ tầng và truy vấn. Số liệu định lượng là số liệu giả định mang tính minh họa do nhóm xây dựng — không phải số liệu vận hành do MoMo công bố.</a:t>
            </a:r>
          </a:p>
        </p:txBody>
      </p:sp>
      <p:sp>
        <p:nvSpPr>
          <p:cNvPr id="18" name="TextBox 17"/>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9" name="TextBox 18"/>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4.2 · HỖ TRỢ KHÁCH HÀNG (HỖ TRỢ)</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Hai quy trình con hậu mãi — tra soát và khiếu nại</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6153911" cy="1463040"/>
        </p:xfrm>
        <a:graphic>
          <a:graphicData uri="http://schemas.openxmlformats.org/drawingml/2006/table">
            <a:tbl>
              <a:tblPr firstRow="1" bandRow="1">
                <a:tableStyleId>{5C22544A-7EE6-4342-B048-85BDC9FD1C3A}</a:tableStyleId>
              </a:tblPr>
              <a:tblGrid>
                <a:gridCol w="2286000"/>
                <a:gridCol w="2011680"/>
                <a:gridCol w="1856231"/>
              </a:tblGrid>
              <a:tr h="365760">
                <a:tc>
                  <a:txBody>
                    <a:bodyPr wrap="square"/>
                    <a:lstStyle/>
                    <a:p>
                      <a:pPr algn="ctr"/>
                      <a:r>
                        <a:rPr sz="1050" b="1" i="0">
                          <a:solidFill>
                            <a:srgbClr val="FFFFFF"/>
                          </a:solidFill>
                          <a:latin typeface="Arial"/>
                        </a:rPr>
                        <a:t>Chỉ số</a:t>
                      </a:r>
                    </a:p>
                  </a:txBody>
                  <a:tcPr marL="64008" marR="64008" marT="27432" marB="27432" anchor="ctr">
                    <a:solidFill>
                      <a:srgbClr val="A50064"/>
                    </a:solidFill>
                  </a:tcPr>
                </a:tc>
                <a:tc>
                  <a:txBody>
                    <a:bodyPr wrap="square"/>
                    <a:lstStyle/>
                    <a:p>
                      <a:pPr algn="ctr"/>
                      <a:r>
                        <a:rPr sz="1050" b="1" i="0">
                          <a:solidFill>
                            <a:srgbClr val="FFFFFF"/>
                          </a:solidFill>
                          <a:latin typeface="Arial"/>
                        </a:rPr>
                        <a:t>QT con 1 — Tra soát</a:t>
                      </a:r>
                    </a:p>
                  </a:txBody>
                  <a:tcPr marL="64008" marR="64008" marT="27432" marB="27432" anchor="ctr">
                    <a:solidFill>
                      <a:srgbClr val="A50064"/>
                    </a:solidFill>
                  </a:tcPr>
                </a:tc>
                <a:tc>
                  <a:txBody>
                    <a:bodyPr wrap="square"/>
                    <a:lstStyle/>
                    <a:p>
                      <a:pPr algn="ctr"/>
                      <a:r>
                        <a:rPr sz="1050" b="1" i="0">
                          <a:solidFill>
                            <a:srgbClr val="FFFFFF"/>
                          </a:solidFill>
                          <a:latin typeface="Arial"/>
                        </a:rPr>
                        <a:t>QT con 2 — Khiếu nại</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Thời gian chu kỳ (T_ck)</a:t>
                      </a:r>
                    </a:p>
                  </a:txBody>
                  <a:tcPr marL="64008" marR="64008" marT="27432" marB="27432" anchor="ctr">
                    <a:solidFill>
                      <a:srgbClr val="FFFFFF"/>
                    </a:solidFill>
                  </a:tcPr>
                </a:tc>
                <a:tc>
                  <a:txBody>
                    <a:bodyPr wrap="square"/>
                    <a:lstStyle/>
                    <a:p>
                      <a:pPr algn="ctr"/>
                      <a:r>
                        <a:rPr sz="1050" b="0" i="0">
                          <a:solidFill>
                            <a:srgbClr val="1F2430"/>
                          </a:solidFill>
                          <a:latin typeface="Arial"/>
                        </a:rPr>
                        <a:t>≈ 5,8 giờ</a:t>
                      </a:r>
                    </a:p>
                  </a:txBody>
                  <a:tcPr marL="64008" marR="64008" marT="27432" marB="27432" anchor="ctr">
                    <a:solidFill>
                      <a:srgbClr val="FFFFFF"/>
                    </a:solidFill>
                  </a:tcPr>
                </a:tc>
                <a:tc>
                  <a:txBody>
                    <a:bodyPr wrap="square"/>
                    <a:lstStyle/>
                    <a:p>
                      <a:pPr algn="ctr"/>
                      <a:r>
                        <a:rPr sz="1050" b="0" i="0">
                          <a:solidFill>
                            <a:srgbClr val="1F2430"/>
                          </a:solidFill>
                          <a:latin typeface="Arial"/>
                        </a:rPr>
                        <a:t>≈ 4,23 giờ</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Hiệu suất thời gian</a:t>
                      </a:r>
                    </a:p>
                  </a:txBody>
                  <a:tcPr marL="64008" marR="64008" marT="27432" marB="27432" anchor="ctr">
                    <a:solidFill>
                      <a:srgbClr val="F4F4F7"/>
                    </a:solidFill>
                  </a:tcPr>
                </a:tc>
                <a:tc>
                  <a:txBody>
                    <a:bodyPr wrap="square"/>
                    <a:lstStyle/>
                    <a:p>
                      <a:pPr algn="ctr"/>
                      <a:r>
                        <a:rPr sz="1050" b="0" i="0">
                          <a:solidFill>
                            <a:srgbClr val="1F2430"/>
                          </a:solidFill>
                          <a:latin typeface="Arial"/>
                        </a:rPr>
                        <a:t>≈ 69,0%</a:t>
                      </a:r>
                    </a:p>
                  </a:txBody>
                  <a:tcPr marL="64008" marR="64008" marT="27432" marB="27432" anchor="ctr">
                    <a:solidFill>
                      <a:srgbClr val="F4F4F7"/>
                    </a:solidFill>
                  </a:tcPr>
                </a:tc>
                <a:tc>
                  <a:txBody>
                    <a:bodyPr wrap="square"/>
                    <a:lstStyle/>
                    <a:p>
                      <a:pPr algn="ctr"/>
                      <a:r>
                        <a:rPr sz="1050" b="0" i="0">
                          <a:solidFill>
                            <a:srgbClr val="1F2430"/>
                          </a:solidFill>
                          <a:latin typeface="Arial"/>
                        </a:rPr>
                        <a:t>≈ 43,3%</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Chi phí xử lý 1 ca</a:t>
                      </a:r>
                    </a:p>
                  </a:txBody>
                  <a:tcPr marL="64008" marR="64008" marT="27432" marB="27432" anchor="ctr">
                    <a:solidFill>
                      <a:srgbClr val="FFFFFF"/>
                    </a:solidFill>
                  </a:tcPr>
                </a:tc>
                <a:tc>
                  <a:txBody>
                    <a:bodyPr wrap="square"/>
                    <a:lstStyle/>
                    <a:p>
                      <a:pPr algn="ctr"/>
                      <a:r>
                        <a:rPr sz="1050" b="0" i="0">
                          <a:solidFill>
                            <a:srgbClr val="1F2430"/>
                          </a:solidFill>
                          <a:latin typeface="Arial"/>
                        </a:rPr>
                        <a:t>≈ 301.000 đồng</a:t>
                      </a:r>
                    </a:p>
                  </a:txBody>
                  <a:tcPr marL="64008" marR="64008" marT="27432" marB="27432" anchor="ctr">
                    <a:solidFill>
                      <a:srgbClr val="FFFFFF"/>
                    </a:solidFill>
                  </a:tcPr>
                </a:tc>
                <a:tc>
                  <a:txBody>
                    <a:bodyPr wrap="square"/>
                    <a:lstStyle/>
                    <a:p>
                      <a:pPr algn="ctr"/>
                      <a:r>
                        <a:rPr sz="1050" b="0" i="0">
                          <a:solidFill>
                            <a:srgbClr val="1F2430"/>
                          </a:solidFill>
                          <a:latin typeface="Arial"/>
                        </a:rPr>
                        <a:t>≈ 123.500 đồng</a:t>
                      </a:r>
                    </a:p>
                  </a:txBody>
                  <a:tcPr marL="64008" marR="64008" marT="27432" marB="27432" anchor="ctr">
                    <a:solidFill>
                      <a:srgbClr val="FFFFFF"/>
                    </a:solidFill>
                  </a:tcPr>
                </a:tc>
              </a:tr>
            </a:tbl>
          </a:graphicData>
        </a:graphic>
      </p:graphicFrame>
      <p:sp>
        <p:nvSpPr>
          <p:cNvPr id="7" name="TextBox 6"/>
          <p:cNvSpPr txBox="1"/>
          <p:nvPr/>
        </p:nvSpPr>
        <p:spPr>
          <a:xfrm>
            <a:off x="502920" y="3035808"/>
            <a:ext cx="6152220" cy="137160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Chất lượng QT1: </a:t>
            </a:r>
            <a:r>
              <a:rPr sz="1050" b="0" i="0">
                <a:solidFill>
                  <a:srgbClr val="1F2430"/>
                </a:solidFill>
                <a:latin typeface="Arial"/>
              </a:rPr>
              <a:t>55% lỗi nội bộ khắc phục ngay · 27% phải hoàn tiền · 80% xong trong SLA 8 giờ.</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Chất lượng QT2: </a:t>
            </a:r>
            <a:r>
              <a:rPr sz="1050" b="0" i="0">
                <a:solidFill>
                  <a:srgbClr val="1F2430"/>
                </a:solidFill>
                <a:latin typeface="Arial"/>
              </a:rPr>
              <a:t>60% xử lý ngay theo kịch bản · 55% có căn cứ hợp lệ · 5,4% leo thang · CSAT ≈ 4,1/5.</a:t>
            </a:r>
          </a:p>
        </p:txBody>
      </p:sp>
      <p:sp>
        <p:nvSpPr>
          <p:cNvPr id="8" name="TextBox 7"/>
          <p:cNvSpPr txBox="1"/>
          <p:nvPr/>
        </p:nvSpPr>
        <p:spPr>
          <a:xfrm>
            <a:off x="502920" y="4224528"/>
            <a:ext cx="6152220" cy="640080"/>
          </a:xfrm>
          <a:prstGeom prst="rect">
            <a:avLst/>
          </a:prstGeom>
          <a:noFill/>
        </p:spPr>
        <p:txBody>
          <a:bodyPr wrap="square" lIns="0" rIns="0" tIns="0" bIns="0">
            <a:spAutoFit/>
          </a:bodyPr>
          <a:lstStyle/>
          <a:p>
            <a:pPr algn="l">
              <a:lnSpc>
                <a:spcPct val="100000"/>
              </a:lnSpc>
            </a:pPr>
            <a:r>
              <a:rPr sz="1050" b="0" i="1">
                <a:solidFill>
                  <a:srgbClr val="1F2430"/>
                </a:solidFill>
                <a:latin typeface="Arial"/>
              </a:rPr>
              <a:t>Công thức thời gian — bước tuần tự cộng dồn, nhánh XOR lấy trung bình có trọng số theo xác suất:</a:t>
            </a:r>
          </a:p>
          <a:p>
            <a:pPr algn="l">
              <a:lnSpc>
                <a:spcPct val="100000"/>
              </a:lnSpc>
            </a:pPr>
            <a:r>
              <a:rPr sz="1050" b="0" i="1">
                <a:solidFill>
                  <a:srgbClr val="1F2430"/>
                </a:solidFill>
                <a:latin typeface="Arial"/>
              </a:rPr>
              <a:t>T_ck = 0,3 + 0,6×0,5 + 0,4×[1 + 6 + 0,55×1 + 0,45×(0,5 + 0,3×4)] + 0,3 ≈ 4,23 giờ</a:t>
            </a:r>
          </a:p>
        </p:txBody>
      </p:sp>
      <p:sp>
        <p:nvSpPr>
          <p:cNvPr id="9" name="TextBox 8"/>
          <p:cNvSpPr txBox="1"/>
          <p:nvPr/>
        </p:nvSpPr>
        <p:spPr>
          <a:xfrm>
            <a:off x="6838020" y="1389888"/>
            <a:ext cx="4850754"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PARETO — 590 TICKET TRONG MỘT QUÝ</a:t>
            </a:r>
          </a:p>
        </p:txBody>
      </p:sp>
      <p:graphicFrame>
        <p:nvGraphicFramePr>
          <p:cNvPr id="10" name="Table 9"/>
          <p:cNvGraphicFramePr>
            <a:graphicFrameLocks noGrp="1"/>
          </p:cNvGraphicFramePr>
          <p:nvPr/>
        </p:nvGraphicFramePr>
        <p:xfrm>
          <a:off x="6838020" y="1700784"/>
          <a:ext cx="4818888" cy="2194560"/>
        </p:xfrm>
        <a:graphic>
          <a:graphicData uri="http://schemas.openxmlformats.org/drawingml/2006/table">
            <a:tbl>
              <a:tblPr firstRow="1" bandRow="1">
                <a:tableStyleId>{5C22544A-7EE6-4342-B048-85BDC9FD1C3A}</a:tableStyleId>
              </a:tblPr>
              <a:tblGrid>
                <a:gridCol w="3246120"/>
                <a:gridCol w="1572768"/>
              </a:tblGrid>
              <a:tr h="365760">
                <a:tc>
                  <a:txBody>
                    <a:bodyPr wrap="square"/>
                    <a:lstStyle/>
                    <a:p>
                      <a:pPr algn="ctr"/>
                      <a:r>
                        <a:rPr sz="1050" b="1" i="0">
                          <a:solidFill>
                            <a:srgbClr val="FFFFFF"/>
                          </a:solidFill>
                          <a:latin typeface="Arial"/>
                        </a:rPr>
                        <a:t>Nhóm vấn đề</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Trừ tiền nhưng chưa xuất vé</a:t>
                      </a:r>
                    </a:p>
                  </a:txBody>
                  <a:tcPr marL="64008" marR="64008" marT="27432" marB="27432" anchor="ctr">
                    <a:solidFill>
                      <a:srgbClr val="FFFFFF"/>
                    </a:solidFill>
                  </a:tcPr>
                </a:tc>
                <a:tc>
                  <a:txBody>
                    <a:bodyPr wrap="square"/>
                    <a:lstStyle/>
                    <a:p>
                      <a:pPr algn="l"/>
                      <a:r>
                        <a:rPr sz="1050" b="0" i="0">
                          <a:solidFill>
                            <a:srgbClr val="1F2430"/>
                          </a:solidFill>
                          <a:latin typeface="Arial"/>
                        </a:rPr>
                        <a:t>31,5%</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Chậm hoàn tiền</a:t>
                      </a:r>
                    </a:p>
                  </a:txBody>
                  <a:tcPr marL="64008" marR="64008" marT="27432" marB="27432" anchor="ctr">
                    <a:solidFill>
                      <a:srgbClr val="F4F4F7"/>
                    </a:solidFill>
                  </a:tcPr>
                </a:tc>
                <a:tc>
                  <a:txBody>
                    <a:bodyPr wrap="square"/>
                    <a:lstStyle/>
                    <a:p>
                      <a:pPr algn="l"/>
                      <a:r>
                        <a:rPr sz="1050" b="0" i="0">
                          <a:solidFill>
                            <a:srgbClr val="1F2430"/>
                          </a:solidFill>
                          <a:latin typeface="Arial"/>
                        </a:rPr>
                        <a:t>21,0%</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Sai lệch thông tin</a:t>
                      </a:r>
                    </a:p>
                  </a:txBody>
                  <a:tcPr marL="64008" marR="64008" marT="27432" marB="27432" anchor="ctr">
                    <a:solidFill>
                      <a:srgbClr val="FFFFFF"/>
                    </a:solidFill>
                  </a:tcPr>
                </a:tc>
                <a:tc>
                  <a:txBody>
                    <a:bodyPr wrap="square"/>
                    <a:lstStyle/>
                    <a:p>
                      <a:pPr algn="l"/>
                      <a:r>
                        <a:rPr sz="1050" b="0" i="0">
                          <a:solidFill>
                            <a:srgbClr val="1F2430"/>
                          </a:solidFill>
                          <a:latin typeface="Arial"/>
                        </a:rPr>
                        <a:t>16,6%</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Không nhận được vé điện tử</a:t>
                      </a:r>
                    </a:p>
                  </a:txBody>
                  <a:tcPr marL="64008" marR="64008" marT="27432" marB="27432" anchor="ctr">
                    <a:solidFill>
                      <a:srgbClr val="F4F4F7"/>
                    </a:solidFill>
                  </a:tcPr>
                </a:tc>
                <a:tc>
                  <a:txBody>
                    <a:bodyPr wrap="square"/>
                    <a:lstStyle/>
                    <a:p>
                      <a:pPr algn="l"/>
                      <a:r>
                        <a:rPr sz="1050" b="0" i="0">
                          <a:solidFill>
                            <a:srgbClr val="1F2430"/>
                          </a:solidFill>
                          <a:latin typeface="Arial"/>
                        </a:rPr>
                        <a:t>10,3%</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 Bốn nhóm đầu cộng lại</a:t>
                      </a:r>
                    </a:p>
                  </a:txBody>
                  <a:tcPr marL="64008" marR="64008" marT="27432" marB="27432" anchor="ctr">
                    <a:solidFill>
                      <a:srgbClr val="FFFFFF"/>
                    </a:solidFill>
                  </a:tcPr>
                </a:tc>
                <a:tc>
                  <a:txBody>
                    <a:bodyPr wrap="square"/>
                    <a:lstStyle/>
                    <a:p>
                      <a:pPr algn="l"/>
                      <a:r>
                        <a:rPr sz="1050" b="0" i="0">
                          <a:solidFill>
                            <a:srgbClr val="1F2430"/>
                          </a:solidFill>
                          <a:latin typeface="Arial"/>
                        </a:rPr>
                        <a:t>79,4%</a:t>
                      </a:r>
                    </a:p>
                  </a:txBody>
                  <a:tcPr marL="64008" marR="64008" marT="27432" marB="27432" anchor="ctr">
                    <a:solidFill>
                      <a:srgbClr val="FFFFFF"/>
                    </a:solidFill>
                  </a:tcPr>
                </a:tc>
              </a:tr>
            </a:tbl>
          </a:graphicData>
        </a:graphic>
      </p:graphicFrame>
      <p:sp>
        <p:nvSpPr>
          <p:cNvPr id="11" name="TextBox 10"/>
          <p:cNvSpPr txBox="1"/>
          <p:nvPr/>
        </p:nvSpPr>
        <p:spPr>
          <a:xfrm>
            <a:off x="6838020" y="4041648"/>
            <a:ext cx="4850754" cy="118872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Hold là điểm nghẽn chính </a:t>
            </a:r>
            <a:r>
              <a:rPr sz="1050" b="0" i="0">
                <a:solidFill>
                  <a:srgbClr val="1F2430"/>
                </a:solidFill>
                <a:latin typeface="Arial"/>
              </a:rPr>
              <a:t>— chờ hãng bay/đối tác xác minh, nằm ngoài tầm kiểm soát của MoMo.</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Move </a:t>
            </a:r>
            <a:r>
              <a:rPr sz="1050" b="0" i="0">
                <a:solidFill>
                  <a:srgbClr val="1F2430"/>
                </a:solidFill>
                <a:latin typeface="Arial"/>
              </a:rPr>
              <a:t>— trao đổi ticket thủ công qua email/điện thoại giữa CSKH, Vận hành và Kỹ thuật.</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Overdo </a:t>
            </a:r>
            <a:r>
              <a:rPr sz="1050" b="0" i="0">
                <a:solidFill>
                  <a:srgbClr val="1F2430"/>
                </a:solidFill>
                <a:latin typeface="Arial"/>
              </a:rPr>
              <a:t>— chẩn đoán đầy đủ cả với ca lặp lại đã có tiền lệ xử lý.</a:t>
            </a:r>
          </a:p>
        </p:txBody>
      </p:sp>
      <p:sp>
        <p:nvSpPr>
          <p:cNvPr id="12" name="Rounded Rectangle 11"/>
          <p:cNvSpPr/>
          <p:nvPr/>
        </p:nvSpPr>
        <p:spPr>
          <a:xfrm>
            <a:off x="502920" y="5705856"/>
            <a:ext cx="11185855" cy="54864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5806440"/>
            <a:ext cx="10783519" cy="365759"/>
          </a:xfrm>
          <a:prstGeom prst="rect">
            <a:avLst/>
          </a:prstGeom>
          <a:noFill/>
        </p:spPr>
        <p:txBody>
          <a:bodyPr wrap="square" lIns="0" rIns="0" tIns="0" bIns="0">
            <a:spAutoFit/>
          </a:bodyPr>
          <a:lstStyle/>
          <a:p>
            <a:pPr algn="l">
              <a:lnSpc>
                <a:spcPct val="100000"/>
              </a:lnSpc>
            </a:pPr>
            <a:r>
              <a:rPr sz="1000" b="0" i="0">
                <a:solidFill>
                  <a:srgbClr val="7A5000"/>
                </a:solidFill>
                <a:latin typeface="Arial"/>
              </a:rPr>
              <a:t>PHÁT HIỆN CHÍNH — Hiệu suất thời gian của quy trình Khiếu nại chỉ 43,3%, thấp hơn hẳn quy trình Tra soát (69,0%). Chênh lệch này xác nhận thời gian chờ hãng bay/đối tác phản hồi là điểm nghẽn nghiêm trọng nhất của toàn mảng hậu mãi. Số liệu định lượng là số liệu giả định mang tính minh họa do nhóm xây dựng — không phải số liệu vận hành do MoMo công bố.</a:t>
            </a:r>
          </a:p>
        </p:txBody>
      </p:sp>
      <p:sp>
        <p:nvSpPr>
          <p:cNvPr id="14" name="TextBox 13"/>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5" name="TextBox 14"/>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4.3 · QUẢN TRỊ GIÁ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tính — giá trị gia tăng, lãng phí và Pareto</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GIÁ TRỊ GIA TĂNG — 23 HOẠT ĐỘNG</a:t>
            </a:r>
          </a:p>
        </p:txBody>
      </p:sp>
      <p:graphicFrame>
        <p:nvGraphicFramePr>
          <p:cNvPr id="7" name="Table 6"/>
          <p:cNvGraphicFramePr>
            <a:graphicFrameLocks noGrp="1"/>
          </p:cNvGraphicFramePr>
          <p:nvPr/>
        </p:nvGraphicFramePr>
        <p:xfrm>
          <a:off x="502920" y="1700784"/>
          <a:ext cx="5532120" cy="1682496"/>
        </p:xfrm>
        <a:graphic>
          <a:graphicData uri="http://schemas.openxmlformats.org/drawingml/2006/table">
            <a:tbl>
              <a:tblPr firstRow="1" bandRow="1">
                <a:tableStyleId>{5C22544A-7EE6-4342-B048-85BDC9FD1C3A}</a:tableStyleId>
              </a:tblPr>
              <a:tblGrid>
                <a:gridCol w="914400"/>
                <a:gridCol w="1143000"/>
                <a:gridCol w="3474720"/>
              </a:tblGrid>
              <a:tr h="420624">
                <a:tc>
                  <a:txBody>
                    <a:bodyPr wrap="square"/>
                    <a:lstStyle/>
                    <a:p>
                      <a:pPr algn="ctr"/>
                      <a:r>
                        <a:rPr sz="1050" b="1" i="0">
                          <a:solidFill>
                            <a:srgbClr val="FFFFFF"/>
                          </a:solidFill>
                          <a:latin typeface="Arial"/>
                        </a:rPr>
                        <a:t>Loại</a:t>
                      </a:r>
                    </a:p>
                  </a:txBody>
                  <a:tcPr marL="64008" marR="64008" marT="27432" marB="27432" anchor="ctr">
                    <a:solidFill>
                      <a:srgbClr val="A50064"/>
                    </a:solidFill>
                  </a:tcPr>
                </a:tc>
                <a:tc>
                  <a:txBody>
                    <a:bodyPr wrap="square"/>
                    <a:lstStyle/>
                    <a:p>
                      <a:pPr algn="ctr"/>
                      <a:r>
                        <a:rPr sz="1050" b="1" i="0">
                          <a:solidFill>
                            <a:srgbClr val="FFFFFF"/>
                          </a:solidFill>
                          <a:latin typeface="Arial"/>
                        </a:rPr>
                        <a:t>Số hoạt động</a:t>
                      </a:r>
                    </a:p>
                  </a:txBody>
                  <a:tcPr marL="64008" marR="64008" marT="27432" marB="27432" anchor="ctr">
                    <a:solidFill>
                      <a:srgbClr val="A50064"/>
                    </a:solidFill>
                  </a:tcPr>
                </a:tc>
                <a:tc>
                  <a:txBody>
                    <a:bodyPr wrap="square"/>
                    <a:lstStyle/>
                    <a:p>
                      <a:pPr algn="ctr"/>
                      <a:r>
                        <a:rPr sz="1050" b="1" i="0">
                          <a:solidFill>
                            <a:srgbClr val="FFFFFF"/>
                          </a:solidFill>
                          <a:latin typeface="Arial"/>
                        </a:rPr>
                        <a:t>Đặc điểm</a:t>
                      </a:r>
                    </a:p>
                  </a:txBody>
                  <a:tcPr marL="64008" marR="64008" marT="27432" marB="27432" anchor="ctr">
                    <a:solidFill>
                      <a:srgbClr val="A50064"/>
                    </a:solidFill>
                  </a:tcPr>
                </a:tc>
              </a:tr>
              <a:tr h="420624">
                <a:tc>
                  <a:txBody>
                    <a:bodyPr wrap="square"/>
                    <a:lstStyle/>
                    <a:p>
                      <a:pPr algn="l"/>
                      <a:r>
                        <a:rPr sz="1050" b="0" i="0">
                          <a:solidFill>
                            <a:srgbClr val="1F2430"/>
                          </a:solidFill>
                          <a:latin typeface="Arial"/>
                        </a:rPr>
                        <a:t>VA</a:t>
                      </a:r>
                    </a:p>
                  </a:txBody>
                  <a:tcPr marL="64008" marR="64008" marT="27432" marB="27432" anchor="ctr">
                    <a:solidFill>
                      <a:srgbClr val="FFFFFF"/>
                    </a:solidFill>
                  </a:tcPr>
                </a:tc>
                <a:tc>
                  <a:txBody>
                    <a:bodyPr wrap="square"/>
                    <a:lstStyle/>
                    <a:p>
                      <a:pPr algn="ctr"/>
                      <a:r>
                        <a:rPr sz="1050" b="0" i="0">
                          <a:solidFill>
                            <a:srgbClr val="1F2430"/>
                          </a:solidFill>
                          <a:latin typeface="Arial"/>
                        </a:rPr>
                        <a:t>4</a:t>
                      </a:r>
                    </a:p>
                  </a:txBody>
                  <a:tcPr marL="64008" marR="64008" marT="27432" marB="27432" anchor="ctr">
                    <a:solidFill>
                      <a:srgbClr val="FFFFFF"/>
                    </a:solidFill>
                  </a:tcPr>
                </a:tc>
                <a:tc>
                  <a:txBody>
                    <a:bodyPr wrap="square"/>
                    <a:lstStyle/>
                    <a:p>
                      <a:pPr algn="ctr"/>
                      <a:r>
                        <a:rPr sz="1050" b="0" i="0">
                          <a:solidFill>
                            <a:srgbClr val="1F2430"/>
                          </a:solidFill>
                          <a:latin typeface="Arial"/>
                        </a:rPr>
                        <a:t>Xây dựng chính sách KM, thiết kế cơ chế, cấu hình, công bố</a:t>
                      </a:r>
                    </a:p>
                  </a:txBody>
                  <a:tcPr marL="64008" marR="64008" marT="27432" marB="27432" anchor="ctr">
                    <a:solidFill>
                      <a:srgbClr val="FFFFFF"/>
                    </a:solidFill>
                  </a:tcPr>
                </a:tc>
              </a:tr>
              <a:tr h="420624">
                <a:tc>
                  <a:txBody>
                    <a:bodyPr wrap="square"/>
                    <a:lstStyle/>
                    <a:p>
                      <a:pPr algn="l"/>
                      <a:r>
                        <a:rPr sz="1050" b="0" i="0">
                          <a:solidFill>
                            <a:srgbClr val="1F2430"/>
                          </a:solidFill>
                          <a:latin typeface="Arial"/>
                        </a:rPr>
                        <a:t>BVA</a:t>
                      </a:r>
                    </a:p>
                  </a:txBody>
                  <a:tcPr marL="64008" marR="64008" marT="27432" marB="27432" anchor="ctr">
                    <a:solidFill>
                      <a:srgbClr val="F4F4F7"/>
                    </a:solidFill>
                  </a:tcPr>
                </a:tc>
                <a:tc>
                  <a:txBody>
                    <a:bodyPr wrap="square"/>
                    <a:lstStyle/>
                    <a:p>
                      <a:pPr algn="ctr"/>
                      <a:r>
                        <a:rPr sz="1050" b="0" i="0">
                          <a:solidFill>
                            <a:srgbClr val="1F2430"/>
                          </a:solidFill>
                          <a:latin typeface="Arial"/>
                        </a:rPr>
                        <a:t>14</a:t>
                      </a:r>
                    </a:p>
                  </a:txBody>
                  <a:tcPr marL="64008" marR="64008" marT="27432" marB="27432" anchor="ctr">
                    <a:solidFill>
                      <a:srgbClr val="F4F4F7"/>
                    </a:solidFill>
                  </a:tcPr>
                </a:tc>
                <a:tc>
                  <a:txBody>
                    <a:bodyPr wrap="square"/>
                    <a:lstStyle/>
                    <a:p>
                      <a:pPr algn="ctr"/>
                      <a:r>
                        <a:rPr sz="1050" b="0" i="0">
                          <a:solidFill>
                            <a:srgbClr val="1F2430"/>
                          </a:solidFill>
                          <a:latin typeface="Arial"/>
                        </a:rPr>
                        <a:t>Tiếp nhận, chuẩn hóa, thẩm định, kiểm thử, lưu trữ</a:t>
                      </a:r>
                    </a:p>
                  </a:txBody>
                  <a:tcPr marL="64008" marR="64008" marT="27432" marB="27432" anchor="ctr">
                    <a:solidFill>
                      <a:srgbClr val="F4F4F7"/>
                    </a:solidFill>
                  </a:tcPr>
                </a:tc>
              </a:tr>
              <a:tr h="420624">
                <a:tc>
                  <a:txBody>
                    <a:bodyPr wrap="square"/>
                    <a:lstStyle/>
                    <a:p>
                      <a:pPr algn="l"/>
                      <a:r>
                        <a:rPr sz="1050" b="0" i="0">
                          <a:solidFill>
                            <a:srgbClr val="1F2430"/>
                          </a:solidFill>
                          <a:latin typeface="Arial"/>
                        </a:rPr>
                        <a:t>NVA</a:t>
                      </a:r>
                    </a:p>
                  </a:txBody>
                  <a:tcPr marL="64008" marR="64008" marT="27432" marB="27432" anchor="ctr">
                    <a:solidFill>
                      <a:srgbClr val="FFFFFF"/>
                    </a:solidFill>
                  </a:tcPr>
                </a:tc>
                <a:tc>
                  <a:txBody>
                    <a:bodyPr wrap="square"/>
                    <a:lstStyle/>
                    <a:p>
                      <a:pPr algn="ctr"/>
                      <a:r>
                        <a:rPr sz="1050" b="0" i="0">
                          <a:solidFill>
                            <a:srgbClr val="1F2430"/>
                          </a:solidFill>
                          <a:latin typeface="Arial"/>
                        </a:rPr>
                        <a:t>5</a:t>
                      </a:r>
                    </a:p>
                  </a:txBody>
                  <a:tcPr marL="64008" marR="64008" marT="27432" marB="27432" anchor="ctr">
                    <a:solidFill>
                      <a:srgbClr val="FFFFFF"/>
                    </a:solidFill>
                  </a:tcPr>
                </a:tc>
                <a:tc>
                  <a:txBody>
                    <a:bodyPr wrap="square"/>
                    <a:lstStyle/>
                    <a:p>
                      <a:pPr algn="ctr"/>
                      <a:r>
                        <a:rPr sz="1050" b="0" i="0">
                          <a:solidFill>
                            <a:srgbClr val="1F2430"/>
                          </a:solidFill>
                          <a:latin typeface="Arial"/>
                        </a:rPr>
                        <a:t>Cả 5 đều là bước làm lại (rework)</a:t>
                      </a:r>
                    </a:p>
                  </a:txBody>
                  <a:tcPr marL="64008" marR="64008" marT="27432" marB="27432" anchor="ctr">
                    <a:solidFill>
                      <a:srgbClr val="FFFFFF"/>
                    </a:solidFill>
                  </a:tcPr>
                </a:tc>
              </a:tr>
            </a:tbl>
          </a:graphicData>
        </a:graphic>
      </p:graphicFrame>
      <p:sp>
        <p:nvSpPr>
          <p:cNvPr id="8" name="TextBox 7"/>
          <p:cNvSpPr txBox="1"/>
          <p:nvPr/>
        </p:nvSpPr>
        <p:spPr>
          <a:xfrm>
            <a:off x="502920" y="3264408"/>
            <a:ext cx="5483199" cy="155448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Năm bước làm lại: </a:t>
            </a:r>
            <a:r>
              <a:rPr sz="1050" b="0" i="0">
                <a:solidFill>
                  <a:srgbClr val="1F2430"/>
                </a:solidFill>
                <a:latin typeface="Arial"/>
              </a:rPr>
              <a:t>yêu cầu bổ sung dữ liệu · trả lại chuẩn hóa · điều chỉnh mục tiêu chiến dịch · bổ sung hồ sơ pháp lý · sửa cấu hình lỗi.</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Move </a:t>
            </a:r>
            <a:r>
              <a:rPr sz="1050" b="0" i="0">
                <a:solidFill>
                  <a:srgbClr val="1F2430"/>
                </a:solidFill>
                <a:latin typeface="Arial"/>
              </a:rPr>
              <a:t>— hồ sơ luân chuyển qua 5 khâu thủ công bằng email/file rời rạc, không có hệ thống theo dõi trạng thái tập trung.</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Hold </a:t>
            </a:r>
            <a:r>
              <a:rPr sz="1050" b="0" i="0">
                <a:solidFill>
                  <a:srgbClr val="1F2430"/>
                </a:solidFill>
                <a:latin typeface="Arial"/>
              </a:rPr>
              <a:t>— chờ hãng bay gửi lại dữ liệu, chờ Marketing sửa cơ chế, chờ Kỹ thuật rà soát.</a:t>
            </a:r>
          </a:p>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Overdo </a:t>
            </a:r>
            <a:r>
              <a:rPr sz="1050" b="0" i="0">
                <a:solidFill>
                  <a:srgbClr val="1F2430"/>
                </a:solidFill>
                <a:latin typeface="Arial"/>
              </a:rPr>
              <a:t>— chuẩn hóa thuế/phí thủ công lặp lại cho từng hãng; soạn lại hồ sơ điều kiện dù cấu trúc tương tự.</a:t>
            </a:r>
          </a:p>
        </p:txBody>
      </p:sp>
      <p:sp>
        <p:nvSpPr>
          <p:cNvPr id="9" name="TextBox 8"/>
          <p:cNvSpPr txBox="1"/>
          <p:nvPr/>
        </p:nvSpPr>
        <p:spPr>
          <a:xfrm>
            <a:off x="6205575" y="1389888"/>
            <a:ext cx="5483199"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PHÂN TÍCH PARETO — 85 ĐIỂM GHI NHẬN VẤN ĐỀ</a:t>
            </a:r>
          </a:p>
        </p:txBody>
      </p:sp>
      <p:graphicFrame>
        <p:nvGraphicFramePr>
          <p:cNvPr id="10" name="Table 9"/>
          <p:cNvGraphicFramePr>
            <a:graphicFrameLocks noGrp="1"/>
          </p:cNvGraphicFramePr>
          <p:nvPr/>
        </p:nvGraphicFramePr>
        <p:xfrm>
          <a:off x="6205575" y="1700784"/>
          <a:ext cx="5532120" cy="2304288"/>
        </p:xfrm>
        <a:graphic>
          <a:graphicData uri="http://schemas.openxmlformats.org/drawingml/2006/table">
            <a:tbl>
              <a:tblPr firstRow="1" bandRow="1">
                <a:tableStyleId>{5C22544A-7EE6-4342-B048-85BDC9FD1C3A}</a:tableStyleId>
              </a:tblPr>
              <a:tblGrid>
                <a:gridCol w="3246120"/>
                <a:gridCol w="1143000"/>
                <a:gridCol w="1143000"/>
              </a:tblGrid>
              <a:tr h="384048">
                <a:tc>
                  <a:txBody>
                    <a:bodyPr wrap="square"/>
                    <a:lstStyle/>
                    <a:p>
                      <a:pPr algn="ctr"/>
                      <a:r>
                        <a:rPr sz="1050" b="1" i="0">
                          <a:solidFill>
                            <a:srgbClr val="FFFFFF"/>
                          </a:solidFill>
                          <a:latin typeface="Arial"/>
                        </a:rPr>
                        <a:t>Nhóm vấn đề</a:t>
                      </a:r>
                    </a:p>
                  </a:txBody>
                  <a:tcPr marL="64008" marR="64008" marT="27432" marB="27432" anchor="ctr">
                    <a:solidFill>
                      <a:srgbClr val="A50064"/>
                    </a:solidFill>
                  </a:tcPr>
                </a:tc>
                <a:tc>
                  <a:txBody>
                    <a:bodyPr wrap="square"/>
                    <a:lstStyle/>
                    <a:p>
                      <a:pPr algn="ctr"/>
                      <a:r>
                        <a:rPr sz="1050" b="1" i="0">
                          <a:solidFill>
                            <a:srgbClr val="FFFFFF"/>
                          </a:solidFill>
                          <a:latin typeface="Arial"/>
                        </a:rPr>
                        <a:t>Tỷ trọng</a:t>
                      </a:r>
                    </a:p>
                  </a:txBody>
                  <a:tcPr marL="64008" marR="64008" marT="27432" marB="27432" anchor="ctr">
                    <a:solidFill>
                      <a:srgbClr val="A50064"/>
                    </a:solidFill>
                  </a:tcPr>
                </a:tc>
                <a:tc>
                  <a:txBody>
                    <a:bodyPr wrap="square"/>
                    <a:lstStyle/>
                    <a:p>
                      <a:pPr algn="ctr"/>
                      <a:r>
                        <a:rPr sz="1050" b="1" i="0">
                          <a:solidFill>
                            <a:srgbClr val="FFFFFF"/>
                          </a:solidFill>
                          <a:latin typeface="Arial"/>
                        </a:rPr>
                        <a:t>Lũy kế</a:t>
                      </a:r>
                    </a:p>
                  </a:txBody>
                  <a:tcPr marL="64008" marR="64008" marT="27432" marB="27432" anchor="ctr">
                    <a:solidFill>
                      <a:srgbClr val="A50064"/>
                    </a:solidFill>
                  </a:tcPr>
                </a:tc>
              </a:tr>
              <a:tr h="384048">
                <a:tc>
                  <a:txBody>
                    <a:bodyPr wrap="square"/>
                    <a:lstStyle/>
                    <a:p>
                      <a:pPr algn="l"/>
                      <a:r>
                        <a:rPr sz="1050" b="0" i="0">
                          <a:solidFill>
                            <a:srgbClr val="1F2430"/>
                          </a:solidFill>
                          <a:latin typeface="Arial"/>
                        </a:rPr>
                        <a:t>Hồ sơ pháp lý/điều kiện KM không chặt chẽ</a:t>
                      </a:r>
                    </a:p>
                  </a:txBody>
                  <a:tcPr marL="64008" marR="64008" marT="27432" marB="27432" anchor="ctr">
                    <a:solidFill>
                      <a:srgbClr val="FFFFFF"/>
                    </a:solidFill>
                  </a:tcPr>
                </a:tc>
                <a:tc>
                  <a:txBody>
                    <a:bodyPr wrap="square"/>
                    <a:lstStyle/>
                    <a:p>
                      <a:pPr algn="ctr"/>
                      <a:r>
                        <a:rPr sz="1050" b="0" i="0">
                          <a:solidFill>
                            <a:srgbClr val="1F2430"/>
                          </a:solidFill>
                          <a:latin typeface="Arial"/>
                        </a:rPr>
                        <a:t>29,41%</a:t>
                      </a:r>
                    </a:p>
                  </a:txBody>
                  <a:tcPr marL="64008" marR="64008" marT="27432" marB="27432" anchor="ctr">
                    <a:solidFill>
                      <a:srgbClr val="FFFFFF"/>
                    </a:solidFill>
                  </a:tcPr>
                </a:tc>
                <a:tc>
                  <a:txBody>
                    <a:bodyPr wrap="square"/>
                    <a:lstStyle/>
                    <a:p>
                      <a:pPr algn="ctr"/>
                      <a:r>
                        <a:rPr sz="1050" b="0" i="0">
                          <a:solidFill>
                            <a:srgbClr val="1F2430"/>
                          </a:solidFill>
                          <a:latin typeface="Arial"/>
                        </a:rPr>
                        <a:t>29,41%</a:t>
                      </a:r>
                    </a:p>
                  </a:txBody>
                  <a:tcPr marL="64008" marR="64008" marT="27432" marB="27432" anchor="ctr">
                    <a:solidFill>
                      <a:srgbClr val="FFFFFF"/>
                    </a:solidFill>
                  </a:tcPr>
                </a:tc>
              </a:tr>
              <a:tr h="384048">
                <a:tc>
                  <a:txBody>
                    <a:bodyPr wrap="square"/>
                    <a:lstStyle/>
                    <a:p>
                      <a:pPr algn="l"/>
                      <a:r>
                        <a:rPr sz="1050" b="0" i="0">
                          <a:solidFill>
                            <a:srgbClr val="1F2430"/>
                          </a:solidFill>
                          <a:latin typeface="Arial"/>
                        </a:rPr>
                        <a:t>Dữ liệu đầu vào thiếu sót</a:t>
                      </a:r>
                    </a:p>
                  </a:txBody>
                  <a:tcPr marL="64008" marR="64008" marT="27432" marB="27432" anchor="ctr">
                    <a:solidFill>
                      <a:srgbClr val="F4F4F7"/>
                    </a:solidFill>
                  </a:tcPr>
                </a:tc>
                <a:tc>
                  <a:txBody>
                    <a:bodyPr wrap="square"/>
                    <a:lstStyle/>
                    <a:p>
                      <a:pPr algn="ctr"/>
                      <a:r>
                        <a:rPr sz="1050" b="0" i="0">
                          <a:solidFill>
                            <a:srgbClr val="1F2430"/>
                          </a:solidFill>
                          <a:latin typeface="Arial"/>
                        </a:rPr>
                        <a:t>23,53%</a:t>
                      </a:r>
                    </a:p>
                  </a:txBody>
                  <a:tcPr marL="64008" marR="64008" marT="27432" marB="27432" anchor="ctr">
                    <a:solidFill>
                      <a:srgbClr val="F4F4F7"/>
                    </a:solidFill>
                  </a:tcPr>
                </a:tc>
                <a:tc>
                  <a:txBody>
                    <a:bodyPr wrap="square"/>
                    <a:lstStyle/>
                    <a:p>
                      <a:pPr algn="ctr"/>
                      <a:r>
                        <a:rPr sz="1050" b="0" i="0">
                          <a:solidFill>
                            <a:srgbClr val="1F2430"/>
                          </a:solidFill>
                          <a:latin typeface="Arial"/>
                        </a:rPr>
                        <a:t>52,94%</a:t>
                      </a:r>
                    </a:p>
                  </a:txBody>
                  <a:tcPr marL="64008" marR="64008" marT="27432" marB="27432" anchor="ctr">
                    <a:solidFill>
                      <a:srgbClr val="F4F4F7"/>
                    </a:solidFill>
                  </a:tcPr>
                </a:tc>
              </a:tr>
              <a:tr h="384048">
                <a:tc>
                  <a:txBody>
                    <a:bodyPr wrap="square"/>
                    <a:lstStyle/>
                    <a:p>
                      <a:pPr algn="l"/>
                      <a:r>
                        <a:rPr sz="1050" b="0" i="0">
                          <a:solidFill>
                            <a:srgbClr val="1F2430"/>
                          </a:solidFill>
                          <a:latin typeface="Arial"/>
                        </a:rPr>
                        <a:t>Lỗi cấu hình kỹ thuật</a:t>
                      </a:r>
                    </a:p>
                  </a:txBody>
                  <a:tcPr marL="64008" marR="64008" marT="27432" marB="27432" anchor="ctr">
                    <a:solidFill>
                      <a:srgbClr val="FFFFFF"/>
                    </a:solidFill>
                  </a:tcPr>
                </a:tc>
                <a:tc>
                  <a:txBody>
                    <a:bodyPr wrap="square"/>
                    <a:lstStyle/>
                    <a:p>
                      <a:pPr algn="ctr"/>
                      <a:r>
                        <a:rPr sz="1050" b="0" i="0">
                          <a:solidFill>
                            <a:srgbClr val="1F2430"/>
                          </a:solidFill>
                          <a:latin typeface="Arial"/>
                        </a:rPr>
                        <a:t>17,65%</a:t>
                      </a:r>
                    </a:p>
                  </a:txBody>
                  <a:tcPr marL="64008" marR="64008" marT="27432" marB="27432" anchor="ctr">
                    <a:solidFill>
                      <a:srgbClr val="FFFFFF"/>
                    </a:solidFill>
                  </a:tcPr>
                </a:tc>
                <a:tc>
                  <a:txBody>
                    <a:bodyPr wrap="square"/>
                    <a:lstStyle/>
                    <a:p>
                      <a:pPr algn="ctr"/>
                      <a:r>
                        <a:rPr sz="1050" b="0" i="0">
                          <a:solidFill>
                            <a:srgbClr val="1F2430"/>
                          </a:solidFill>
                          <a:latin typeface="Arial"/>
                        </a:rPr>
                        <a:t>70,59%</a:t>
                      </a:r>
                    </a:p>
                  </a:txBody>
                  <a:tcPr marL="64008" marR="64008" marT="27432" marB="27432" anchor="ctr">
                    <a:solidFill>
                      <a:srgbClr val="FFFFFF"/>
                    </a:solidFill>
                  </a:tcPr>
                </a:tc>
              </a:tr>
              <a:tr h="384048">
                <a:tc>
                  <a:txBody>
                    <a:bodyPr wrap="square"/>
                    <a:lstStyle/>
                    <a:p>
                      <a:pPr algn="l"/>
                      <a:r>
                        <a:rPr sz="1050" b="0" i="0">
                          <a:solidFill>
                            <a:srgbClr val="1F2430"/>
                          </a:solidFill>
                          <a:latin typeface="Arial"/>
                        </a:rPr>
                        <a:t>Mâu thuẫn cơ chế khuyến mãi</a:t>
                      </a:r>
                    </a:p>
                  </a:txBody>
                  <a:tcPr marL="64008" marR="64008" marT="27432" marB="27432" anchor="ctr">
                    <a:solidFill>
                      <a:srgbClr val="F4F4F7"/>
                    </a:solidFill>
                  </a:tcPr>
                </a:tc>
                <a:tc>
                  <a:txBody>
                    <a:bodyPr wrap="square"/>
                    <a:lstStyle/>
                    <a:p>
                      <a:pPr algn="ctr"/>
                      <a:r>
                        <a:rPr sz="1050" b="0" i="0">
                          <a:solidFill>
                            <a:srgbClr val="1F2430"/>
                          </a:solidFill>
                          <a:latin typeface="Arial"/>
                        </a:rPr>
                        <a:t>17,65%</a:t>
                      </a:r>
                    </a:p>
                  </a:txBody>
                  <a:tcPr marL="64008" marR="64008" marT="27432" marB="27432" anchor="ctr">
                    <a:solidFill>
                      <a:srgbClr val="F4F4F7"/>
                    </a:solidFill>
                  </a:tcPr>
                </a:tc>
                <a:tc>
                  <a:txBody>
                    <a:bodyPr wrap="square"/>
                    <a:lstStyle/>
                    <a:p>
                      <a:pPr algn="ctr"/>
                      <a:r>
                        <a:rPr sz="1050" b="0" i="0">
                          <a:solidFill>
                            <a:srgbClr val="1F2430"/>
                          </a:solidFill>
                          <a:latin typeface="Arial"/>
                        </a:rPr>
                        <a:t>88,24%</a:t>
                      </a:r>
                    </a:p>
                  </a:txBody>
                  <a:tcPr marL="64008" marR="64008" marT="27432" marB="27432" anchor="ctr">
                    <a:solidFill>
                      <a:srgbClr val="F4F4F7"/>
                    </a:solidFill>
                  </a:tcPr>
                </a:tc>
              </a:tr>
              <a:tr h="384048">
                <a:tc>
                  <a:txBody>
                    <a:bodyPr wrap="square"/>
                    <a:lstStyle/>
                    <a:p>
                      <a:pPr algn="l"/>
                      <a:r>
                        <a:rPr sz="1050" b="0" i="0">
                          <a:solidFill>
                            <a:srgbClr val="1F2430"/>
                          </a:solidFill>
                          <a:latin typeface="Arial"/>
                        </a:rPr>
                        <a:t>Sai chuẩn hóa cấu trúc giá</a:t>
                      </a:r>
                    </a:p>
                  </a:txBody>
                  <a:tcPr marL="64008" marR="64008" marT="27432" marB="27432" anchor="ctr">
                    <a:solidFill>
                      <a:srgbClr val="FFFFFF"/>
                    </a:solidFill>
                  </a:tcPr>
                </a:tc>
                <a:tc>
                  <a:txBody>
                    <a:bodyPr wrap="square"/>
                    <a:lstStyle/>
                    <a:p>
                      <a:pPr algn="ctr"/>
                      <a:r>
                        <a:rPr sz="1050" b="0" i="0">
                          <a:solidFill>
                            <a:srgbClr val="1F2430"/>
                          </a:solidFill>
                          <a:latin typeface="Arial"/>
                        </a:rPr>
                        <a:t>11,76%</a:t>
                      </a:r>
                    </a:p>
                  </a:txBody>
                  <a:tcPr marL="64008" marR="64008" marT="27432" marB="27432" anchor="ctr">
                    <a:solidFill>
                      <a:srgbClr val="FFFFFF"/>
                    </a:solidFill>
                  </a:tcPr>
                </a:tc>
                <a:tc>
                  <a:txBody>
                    <a:bodyPr wrap="square"/>
                    <a:lstStyle/>
                    <a:p>
                      <a:pPr algn="ctr"/>
                      <a:r>
                        <a:rPr sz="1050" b="0" i="0">
                          <a:solidFill>
                            <a:srgbClr val="1F2430"/>
                          </a:solidFill>
                          <a:latin typeface="Arial"/>
                        </a:rPr>
                        <a:t>100,00%</a:t>
                      </a:r>
                    </a:p>
                  </a:txBody>
                  <a:tcPr marL="64008" marR="64008" marT="27432" marB="27432" anchor="ctr">
                    <a:solidFill>
                      <a:srgbClr val="FFFFFF"/>
                    </a:solidFill>
                  </a:tcPr>
                </a:tc>
              </a:tr>
            </a:tbl>
          </a:graphicData>
        </a:graphic>
      </p:graphicFrame>
      <p:sp>
        <p:nvSpPr>
          <p:cNvPr id="11" name="TextBox 10"/>
          <p:cNvSpPr txBox="1"/>
          <p:nvPr/>
        </p:nvSpPr>
        <p:spPr>
          <a:xfrm>
            <a:off x="6205575" y="3950208"/>
            <a:ext cx="5483199" cy="914400"/>
          </a:xfrm>
          <a:prstGeom prst="rect">
            <a:avLst/>
          </a:prstGeom>
          <a:noFill/>
        </p:spPr>
        <p:txBody>
          <a:bodyPr wrap="square" lIns="0" rIns="0" tIns="0" bIns="0">
            <a:spAutoFit/>
          </a:bodyPr>
          <a:lstStyle/>
          <a:p>
            <a:pPr marL="219456" indent="-219456">
              <a:lnSpc>
                <a:spcPct val="112000"/>
              </a:lnSpc>
              <a:spcAft>
                <a:spcPts val="500"/>
              </a:spcAft>
            </a:pPr>
            <a:r>
              <a:rPr sz="1050" b="1" i="0">
                <a:solidFill>
                  <a:srgbClr val="A50064"/>
                </a:solidFill>
                <a:latin typeface="Arial"/>
              </a:rPr>
              <a:t>▸  </a:t>
            </a:r>
            <a:r>
              <a:rPr sz="1050" b="1" i="0">
                <a:solidFill>
                  <a:srgbClr val="1F2430"/>
                </a:solidFill>
                <a:latin typeface="Arial"/>
              </a:rPr>
              <a:t>Ba nhóm đầu chiếm lũy kế 70,59% </a:t>
            </a:r>
            <a:r>
              <a:rPr sz="1050" b="0" i="0">
                <a:solidFill>
                  <a:srgbClr val="1F2430"/>
                </a:solidFill>
                <a:latin typeface="Arial"/>
              </a:rPr>
              <a:t>→ là ưu tiên cải tiến hàng đầu theo nguyên tắc 80/20.</a:t>
            </a:r>
          </a:p>
        </p:txBody>
      </p:sp>
      <p:sp>
        <p:nvSpPr>
          <p:cNvPr id="12" name="Rounded Rectangle 11"/>
          <p:cNvSpPr/>
          <p:nvPr/>
        </p:nvSpPr>
        <p:spPr>
          <a:xfrm>
            <a:off x="502920" y="5541264"/>
            <a:ext cx="11185855" cy="676656"/>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704088" y="5641848"/>
            <a:ext cx="10783519" cy="493776"/>
          </a:xfrm>
          <a:prstGeom prst="rect">
            <a:avLst/>
          </a:prstGeom>
          <a:noFill/>
        </p:spPr>
        <p:txBody>
          <a:bodyPr wrap="square" lIns="0" rIns="0" tIns="0" bIns="0">
            <a:spAutoFit/>
          </a:bodyPr>
          <a:lstStyle/>
          <a:p>
            <a:pPr algn="l">
              <a:lnSpc>
                <a:spcPct val="100000"/>
              </a:lnSpc>
            </a:pPr>
            <a:r>
              <a:rPr sz="1050" b="0" i="0">
                <a:solidFill>
                  <a:srgbClr val="7A5000"/>
                </a:solidFill>
                <a:latin typeface="Arial"/>
              </a:rPr>
              <a:t>PHÁT HIỆN CHÍNH — Cả 5 hoạt động NVA của quy trình đều là bước làm lại, và ba nhóm vấn đề Pareto đứng đầu đều là lỗi chất lượng đầu vào. Hướng khắc phục vì vậy tập trung vào kiểm soát chất lượng ngay từ đầu: cổng tự kiểm tra cho hãng bay, checklist pháp lý bắt buộc, Maker-Checker và unit test tự động.</a:t>
            </a:r>
          </a:p>
        </p:txBody>
      </p:sp>
      <p:sp>
        <p:nvSpPr>
          <p:cNvPr id="14" name="TextBox 13"/>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5" name="TextBox 14"/>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4.3 · QUẢN TRỊ GIÁ (QUẢN LÝ)</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Phân tích định lượng — công thức vòng lặp, PCE, RTY và chi phí</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TextBox 5"/>
          <p:cNvSpPr txBox="1"/>
          <p:nvPr/>
        </p:nvSpPr>
        <p:spPr>
          <a:xfrm>
            <a:off x="502920" y="1389888"/>
            <a:ext cx="626407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a. THỜI GIAN — THỜI GIAN TRỄ DO LÀM LẠI</a:t>
            </a:r>
          </a:p>
        </p:txBody>
      </p:sp>
      <p:sp>
        <p:nvSpPr>
          <p:cNvPr id="7" name="TextBox 6"/>
          <p:cNvSpPr txBox="1"/>
          <p:nvPr/>
        </p:nvSpPr>
        <p:spPr>
          <a:xfrm>
            <a:off x="502920" y="1682496"/>
            <a:ext cx="6264078" cy="292608"/>
          </a:xfrm>
          <a:prstGeom prst="rect">
            <a:avLst/>
          </a:prstGeom>
          <a:noFill/>
        </p:spPr>
        <p:txBody>
          <a:bodyPr wrap="square" lIns="0" rIns="0" tIns="0" bIns="0">
            <a:spAutoFit/>
          </a:bodyPr>
          <a:lstStyle/>
          <a:p>
            <a:pPr algn="l">
              <a:lnSpc>
                <a:spcPct val="100000"/>
              </a:lnSpc>
            </a:pPr>
            <a:r>
              <a:rPr sz="1100" b="1" i="0">
                <a:solidFill>
                  <a:srgbClr val="1F2430"/>
                </a:solidFill>
                <a:latin typeface="Arial"/>
              </a:rPr>
              <a:t>Vòng lặp làm lại tuân theo công thức  CT = T/(1−r)  ⇒  T_trễ = CT − T = T × r/(1−r)</a:t>
            </a:r>
          </a:p>
        </p:txBody>
      </p:sp>
      <p:graphicFrame>
        <p:nvGraphicFramePr>
          <p:cNvPr id="8" name="Table 7"/>
          <p:cNvGraphicFramePr>
            <a:graphicFrameLocks noGrp="1"/>
          </p:cNvGraphicFramePr>
          <p:nvPr/>
        </p:nvGraphicFramePr>
        <p:xfrm>
          <a:off x="502920" y="2029967"/>
          <a:ext cx="6263640" cy="2176272"/>
        </p:xfrm>
        <a:graphic>
          <a:graphicData uri="http://schemas.openxmlformats.org/drawingml/2006/table">
            <a:tbl>
              <a:tblPr firstRow="1" bandRow="1">
                <a:tableStyleId>{5C22544A-7EE6-4342-B048-85BDC9FD1C3A}</a:tableStyleId>
              </a:tblPr>
              <a:tblGrid>
                <a:gridCol w="2606040"/>
                <a:gridCol w="685800"/>
                <a:gridCol w="914400"/>
                <a:gridCol w="1051560"/>
                <a:gridCol w="1005840"/>
              </a:tblGrid>
              <a:tr h="310896">
                <a:tc>
                  <a:txBody>
                    <a:bodyPr wrap="square"/>
                    <a:lstStyle/>
                    <a:p>
                      <a:pPr algn="ctr"/>
                      <a:r>
                        <a:rPr sz="1000" b="1" i="0">
                          <a:solidFill>
                            <a:srgbClr val="FFFFFF"/>
                          </a:solidFill>
                          <a:latin typeface="Arial"/>
                        </a:rPr>
                        <a:t>Nhánh làm lại</a:t>
                      </a:r>
                    </a:p>
                  </a:txBody>
                  <a:tcPr marL="64008" marR="64008" marT="27432" marB="27432" anchor="ctr">
                    <a:solidFill>
                      <a:srgbClr val="A50064"/>
                    </a:solidFill>
                  </a:tcPr>
                </a:tc>
                <a:tc>
                  <a:txBody>
                    <a:bodyPr wrap="square"/>
                    <a:lstStyle/>
                    <a:p>
                      <a:pPr algn="ctr"/>
                      <a:r>
                        <a:rPr sz="1000" b="1" i="0">
                          <a:solidFill>
                            <a:srgbClr val="FFFFFF"/>
                          </a:solidFill>
                          <a:latin typeface="Arial"/>
                        </a:rPr>
                        <a:t>r</a:t>
                      </a:r>
                    </a:p>
                  </a:txBody>
                  <a:tcPr marL="64008" marR="64008" marT="27432" marB="27432" anchor="ctr">
                    <a:solidFill>
                      <a:srgbClr val="A50064"/>
                    </a:solidFill>
                  </a:tcPr>
                </a:tc>
                <a:tc>
                  <a:txBody>
                    <a:bodyPr wrap="square"/>
                    <a:lstStyle/>
                    <a:p>
                      <a:pPr algn="ctr"/>
                      <a:r>
                        <a:rPr sz="1000" b="1" i="0">
                          <a:solidFill>
                            <a:srgbClr val="FFFFFF"/>
                          </a:solidFill>
                          <a:latin typeface="Arial"/>
                        </a:rPr>
                        <a:t>T (phút)</a:t>
                      </a:r>
                    </a:p>
                  </a:txBody>
                  <a:tcPr marL="64008" marR="64008" marT="27432" marB="27432" anchor="ctr">
                    <a:solidFill>
                      <a:srgbClr val="A50064"/>
                    </a:solidFill>
                  </a:tcPr>
                </a:tc>
                <a:tc>
                  <a:txBody>
                    <a:bodyPr wrap="square"/>
                    <a:lstStyle/>
                    <a:p>
                      <a:pPr algn="ctr"/>
                      <a:r>
                        <a:rPr sz="1000" b="1" i="0">
                          <a:solidFill>
                            <a:srgbClr val="FFFFFF"/>
                          </a:solidFill>
                          <a:latin typeface="Arial"/>
                        </a:rPr>
                        <a:t>r×T (sai)</a:t>
                      </a:r>
                    </a:p>
                  </a:txBody>
                  <a:tcPr marL="64008" marR="64008" marT="27432" marB="27432" anchor="ctr">
                    <a:solidFill>
                      <a:srgbClr val="A50064"/>
                    </a:solidFill>
                  </a:tcPr>
                </a:tc>
                <a:tc>
                  <a:txBody>
                    <a:bodyPr wrap="square"/>
                    <a:lstStyle/>
                    <a:p>
                      <a:pPr algn="ctr"/>
                      <a:r>
                        <a:rPr sz="1000" b="1" i="0">
                          <a:solidFill>
                            <a:srgbClr val="FFFFFF"/>
                          </a:solidFill>
                          <a:latin typeface="Arial"/>
                        </a:rPr>
                        <a:t>T×r/(1−r)</a:t>
                      </a:r>
                    </a:p>
                  </a:txBody>
                  <a:tcPr marL="64008" marR="64008" marT="27432" marB="27432" anchor="ctr">
                    <a:solidFill>
                      <a:srgbClr val="A50064"/>
                    </a:solidFill>
                  </a:tcPr>
                </a:tc>
              </a:tr>
              <a:tr h="310896">
                <a:tc>
                  <a:txBody>
                    <a:bodyPr wrap="square"/>
                    <a:lstStyle/>
                    <a:p>
                      <a:pPr algn="l"/>
                      <a:r>
                        <a:rPr sz="1000" b="0" i="0">
                          <a:solidFill>
                            <a:srgbClr val="1F2430"/>
                          </a:solidFill>
                          <a:latin typeface="Arial"/>
                        </a:rPr>
                        <a:t>Bổ sung dữ liệu Hãng bay</a:t>
                      </a:r>
                    </a:p>
                  </a:txBody>
                  <a:tcPr marL="64008" marR="64008" marT="27432" marB="27432" anchor="ctr">
                    <a:solidFill>
                      <a:srgbClr val="FFFFFF"/>
                    </a:solidFill>
                  </a:tcPr>
                </a:tc>
                <a:tc>
                  <a:txBody>
                    <a:bodyPr wrap="square"/>
                    <a:lstStyle/>
                    <a:p>
                      <a:pPr algn="ctr"/>
                      <a:r>
                        <a:rPr sz="1000" b="0" i="0">
                          <a:solidFill>
                            <a:srgbClr val="1F2430"/>
                          </a:solidFill>
                          <a:latin typeface="Arial"/>
                        </a:rPr>
                        <a:t>20%</a:t>
                      </a:r>
                    </a:p>
                  </a:txBody>
                  <a:tcPr marL="64008" marR="64008" marT="27432" marB="27432" anchor="ctr">
                    <a:solidFill>
                      <a:srgbClr val="FFFFFF"/>
                    </a:solidFill>
                  </a:tcPr>
                </a:tc>
                <a:tc>
                  <a:txBody>
                    <a:bodyPr wrap="square"/>
                    <a:lstStyle/>
                    <a:p>
                      <a:pPr algn="ctr"/>
                      <a:r>
                        <a:rPr sz="1000" b="0" i="0">
                          <a:solidFill>
                            <a:srgbClr val="1F2430"/>
                          </a:solidFill>
                          <a:latin typeface="Arial"/>
                        </a:rPr>
                        <a:t>60</a:t>
                      </a:r>
                    </a:p>
                  </a:txBody>
                  <a:tcPr marL="64008" marR="64008" marT="27432" marB="27432" anchor="ctr">
                    <a:solidFill>
                      <a:srgbClr val="FFFFFF"/>
                    </a:solidFill>
                  </a:tcPr>
                </a:tc>
                <a:tc>
                  <a:txBody>
                    <a:bodyPr wrap="square"/>
                    <a:lstStyle/>
                    <a:p>
                      <a:pPr algn="ctr"/>
                      <a:r>
                        <a:rPr sz="1000" b="0" i="0">
                          <a:solidFill>
                            <a:srgbClr val="1F2430"/>
                          </a:solidFill>
                          <a:latin typeface="Arial"/>
                        </a:rPr>
                        <a:t>12,0</a:t>
                      </a:r>
                    </a:p>
                  </a:txBody>
                  <a:tcPr marL="64008" marR="64008" marT="27432" marB="27432" anchor="ctr">
                    <a:solidFill>
                      <a:srgbClr val="FFFFFF"/>
                    </a:solidFill>
                  </a:tcPr>
                </a:tc>
                <a:tc>
                  <a:txBody>
                    <a:bodyPr wrap="square"/>
                    <a:lstStyle/>
                    <a:p>
                      <a:pPr algn="ctr"/>
                      <a:r>
                        <a:rPr sz="1000" b="0" i="0">
                          <a:solidFill>
                            <a:srgbClr val="1F2430"/>
                          </a:solidFill>
                          <a:latin typeface="Arial"/>
                        </a:rPr>
                        <a:t>15,00</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Sai chuẩn hóa</a:t>
                      </a:r>
                    </a:p>
                  </a:txBody>
                  <a:tcPr marL="64008" marR="64008" marT="27432" marB="27432" anchor="ctr">
                    <a:solidFill>
                      <a:srgbClr val="F4F4F7"/>
                    </a:solidFill>
                  </a:tcPr>
                </a:tc>
                <a:tc>
                  <a:txBody>
                    <a:bodyPr wrap="square"/>
                    <a:lstStyle/>
                    <a:p>
                      <a:pPr algn="ctr"/>
                      <a:r>
                        <a:rPr sz="1000" b="0" i="0">
                          <a:solidFill>
                            <a:srgbClr val="1F2430"/>
                          </a:solidFill>
                          <a:latin typeface="Arial"/>
                        </a:rPr>
                        <a:t>10%</a:t>
                      </a:r>
                    </a:p>
                  </a:txBody>
                  <a:tcPr marL="64008" marR="64008" marT="27432" marB="27432" anchor="ctr">
                    <a:solidFill>
                      <a:srgbClr val="F4F4F7"/>
                    </a:solidFill>
                  </a:tcPr>
                </a:tc>
                <a:tc>
                  <a:txBody>
                    <a:bodyPr wrap="square"/>
                    <a:lstStyle/>
                    <a:p>
                      <a:pPr algn="ctr"/>
                      <a:r>
                        <a:rPr sz="1000" b="0" i="0">
                          <a:solidFill>
                            <a:srgbClr val="1F2430"/>
                          </a:solidFill>
                          <a:latin typeface="Arial"/>
                        </a:rPr>
                        <a:t>45</a:t>
                      </a:r>
                    </a:p>
                  </a:txBody>
                  <a:tcPr marL="64008" marR="64008" marT="27432" marB="27432" anchor="ctr">
                    <a:solidFill>
                      <a:srgbClr val="F4F4F7"/>
                    </a:solidFill>
                  </a:tcPr>
                </a:tc>
                <a:tc>
                  <a:txBody>
                    <a:bodyPr wrap="square"/>
                    <a:lstStyle/>
                    <a:p>
                      <a:pPr algn="ctr"/>
                      <a:r>
                        <a:rPr sz="1000" b="0" i="0">
                          <a:solidFill>
                            <a:srgbClr val="1F2430"/>
                          </a:solidFill>
                          <a:latin typeface="Arial"/>
                        </a:rPr>
                        <a:t>4,5</a:t>
                      </a:r>
                    </a:p>
                  </a:txBody>
                  <a:tcPr marL="64008" marR="64008" marT="27432" marB="27432" anchor="ctr">
                    <a:solidFill>
                      <a:srgbClr val="F4F4F7"/>
                    </a:solidFill>
                  </a:tcPr>
                </a:tc>
                <a:tc>
                  <a:txBody>
                    <a:bodyPr wrap="square"/>
                    <a:lstStyle/>
                    <a:p>
                      <a:pPr algn="ctr"/>
                      <a:r>
                        <a:rPr sz="1000" b="0" i="0">
                          <a:solidFill>
                            <a:srgbClr val="1F2430"/>
                          </a:solidFill>
                          <a:latin typeface="Arial"/>
                        </a:rPr>
                        <a:t>5,00</a:t>
                      </a:r>
                    </a:p>
                  </a:txBody>
                  <a:tcPr marL="64008" marR="64008" marT="27432" marB="27432" anchor="ctr">
                    <a:solidFill>
                      <a:srgbClr val="F4F4F7"/>
                    </a:solidFill>
                  </a:tcPr>
                </a:tc>
              </a:tr>
              <a:tr h="310896">
                <a:tc>
                  <a:txBody>
                    <a:bodyPr wrap="square"/>
                    <a:lstStyle/>
                    <a:p>
                      <a:pPr algn="l"/>
                      <a:r>
                        <a:rPr sz="1000" b="0" i="0">
                          <a:solidFill>
                            <a:srgbClr val="1F2430"/>
                          </a:solidFill>
                          <a:latin typeface="Arial"/>
                        </a:rPr>
                        <a:t>Sai mục tiêu Marketing</a:t>
                      </a:r>
                    </a:p>
                  </a:txBody>
                  <a:tcPr marL="64008" marR="64008" marT="27432" marB="27432" anchor="ctr">
                    <a:solidFill>
                      <a:srgbClr val="FFFFFF"/>
                    </a:solidFill>
                  </a:tcPr>
                </a:tc>
                <a:tc>
                  <a:txBody>
                    <a:bodyPr wrap="square"/>
                    <a:lstStyle/>
                    <a:p>
                      <a:pPr algn="ctr"/>
                      <a:r>
                        <a:rPr sz="1000" b="0" i="0">
                          <a:solidFill>
                            <a:srgbClr val="1F2430"/>
                          </a:solidFill>
                          <a:latin typeface="Arial"/>
                        </a:rPr>
                        <a:t>15%</a:t>
                      </a:r>
                    </a:p>
                  </a:txBody>
                  <a:tcPr marL="64008" marR="64008" marT="27432" marB="27432" anchor="ctr">
                    <a:solidFill>
                      <a:srgbClr val="FFFFFF"/>
                    </a:solidFill>
                  </a:tcPr>
                </a:tc>
                <a:tc>
                  <a:txBody>
                    <a:bodyPr wrap="square"/>
                    <a:lstStyle/>
                    <a:p>
                      <a:pPr algn="ctr"/>
                      <a:r>
                        <a:rPr sz="1000" b="0" i="0">
                          <a:solidFill>
                            <a:srgbClr val="1F2430"/>
                          </a:solidFill>
                          <a:latin typeface="Arial"/>
                        </a:rPr>
                        <a:t>120</a:t>
                      </a:r>
                    </a:p>
                  </a:txBody>
                  <a:tcPr marL="64008" marR="64008" marT="27432" marB="27432" anchor="ctr">
                    <a:solidFill>
                      <a:srgbClr val="FFFFFF"/>
                    </a:solidFill>
                  </a:tcPr>
                </a:tc>
                <a:tc>
                  <a:txBody>
                    <a:bodyPr wrap="square"/>
                    <a:lstStyle/>
                    <a:p>
                      <a:pPr algn="ctr"/>
                      <a:r>
                        <a:rPr sz="1000" b="0" i="0">
                          <a:solidFill>
                            <a:srgbClr val="1F2430"/>
                          </a:solidFill>
                          <a:latin typeface="Arial"/>
                        </a:rPr>
                        <a:t>18,0</a:t>
                      </a:r>
                    </a:p>
                  </a:txBody>
                  <a:tcPr marL="64008" marR="64008" marT="27432" marB="27432" anchor="ctr">
                    <a:solidFill>
                      <a:srgbClr val="FFFFFF"/>
                    </a:solidFill>
                  </a:tcPr>
                </a:tc>
                <a:tc>
                  <a:txBody>
                    <a:bodyPr wrap="square"/>
                    <a:lstStyle/>
                    <a:p>
                      <a:pPr algn="ctr"/>
                      <a:r>
                        <a:rPr sz="1000" b="0" i="0">
                          <a:solidFill>
                            <a:srgbClr val="1F2430"/>
                          </a:solidFill>
                          <a:latin typeface="Arial"/>
                        </a:rPr>
                        <a:t>21,18</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Thiếu hồ sơ pháp lý</a:t>
                      </a:r>
                    </a:p>
                  </a:txBody>
                  <a:tcPr marL="64008" marR="64008" marT="27432" marB="27432" anchor="ctr">
                    <a:solidFill>
                      <a:srgbClr val="F4F4F7"/>
                    </a:solidFill>
                  </a:tcPr>
                </a:tc>
                <a:tc>
                  <a:txBody>
                    <a:bodyPr wrap="square"/>
                    <a:lstStyle/>
                    <a:p>
                      <a:pPr algn="ctr"/>
                      <a:r>
                        <a:rPr sz="1000" b="0" i="0">
                          <a:solidFill>
                            <a:srgbClr val="1F2430"/>
                          </a:solidFill>
                          <a:latin typeface="Arial"/>
                        </a:rPr>
                        <a:t>25%</a:t>
                      </a:r>
                    </a:p>
                  </a:txBody>
                  <a:tcPr marL="64008" marR="64008" marT="27432" marB="27432" anchor="ctr">
                    <a:solidFill>
                      <a:srgbClr val="F4F4F7"/>
                    </a:solidFill>
                  </a:tcPr>
                </a:tc>
                <a:tc>
                  <a:txBody>
                    <a:bodyPr wrap="square"/>
                    <a:lstStyle/>
                    <a:p>
                      <a:pPr algn="ctr"/>
                      <a:r>
                        <a:rPr sz="1000" b="0" i="0">
                          <a:solidFill>
                            <a:srgbClr val="1F2430"/>
                          </a:solidFill>
                          <a:latin typeface="Arial"/>
                        </a:rPr>
                        <a:t>90</a:t>
                      </a:r>
                    </a:p>
                  </a:txBody>
                  <a:tcPr marL="64008" marR="64008" marT="27432" marB="27432" anchor="ctr">
                    <a:solidFill>
                      <a:srgbClr val="F4F4F7"/>
                    </a:solidFill>
                  </a:tcPr>
                </a:tc>
                <a:tc>
                  <a:txBody>
                    <a:bodyPr wrap="square"/>
                    <a:lstStyle/>
                    <a:p>
                      <a:pPr algn="ctr"/>
                      <a:r>
                        <a:rPr sz="1000" b="0" i="0">
                          <a:solidFill>
                            <a:srgbClr val="1F2430"/>
                          </a:solidFill>
                          <a:latin typeface="Arial"/>
                        </a:rPr>
                        <a:t>22,5</a:t>
                      </a:r>
                    </a:p>
                  </a:txBody>
                  <a:tcPr marL="64008" marR="64008" marT="27432" marB="27432" anchor="ctr">
                    <a:solidFill>
                      <a:srgbClr val="F4F4F7"/>
                    </a:solidFill>
                  </a:tcPr>
                </a:tc>
                <a:tc>
                  <a:txBody>
                    <a:bodyPr wrap="square"/>
                    <a:lstStyle/>
                    <a:p>
                      <a:pPr algn="ctr"/>
                      <a:r>
                        <a:rPr sz="1000" b="0" i="0">
                          <a:solidFill>
                            <a:srgbClr val="1F2430"/>
                          </a:solidFill>
                          <a:latin typeface="Arial"/>
                        </a:rPr>
                        <a:t>30,00</a:t>
                      </a:r>
                    </a:p>
                  </a:txBody>
                  <a:tcPr marL="64008" marR="64008" marT="27432" marB="27432" anchor="ctr">
                    <a:solidFill>
                      <a:srgbClr val="F4F4F7"/>
                    </a:solidFill>
                  </a:tcPr>
                </a:tc>
              </a:tr>
              <a:tr h="310896">
                <a:tc>
                  <a:txBody>
                    <a:bodyPr wrap="square"/>
                    <a:lstStyle/>
                    <a:p>
                      <a:pPr algn="l"/>
                      <a:r>
                        <a:rPr sz="1000" b="0" i="0">
                          <a:solidFill>
                            <a:srgbClr val="1F2430"/>
                          </a:solidFill>
                          <a:latin typeface="Arial"/>
                        </a:rPr>
                        <a:t>Lỗi cấu hình phải sửa</a:t>
                      </a:r>
                    </a:p>
                  </a:txBody>
                  <a:tcPr marL="64008" marR="64008" marT="27432" marB="27432" anchor="ctr">
                    <a:solidFill>
                      <a:srgbClr val="FFFFFF"/>
                    </a:solidFill>
                  </a:tcPr>
                </a:tc>
                <a:tc>
                  <a:txBody>
                    <a:bodyPr wrap="square"/>
                    <a:lstStyle/>
                    <a:p>
                      <a:pPr algn="ctr"/>
                      <a:r>
                        <a:rPr sz="1000" b="0" i="0">
                          <a:solidFill>
                            <a:srgbClr val="1F2430"/>
                          </a:solidFill>
                          <a:latin typeface="Arial"/>
                        </a:rPr>
                        <a:t>15%</a:t>
                      </a:r>
                    </a:p>
                  </a:txBody>
                  <a:tcPr marL="64008" marR="64008" marT="27432" marB="27432" anchor="ctr">
                    <a:solidFill>
                      <a:srgbClr val="FFFFFF"/>
                    </a:solidFill>
                  </a:tcPr>
                </a:tc>
                <a:tc>
                  <a:txBody>
                    <a:bodyPr wrap="square"/>
                    <a:lstStyle/>
                    <a:p>
                      <a:pPr algn="ctr"/>
                      <a:r>
                        <a:rPr sz="1000" b="0" i="0">
                          <a:solidFill>
                            <a:srgbClr val="1F2430"/>
                          </a:solidFill>
                          <a:latin typeface="Arial"/>
                        </a:rPr>
                        <a:t>90</a:t>
                      </a:r>
                    </a:p>
                  </a:txBody>
                  <a:tcPr marL="64008" marR="64008" marT="27432" marB="27432" anchor="ctr">
                    <a:solidFill>
                      <a:srgbClr val="FFFFFF"/>
                    </a:solidFill>
                  </a:tcPr>
                </a:tc>
                <a:tc>
                  <a:txBody>
                    <a:bodyPr wrap="square"/>
                    <a:lstStyle/>
                    <a:p>
                      <a:pPr algn="ctr"/>
                      <a:r>
                        <a:rPr sz="1000" b="0" i="0">
                          <a:solidFill>
                            <a:srgbClr val="1F2430"/>
                          </a:solidFill>
                          <a:latin typeface="Arial"/>
                        </a:rPr>
                        <a:t>13,5</a:t>
                      </a:r>
                    </a:p>
                  </a:txBody>
                  <a:tcPr marL="64008" marR="64008" marT="27432" marB="27432" anchor="ctr">
                    <a:solidFill>
                      <a:srgbClr val="FFFFFF"/>
                    </a:solidFill>
                  </a:tcPr>
                </a:tc>
                <a:tc>
                  <a:txBody>
                    <a:bodyPr wrap="square"/>
                    <a:lstStyle/>
                    <a:p>
                      <a:pPr algn="ctr"/>
                      <a:r>
                        <a:rPr sz="1000" b="0" i="0">
                          <a:solidFill>
                            <a:srgbClr val="1F2430"/>
                          </a:solidFill>
                          <a:latin typeface="Arial"/>
                        </a:rPr>
                        <a:t>15,88</a:t>
                      </a:r>
                    </a:p>
                  </a:txBody>
                  <a:tcPr marL="64008" marR="64008" marT="27432" marB="27432" anchor="ctr">
                    <a:solidFill>
                      <a:srgbClr val="FFFFFF"/>
                    </a:solidFill>
                  </a:tcPr>
                </a:tc>
              </a:tr>
              <a:tr h="310896">
                <a:tc>
                  <a:txBody>
                    <a:bodyPr wrap="square"/>
                    <a:lstStyle/>
                    <a:p>
                      <a:pPr algn="l"/>
                      <a:r>
                        <a:rPr sz="1000" b="0" i="0">
                          <a:solidFill>
                            <a:srgbClr val="1F2430"/>
                          </a:solidFill>
                          <a:latin typeface="Arial"/>
                        </a:rPr>
                        <a:t>Tổng thời gian trễ</a:t>
                      </a:r>
                    </a:p>
                  </a:txBody>
                  <a:tcPr marL="64008" marR="64008" marT="27432" marB="27432" anchor="ctr">
                    <a:solidFill>
                      <a:srgbClr val="F4F4F7"/>
                    </a:solidFill>
                  </a:tcPr>
                </a:tc>
                <a:tc>
                  <a:txBody>
                    <a:bodyPr wrap="square"/>
                    <a:lstStyle/>
                    <a:p>
                      <a:pPr algn="ctr"/>
                      <a:r>
                        <a:rPr sz="1000" b="0" i="0">
                          <a:solidFill>
                            <a:srgbClr val="1F2430"/>
                          </a:solidFill>
                          <a:latin typeface="Arial"/>
                        </a:rPr>
                        <a:t/>
                      </a:r>
                    </a:p>
                  </a:txBody>
                  <a:tcPr marL="64008" marR="64008" marT="27432" marB="27432" anchor="ctr">
                    <a:solidFill>
                      <a:srgbClr val="F4F4F7"/>
                    </a:solidFill>
                  </a:tcPr>
                </a:tc>
                <a:tc>
                  <a:txBody>
                    <a:bodyPr wrap="square"/>
                    <a:lstStyle/>
                    <a:p>
                      <a:pPr algn="ctr"/>
                      <a:r>
                        <a:rPr sz="1000" b="0" i="0">
                          <a:solidFill>
                            <a:srgbClr val="1F2430"/>
                          </a:solidFill>
                          <a:latin typeface="Arial"/>
                        </a:rPr>
                        <a:t/>
                      </a:r>
                    </a:p>
                  </a:txBody>
                  <a:tcPr marL="64008" marR="64008" marT="27432" marB="27432" anchor="ctr">
                    <a:solidFill>
                      <a:srgbClr val="F4F4F7"/>
                    </a:solidFill>
                  </a:tcPr>
                </a:tc>
                <a:tc>
                  <a:txBody>
                    <a:bodyPr wrap="square"/>
                    <a:lstStyle/>
                    <a:p>
                      <a:pPr algn="ctr"/>
                      <a:r>
                        <a:rPr sz="1000" b="0" i="0">
                          <a:solidFill>
                            <a:srgbClr val="1F2430"/>
                          </a:solidFill>
                          <a:latin typeface="Arial"/>
                        </a:rPr>
                        <a:t>70,5</a:t>
                      </a:r>
                    </a:p>
                  </a:txBody>
                  <a:tcPr marL="64008" marR="64008" marT="27432" marB="27432" anchor="ctr">
                    <a:solidFill>
                      <a:srgbClr val="F4F4F7"/>
                    </a:solidFill>
                  </a:tcPr>
                </a:tc>
                <a:tc>
                  <a:txBody>
                    <a:bodyPr wrap="square"/>
                    <a:lstStyle/>
                    <a:p>
                      <a:pPr algn="ctr"/>
                      <a:r>
                        <a:rPr sz="1000" b="0" i="0">
                          <a:solidFill>
                            <a:srgbClr val="1F2430"/>
                          </a:solidFill>
                          <a:latin typeface="Arial"/>
                        </a:rPr>
                        <a:t>87,06</a:t>
                      </a:r>
                    </a:p>
                  </a:txBody>
                  <a:tcPr marL="64008" marR="64008" marT="27432" marB="27432" anchor="ctr">
                    <a:solidFill>
                      <a:srgbClr val="F4F4F7"/>
                    </a:solidFill>
                  </a:tcPr>
                </a:tc>
              </a:tr>
            </a:tbl>
          </a:graphicData>
        </a:graphic>
      </p:graphicFrame>
      <p:sp>
        <p:nvSpPr>
          <p:cNvPr id="9" name="TextBox 8"/>
          <p:cNvSpPr txBox="1"/>
          <p:nvPr/>
        </p:nvSpPr>
        <p:spPr>
          <a:xfrm>
            <a:off x="502920" y="4315968"/>
            <a:ext cx="6264078" cy="457200"/>
          </a:xfrm>
          <a:prstGeom prst="rect">
            <a:avLst/>
          </a:prstGeom>
          <a:noFill/>
        </p:spPr>
        <p:txBody>
          <a:bodyPr wrap="square" lIns="0" rIns="0" tIns="0" bIns="0">
            <a:spAutoFit/>
          </a:bodyPr>
          <a:lstStyle/>
          <a:p>
            <a:pPr algn="l">
              <a:lnSpc>
                <a:spcPct val="100000"/>
              </a:lnSpc>
            </a:pPr>
            <a:r>
              <a:rPr sz="1000" b="0" i="1">
                <a:solidFill>
                  <a:srgbClr val="5A6172"/>
                </a:solidFill>
                <a:latin typeface="Arial"/>
              </a:rPr>
              <a:t>Cách tính cũ (chỉ nhân xác suất với thời gian) bỏ sót khả năng một nhánh phải làm lại nhiều hơn một lần; công thức vòng lặp khắc phục điều đó — chênh lệch 70,5 so với 87,06 phút.</a:t>
            </a:r>
          </a:p>
        </p:txBody>
      </p:sp>
      <p:sp>
        <p:nvSpPr>
          <p:cNvPr id="10" name="Rounded Rectangle 9"/>
          <p:cNvSpPr/>
          <p:nvPr/>
        </p:nvSpPr>
        <p:spPr>
          <a:xfrm>
            <a:off x="6931590" y="1389888"/>
            <a:ext cx="4757184" cy="157276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7132758" y="1536192"/>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HIỆU SUẤT CHU KỲ QUY TRÌNH (PCE)</a:t>
            </a:r>
          </a:p>
        </p:txBody>
      </p:sp>
      <p:sp>
        <p:nvSpPr>
          <p:cNvPr id="12" name="TextBox 11"/>
          <p:cNvSpPr txBox="1"/>
          <p:nvPr/>
        </p:nvSpPr>
        <p:spPr>
          <a:xfrm>
            <a:off x="7132758" y="1865376"/>
            <a:ext cx="4354848" cy="950976"/>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Happy Path </a:t>
            </a:r>
            <a:r>
              <a:rPr sz="1050" b="0" i="0">
                <a:solidFill>
                  <a:srgbClr val="1F2430"/>
                </a:solidFill>
                <a:latin typeface="Arial"/>
              </a:rPr>
              <a:t>= 940 phút (≈ 15,6 giờ)</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T_ck trung bình </a:t>
            </a:r>
            <a:r>
              <a:rPr sz="1050" b="0" i="0">
                <a:solidFill>
                  <a:srgbClr val="1F2430"/>
                </a:solidFill>
                <a:latin typeface="Arial"/>
              </a:rPr>
              <a:t>= 940 + 87,06 ≈ 1.027,06 phút (≈ 17,1 giờ)</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Thời gian tạo giá trị </a:t>
            </a:r>
            <a:r>
              <a:rPr sz="1050" b="0" i="0">
                <a:solidFill>
                  <a:srgbClr val="1F2430"/>
                </a:solidFill>
                <a:latin typeface="Arial"/>
              </a:rPr>
              <a:t>= 465 phút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PCE = 465/1.027,06 ≈ 45,28%</a:t>
            </a:r>
            <a:r>
              <a:rPr sz="1050" b="0" i="0">
                <a:solidFill>
                  <a:srgbClr val="1F2430"/>
                </a:solidFill>
                <a:latin typeface="Arial"/>
              </a:rPr>
              <a:t/>
            </a:r>
          </a:p>
        </p:txBody>
      </p:sp>
      <p:sp>
        <p:nvSpPr>
          <p:cNvPr id="13" name="Rounded Rectangle 12"/>
          <p:cNvSpPr/>
          <p:nvPr/>
        </p:nvSpPr>
        <p:spPr>
          <a:xfrm>
            <a:off x="6931590" y="3090672"/>
            <a:ext cx="4757184" cy="1188720"/>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132758" y="3236976"/>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B. CHẤT LƯỢNG — RTY</a:t>
            </a:r>
          </a:p>
        </p:txBody>
      </p:sp>
      <p:sp>
        <p:nvSpPr>
          <p:cNvPr id="15" name="TextBox 14"/>
          <p:cNvSpPr txBox="1"/>
          <p:nvPr/>
        </p:nvSpPr>
        <p:spPr>
          <a:xfrm>
            <a:off x="7132758" y="3566160"/>
            <a:ext cx="4354848" cy="566928"/>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RTY = 80% × 90% × 85% × 75% × 85% ≈ 39,01%</a:t>
            </a:r>
            <a:r>
              <a:rPr sz="1050" b="0" i="0">
                <a:solidFill>
                  <a:srgbClr val="1F2430"/>
                </a:solidFill>
                <a:latin typeface="Arial"/>
              </a:rPr>
              <a:t/>
            </a:r>
          </a:p>
          <a:p>
            <a:pPr marL="219456" indent="-219456">
              <a:lnSpc>
                <a:spcPct val="112000"/>
              </a:lnSpc>
              <a:spcAft>
                <a:spcPts val="400"/>
              </a:spcAft>
            </a:pPr>
            <a:r>
              <a:rPr sz="1050" b="1" i="0">
                <a:solidFill>
                  <a:srgbClr val="A50064"/>
                </a:solidFill>
                <a:latin typeface="Arial"/>
              </a:rPr>
              <a:t>▸  </a:t>
            </a:r>
            <a:r>
              <a:rPr sz="1050" b="0" i="0">
                <a:solidFill>
                  <a:srgbClr val="1F2430"/>
                </a:solidFill>
                <a:latin typeface="Arial"/>
              </a:rPr>
              <a:t>Chỉ ~39% chiến dịch được thiết lập hoàn hảo ngay lần đầu, không phải quay lại bất kỳ khâu nào.</a:t>
            </a:r>
          </a:p>
        </p:txBody>
      </p:sp>
      <p:sp>
        <p:nvSpPr>
          <p:cNvPr id="16" name="Rounded Rectangle 15"/>
          <p:cNvSpPr/>
          <p:nvPr/>
        </p:nvSpPr>
        <p:spPr>
          <a:xfrm>
            <a:off x="6931590" y="4389120"/>
            <a:ext cx="4757184" cy="1115568"/>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132758" y="4535424"/>
            <a:ext cx="4354848"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C. CHI PHÍ</a:t>
            </a:r>
          </a:p>
        </p:txBody>
      </p:sp>
      <p:sp>
        <p:nvSpPr>
          <p:cNvPr id="18" name="TextBox 17"/>
          <p:cNvSpPr txBox="1"/>
          <p:nvPr/>
        </p:nvSpPr>
        <p:spPr>
          <a:xfrm>
            <a:off x="7132758" y="4864608"/>
            <a:ext cx="4354848" cy="493775"/>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Chi phí nhân công Happy Path </a:t>
            </a:r>
            <a:r>
              <a:rPr sz="1050" b="0" i="0">
                <a:solidFill>
                  <a:srgbClr val="1F2430"/>
                </a:solidFill>
                <a:latin typeface="Arial"/>
              </a:rPr>
              <a:t>≈ 1.413.600 đồng/chiến dịch</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Chi phí cho hoạt động VA </a:t>
            </a:r>
            <a:r>
              <a:rPr sz="1050" b="0" i="0">
                <a:solidFill>
                  <a:srgbClr val="1F2430"/>
                </a:solidFill>
                <a:latin typeface="Arial"/>
              </a:rPr>
              <a:t>= 752.000 đồng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Hiệu suất chi phí = 53,2%</a:t>
            </a:r>
            <a:r>
              <a:rPr sz="1050" b="0" i="0">
                <a:solidFill>
                  <a:srgbClr val="1F2430"/>
                </a:solidFill>
                <a:latin typeface="Arial"/>
              </a:rPr>
              <a:t/>
            </a:r>
          </a:p>
        </p:txBody>
      </p:sp>
      <p:sp>
        <p:nvSpPr>
          <p:cNvPr id="19" name="Rounded Rectangle 18"/>
          <p:cNvSpPr/>
          <p:nvPr/>
        </p:nvSpPr>
        <p:spPr>
          <a:xfrm>
            <a:off x="502920" y="5632704"/>
            <a:ext cx="11185855" cy="64008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4088" y="5733288"/>
            <a:ext cx="10783519" cy="457199"/>
          </a:xfrm>
          <a:prstGeom prst="rect">
            <a:avLst/>
          </a:prstGeom>
          <a:noFill/>
        </p:spPr>
        <p:txBody>
          <a:bodyPr wrap="square" lIns="0" rIns="0" tIns="0" bIns="0">
            <a:spAutoFit/>
          </a:bodyPr>
          <a:lstStyle/>
          <a:p>
            <a:pPr algn="l">
              <a:lnSpc>
                <a:spcPct val="100000"/>
              </a:lnSpc>
            </a:pPr>
            <a:r>
              <a:rPr sz="1000" b="0" i="0">
                <a:solidFill>
                  <a:srgbClr val="7A5000"/>
                </a:solidFill>
                <a:latin typeface="Arial"/>
              </a:rPr>
              <a:t>KẾT LUẬN — Hơn một nửa thời gian và gần một nửa chi phí nhân sự của quy trình bị tiêu cho kiểm duyệt, chuẩn hóa và chờ đợi. Ưu tiên cải tiến theo thứ tự tác động tới RTY: nâng chất lượng đầu vào 80%→95%, hồ sơ pháp lý 75%→95%, cấu hình 85%→98%. Số liệu định lượng là số liệu giả định mang tính minh họa do nhóm xây dựng — không phải số liệu vận hành do MoMo công bố.</a:t>
            </a:r>
          </a:p>
        </p:txBody>
      </p:sp>
      <p:sp>
        <p:nvSpPr>
          <p:cNvPr id="21" name="TextBox 20"/>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2" name="TextBox 21"/>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TỔNG KẾT</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Bảng so sánh ba quy trình được phân tích chuyên sâu</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graphicFrame>
        <p:nvGraphicFramePr>
          <p:cNvPr id="6" name="Table 5"/>
          <p:cNvGraphicFramePr>
            <a:graphicFrameLocks noGrp="1"/>
          </p:cNvGraphicFramePr>
          <p:nvPr/>
        </p:nvGraphicFramePr>
        <p:xfrm>
          <a:off x="502920" y="1389888"/>
          <a:ext cx="11183112" cy="3291840"/>
        </p:xfrm>
        <a:graphic>
          <a:graphicData uri="http://schemas.openxmlformats.org/drawingml/2006/table">
            <a:tbl>
              <a:tblPr firstRow="1" bandRow="1">
                <a:tableStyleId>{5C22544A-7EE6-4342-B048-85BDC9FD1C3A}</a:tableStyleId>
              </a:tblPr>
              <a:tblGrid>
                <a:gridCol w="2514600"/>
                <a:gridCol w="2788920"/>
                <a:gridCol w="2926080"/>
                <a:gridCol w="2953512"/>
              </a:tblGrid>
              <a:tr h="365760">
                <a:tc>
                  <a:txBody>
                    <a:bodyPr wrap="square"/>
                    <a:lstStyle/>
                    <a:p>
                      <a:pPr algn="ctr"/>
                      <a:r>
                        <a:rPr sz="1050" b="1" i="0">
                          <a:solidFill>
                            <a:srgbClr val="FFFFFF"/>
                          </a:solidFill>
                          <a:latin typeface="Arial"/>
                        </a:rPr>
                        <a:t>Tiêu chí</a:t>
                      </a:r>
                    </a:p>
                  </a:txBody>
                  <a:tcPr marL="64008" marR="64008" marT="27432" marB="27432" anchor="ctr">
                    <a:solidFill>
                      <a:srgbClr val="A50064"/>
                    </a:solidFill>
                  </a:tcPr>
                </a:tc>
                <a:tc>
                  <a:txBody>
                    <a:bodyPr wrap="square"/>
                    <a:lstStyle/>
                    <a:p>
                      <a:pPr algn="ctr"/>
                      <a:r>
                        <a:rPr sz="1050" b="1" i="0">
                          <a:solidFill>
                            <a:srgbClr val="FFFFFF"/>
                          </a:solidFill>
                          <a:latin typeface="Arial"/>
                        </a:rPr>
                        <a:t>Tìm kiếm – đặt vé</a:t>
                      </a:r>
                    </a:p>
                  </a:txBody>
                  <a:tcPr marL="64008" marR="64008" marT="27432" marB="27432" anchor="ctr">
                    <a:solidFill>
                      <a:srgbClr val="A50064"/>
                    </a:solidFill>
                  </a:tcPr>
                </a:tc>
                <a:tc>
                  <a:txBody>
                    <a:bodyPr wrap="square"/>
                    <a:lstStyle/>
                    <a:p>
                      <a:pPr algn="ctr"/>
                      <a:r>
                        <a:rPr sz="1050" b="1" i="0">
                          <a:solidFill>
                            <a:srgbClr val="FFFFFF"/>
                          </a:solidFill>
                          <a:latin typeface="Arial"/>
                        </a:rPr>
                        <a:t>Hỗ trợ khách hàng (khiếu nại)</a:t>
                      </a:r>
                    </a:p>
                  </a:txBody>
                  <a:tcPr marL="64008" marR="64008" marT="27432" marB="27432" anchor="ctr">
                    <a:solidFill>
                      <a:srgbClr val="A50064"/>
                    </a:solidFill>
                  </a:tcPr>
                </a:tc>
                <a:tc>
                  <a:txBody>
                    <a:bodyPr wrap="square"/>
                    <a:lstStyle/>
                    <a:p>
                      <a:pPr algn="ctr"/>
                      <a:r>
                        <a:rPr sz="1050" b="1" i="0">
                          <a:solidFill>
                            <a:srgbClr val="FFFFFF"/>
                          </a:solidFill>
                          <a:latin typeface="Arial"/>
                        </a:rPr>
                        <a:t>Quản trị giá</a:t>
                      </a:r>
                    </a:p>
                  </a:txBody>
                  <a:tcPr marL="64008" marR="64008" marT="27432" marB="27432" anchor="ctr">
                    <a:solidFill>
                      <a:srgbClr val="A50064"/>
                    </a:solidFill>
                  </a:tcPr>
                </a:tc>
              </a:tr>
              <a:tr h="365760">
                <a:tc>
                  <a:txBody>
                    <a:bodyPr wrap="square"/>
                    <a:lstStyle/>
                    <a:p>
                      <a:pPr algn="l"/>
                      <a:r>
                        <a:rPr sz="1050" b="0" i="0">
                          <a:solidFill>
                            <a:srgbClr val="1F2430"/>
                          </a:solidFill>
                          <a:latin typeface="Arial"/>
                        </a:rPr>
                        <a:t>Nhóm quy trình</a:t>
                      </a:r>
                    </a:p>
                  </a:txBody>
                  <a:tcPr marL="64008" marR="64008" marT="27432" marB="27432" anchor="ctr">
                    <a:solidFill>
                      <a:srgbClr val="FFFFFF"/>
                    </a:solidFill>
                  </a:tcPr>
                </a:tc>
                <a:tc>
                  <a:txBody>
                    <a:bodyPr wrap="square"/>
                    <a:lstStyle/>
                    <a:p>
                      <a:pPr algn="ctr"/>
                      <a:r>
                        <a:rPr sz="1050" b="0" i="0">
                          <a:solidFill>
                            <a:srgbClr val="1F2430"/>
                          </a:solidFill>
                          <a:latin typeface="Arial"/>
                        </a:rPr>
                        <a:t>Cốt lõi</a:t>
                      </a:r>
                    </a:p>
                  </a:txBody>
                  <a:tcPr marL="64008" marR="64008" marT="27432" marB="27432" anchor="ctr">
                    <a:solidFill>
                      <a:srgbClr val="FFFFFF"/>
                    </a:solidFill>
                  </a:tcPr>
                </a:tc>
                <a:tc>
                  <a:txBody>
                    <a:bodyPr wrap="square"/>
                    <a:lstStyle/>
                    <a:p>
                      <a:pPr algn="ctr"/>
                      <a:r>
                        <a:rPr sz="1050" b="0" i="0">
                          <a:solidFill>
                            <a:srgbClr val="1F2430"/>
                          </a:solidFill>
                          <a:latin typeface="Arial"/>
                        </a:rPr>
                        <a:t>Hỗ trợ</a:t>
                      </a:r>
                    </a:p>
                  </a:txBody>
                  <a:tcPr marL="64008" marR="64008" marT="27432" marB="27432" anchor="ctr">
                    <a:solidFill>
                      <a:srgbClr val="FFFFFF"/>
                    </a:solidFill>
                  </a:tcPr>
                </a:tc>
                <a:tc>
                  <a:txBody>
                    <a:bodyPr wrap="square"/>
                    <a:lstStyle/>
                    <a:p>
                      <a:pPr algn="ctr"/>
                      <a:r>
                        <a:rPr sz="1050" b="0" i="0">
                          <a:solidFill>
                            <a:srgbClr val="1F2430"/>
                          </a:solidFill>
                          <a:latin typeface="Arial"/>
                        </a:rPr>
                        <a:t>Quản lý</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Số làn – cổng điều kiện</a:t>
                      </a:r>
                    </a:p>
                  </a:txBody>
                  <a:tcPr marL="64008" marR="64008" marT="27432" marB="27432" anchor="ctr">
                    <a:solidFill>
                      <a:srgbClr val="F4F4F7"/>
                    </a:solidFill>
                  </a:tcPr>
                </a:tc>
                <a:tc>
                  <a:txBody>
                    <a:bodyPr wrap="square"/>
                    <a:lstStyle/>
                    <a:p>
                      <a:pPr algn="ctr"/>
                      <a:r>
                        <a:rPr sz="1050" b="0" i="0">
                          <a:solidFill>
                            <a:srgbClr val="1F2430"/>
                          </a:solidFill>
                          <a:latin typeface="Arial"/>
                        </a:rPr>
                        <a:t>4 làn – 19 cổng</a:t>
                      </a:r>
                    </a:p>
                  </a:txBody>
                  <a:tcPr marL="64008" marR="64008" marT="27432" marB="27432" anchor="ctr">
                    <a:solidFill>
                      <a:srgbClr val="F4F4F7"/>
                    </a:solidFill>
                  </a:tcPr>
                </a:tc>
                <a:tc>
                  <a:txBody>
                    <a:bodyPr wrap="square"/>
                    <a:lstStyle/>
                    <a:p>
                      <a:pPr algn="ctr"/>
                      <a:r>
                        <a:rPr sz="1050" b="0" i="0">
                          <a:solidFill>
                            <a:srgbClr val="1F2430"/>
                          </a:solidFill>
                          <a:latin typeface="Arial"/>
                        </a:rPr>
                        <a:t>4 làn – 9 cổng</a:t>
                      </a:r>
                    </a:p>
                  </a:txBody>
                  <a:tcPr marL="64008" marR="64008" marT="27432" marB="27432" anchor="ctr">
                    <a:solidFill>
                      <a:srgbClr val="F4F4F7"/>
                    </a:solidFill>
                  </a:tcPr>
                </a:tc>
                <a:tc>
                  <a:txBody>
                    <a:bodyPr wrap="square"/>
                    <a:lstStyle/>
                    <a:p>
                      <a:pPr algn="ctr"/>
                      <a:r>
                        <a:rPr sz="1050" b="0" i="0">
                          <a:solidFill>
                            <a:srgbClr val="1F2430"/>
                          </a:solidFill>
                          <a:latin typeface="Arial"/>
                        </a:rPr>
                        <a:t>6 làn – 9 cổng</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Thời gian chu kỳ</a:t>
                      </a:r>
                    </a:p>
                  </a:txBody>
                  <a:tcPr marL="64008" marR="64008" marT="27432" marB="27432" anchor="ctr">
                    <a:solidFill>
                      <a:srgbClr val="FFFFFF"/>
                    </a:solidFill>
                  </a:tcPr>
                </a:tc>
                <a:tc>
                  <a:txBody>
                    <a:bodyPr wrap="square"/>
                    <a:lstStyle/>
                    <a:p>
                      <a:pPr algn="ctr"/>
                      <a:r>
                        <a:rPr sz="1050" b="0" i="0">
                          <a:solidFill>
                            <a:srgbClr val="1F2430"/>
                          </a:solidFill>
                          <a:latin typeface="Arial"/>
                        </a:rPr>
                        <a:t>107,2 giây/phiên</a:t>
                      </a:r>
                    </a:p>
                  </a:txBody>
                  <a:tcPr marL="64008" marR="64008" marT="27432" marB="27432" anchor="ctr">
                    <a:solidFill>
                      <a:srgbClr val="FFFFFF"/>
                    </a:solidFill>
                  </a:tcPr>
                </a:tc>
                <a:tc>
                  <a:txBody>
                    <a:bodyPr wrap="square"/>
                    <a:lstStyle/>
                    <a:p>
                      <a:pPr algn="ctr"/>
                      <a:r>
                        <a:rPr sz="1050" b="0" i="0">
                          <a:solidFill>
                            <a:srgbClr val="1F2430"/>
                          </a:solidFill>
                          <a:latin typeface="Arial"/>
                        </a:rPr>
                        <a:t>4,23 giờ/ca</a:t>
                      </a:r>
                    </a:p>
                  </a:txBody>
                  <a:tcPr marL="64008" marR="64008" marT="27432" marB="27432" anchor="ctr">
                    <a:solidFill>
                      <a:srgbClr val="FFFFFF"/>
                    </a:solidFill>
                  </a:tcPr>
                </a:tc>
                <a:tc>
                  <a:txBody>
                    <a:bodyPr wrap="square"/>
                    <a:lstStyle/>
                    <a:p>
                      <a:pPr algn="ctr"/>
                      <a:r>
                        <a:rPr sz="1050" b="0" i="0">
                          <a:solidFill>
                            <a:srgbClr val="1F2430"/>
                          </a:solidFill>
                          <a:latin typeface="Arial"/>
                        </a:rPr>
                        <a:t>1.027 phút ≈ 17,1 giờ/chiến dịch</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Hiệu suất thời gian</a:t>
                      </a:r>
                    </a:p>
                  </a:txBody>
                  <a:tcPr marL="64008" marR="64008" marT="27432" marB="27432" anchor="ctr">
                    <a:solidFill>
                      <a:srgbClr val="F4F4F7"/>
                    </a:solidFill>
                  </a:tcPr>
                </a:tc>
                <a:tc>
                  <a:txBody>
                    <a:bodyPr wrap="square"/>
                    <a:lstStyle/>
                    <a:p>
                      <a:pPr algn="ctr"/>
                      <a:r>
                        <a:rPr sz="1050" b="0" i="0">
                          <a:solidFill>
                            <a:srgbClr val="1F2430"/>
                          </a:solidFill>
                          <a:latin typeface="Arial"/>
                        </a:rPr>
                        <a:t>95,9%</a:t>
                      </a:r>
                    </a:p>
                  </a:txBody>
                  <a:tcPr marL="64008" marR="64008" marT="27432" marB="27432" anchor="ctr">
                    <a:solidFill>
                      <a:srgbClr val="F4F4F7"/>
                    </a:solidFill>
                  </a:tcPr>
                </a:tc>
                <a:tc>
                  <a:txBody>
                    <a:bodyPr wrap="square"/>
                    <a:lstStyle/>
                    <a:p>
                      <a:pPr algn="ctr"/>
                      <a:r>
                        <a:rPr sz="1050" b="0" i="0">
                          <a:solidFill>
                            <a:srgbClr val="1F2430"/>
                          </a:solidFill>
                          <a:latin typeface="Arial"/>
                        </a:rPr>
                        <a:t>43,3%</a:t>
                      </a:r>
                    </a:p>
                  </a:txBody>
                  <a:tcPr marL="64008" marR="64008" marT="27432" marB="27432" anchor="ctr">
                    <a:solidFill>
                      <a:srgbClr val="F4F4F7"/>
                    </a:solidFill>
                  </a:tcPr>
                </a:tc>
                <a:tc>
                  <a:txBody>
                    <a:bodyPr wrap="square"/>
                    <a:lstStyle/>
                    <a:p>
                      <a:pPr algn="ctr"/>
                      <a:r>
                        <a:rPr sz="1050" b="0" i="0">
                          <a:solidFill>
                            <a:srgbClr val="1F2430"/>
                          </a:solidFill>
                          <a:latin typeface="Arial"/>
                        </a:rPr>
                        <a:t>PCE 45,28%</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Cơ cấu giá trị gia tăng</a:t>
                      </a:r>
                    </a:p>
                  </a:txBody>
                  <a:tcPr marL="64008" marR="64008" marT="27432" marB="27432" anchor="ctr">
                    <a:solidFill>
                      <a:srgbClr val="FFFFFF"/>
                    </a:solidFill>
                  </a:tcPr>
                </a:tc>
                <a:tc>
                  <a:txBody>
                    <a:bodyPr wrap="square"/>
                    <a:lstStyle/>
                    <a:p>
                      <a:pPr algn="ctr"/>
                      <a:r>
                        <a:rPr sz="1050" b="0" i="0">
                          <a:solidFill>
                            <a:srgbClr val="1F2430"/>
                          </a:solidFill>
                          <a:latin typeface="Arial"/>
                        </a:rPr>
                        <a:t>5 VA – 8 BVA – 3 NVA</a:t>
                      </a:r>
                    </a:p>
                  </a:txBody>
                  <a:tcPr marL="64008" marR="64008" marT="27432" marB="27432" anchor="ctr">
                    <a:solidFill>
                      <a:srgbClr val="FFFFFF"/>
                    </a:solidFill>
                  </a:tcPr>
                </a:tc>
                <a:tc>
                  <a:txBody>
                    <a:bodyPr wrap="square"/>
                    <a:lstStyle/>
                    <a:p>
                      <a:pPr algn="ctr"/>
                      <a:r>
                        <a:rPr sz="1050" b="0" i="0">
                          <a:solidFill>
                            <a:srgbClr val="1F2430"/>
                          </a:solidFill>
                          <a:latin typeface="Arial"/>
                        </a:rPr>
                        <a:t>NVA: soạn phản hồi từ chối</a:t>
                      </a:r>
                    </a:p>
                  </a:txBody>
                  <a:tcPr marL="64008" marR="64008" marT="27432" marB="27432" anchor="ctr">
                    <a:solidFill>
                      <a:srgbClr val="FFFFFF"/>
                    </a:solidFill>
                  </a:tcPr>
                </a:tc>
                <a:tc>
                  <a:txBody>
                    <a:bodyPr wrap="square"/>
                    <a:lstStyle/>
                    <a:p>
                      <a:pPr algn="ctr"/>
                      <a:r>
                        <a:rPr sz="1050" b="0" i="0">
                          <a:solidFill>
                            <a:srgbClr val="1F2430"/>
                          </a:solidFill>
                          <a:latin typeface="Arial"/>
                        </a:rPr>
                        <a:t>4 VA – 14 BVA – 5 NVA</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Nhóm lãng phí trội</a:t>
                      </a:r>
                    </a:p>
                  </a:txBody>
                  <a:tcPr marL="64008" marR="64008" marT="27432" marB="27432" anchor="ctr">
                    <a:solidFill>
                      <a:srgbClr val="F4F4F7"/>
                    </a:solidFill>
                  </a:tcPr>
                </a:tc>
                <a:tc>
                  <a:txBody>
                    <a:bodyPr wrap="square"/>
                    <a:lstStyle/>
                    <a:p>
                      <a:pPr algn="ctr"/>
                      <a:r>
                        <a:rPr sz="1050" b="0" i="0">
                          <a:solidFill>
                            <a:srgbClr val="1F2430"/>
                          </a:solidFill>
                          <a:latin typeface="Arial"/>
                        </a:rPr>
                        <a:t>Overdo (3/6 biểu hiện)</a:t>
                      </a:r>
                    </a:p>
                  </a:txBody>
                  <a:tcPr marL="64008" marR="64008" marT="27432" marB="27432" anchor="ctr">
                    <a:solidFill>
                      <a:srgbClr val="F4F4F7"/>
                    </a:solidFill>
                  </a:tcPr>
                </a:tc>
                <a:tc>
                  <a:txBody>
                    <a:bodyPr wrap="square"/>
                    <a:lstStyle/>
                    <a:p>
                      <a:pPr algn="ctr"/>
                      <a:r>
                        <a:rPr sz="1050" b="0" i="0">
                          <a:solidFill>
                            <a:srgbClr val="1F2430"/>
                          </a:solidFill>
                          <a:latin typeface="Arial"/>
                        </a:rPr>
                        <a:t>Hold (chờ hãng bay)</a:t>
                      </a:r>
                    </a:p>
                  </a:txBody>
                  <a:tcPr marL="64008" marR="64008" marT="27432" marB="27432" anchor="ctr">
                    <a:solidFill>
                      <a:srgbClr val="F4F4F7"/>
                    </a:solidFill>
                  </a:tcPr>
                </a:tc>
                <a:tc>
                  <a:txBody>
                    <a:bodyPr wrap="square"/>
                    <a:lstStyle/>
                    <a:p>
                      <a:pPr algn="ctr"/>
                      <a:r>
                        <a:rPr sz="1050" b="0" i="0">
                          <a:solidFill>
                            <a:srgbClr val="1F2430"/>
                          </a:solidFill>
                          <a:latin typeface="Arial"/>
                        </a:rPr>
                        <a:t>Move và Hold</a:t>
                      </a:r>
                    </a:p>
                  </a:txBody>
                  <a:tcPr marL="64008" marR="64008" marT="27432" marB="27432" anchor="ctr">
                    <a:solidFill>
                      <a:srgbClr val="F4F4F7"/>
                    </a:solidFill>
                  </a:tcPr>
                </a:tc>
              </a:tr>
              <a:tr h="365760">
                <a:tc>
                  <a:txBody>
                    <a:bodyPr wrap="square"/>
                    <a:lstStyle/>
                    <a:p>
                      <a:pPr algn="l"/>
                      <a:r>
                        <a:rPr sz="1050" b="0" i="0">
                          <a:solidFill>
                            <a:srgbClr val="1F2430"/>
                          </a:solidFill>
                          <a:latin typeface="Arial"/>
                        </a:rPr>
                        <a:t>Kỹ thuật phân tích chính</a:t>
                      </a:r>
                    </a:p>
                  </a:txBody>
                  <a:tcPr marL="64008" marR="64008" marT="27432" marB="27432" anchor="ctr">
                    <a:solidFill>
                      <a:srgbClr val="FFFFFF"/>
                    </a:solidFill>
                  </a:tcPr>
                </a:tc>
                <a:tc>
                  <a:txBody>
                    <a:bodyPr wrap="square"/>
                    <a:lstStyle/>
                    <a:p>
                      <a:pPr algn="ctr"/>
                      <a:r>
                        <a:rPr sz="1050" b="0" i="0">
                          <a:solidFill>
                            <a:srgbClr val="1F2430"/>
                          </a:solidFill>
                          <a:latin typeface="Arial"/>
                        </a:rPr>
                        <a:t>Sơ đồ xương cá (Ishikawa)</a:t>
                      </a:r>
                    </a:p>
                  </a:txBody>
                  <a:tcPr marL="64008" marR="64008" marT="27432" marB="27432" anchor="ctr">
                    <a:solidFill>
                      <a:srgbClr val="FFFFFF"/>
                    </a:solidFill>
                  </a:tcPr>
                </a:tc>
                <a:tc>
                  <a:txBody>
                    <a:bodyPr wrap="square"/>
                    <a:lstStyle/>
                    <a:p>
                      <a:pPr algn="ctr"/>
                      <a:r>
                        <a:rPr sz="1050" b="0" i="0">
                          <a:solidFill>
                            <a:srgbClr val="1F2430"/>
                          </a:solidFill>
                          <a:latin typeface="Arial"/>
                        </a:rPr>
                        <a:t>Biểu đồ Pareto</a:t>
                      </a:r>
                    </a:p>
                  </a:txBody>
                  <a:tcPr marL="64008" marR="64008" marT="27432" marB="27432" anchor="ctr">
                    <a:solidFill>
                      <a:srgbClr val="FFFFFF"/>
                    </a:solidFill>
                  </a:tcPr>
                </a:tc>
                <a:tc>
                  <a:txBody>
                    <a:bodyPr wrap="square"/>
                    <a:lstStyle/>
                    <a:p>
                      <a:pPr algn="ctr"/>
                      <a:r>
                        <a:rPr sz="1050" b="0" i="0">
                          <a:solidFill>
                            <a:srgbClr val="1F2430"/>
                          </a:solidFill>
                          <a:latin typeface="Arial"/>
                        </a:rPr>
                        <a:t>Biểu đồ Pareto</a:t>
                      </a:r>
                    </a:p>
                  </a:txBody>
                  <a:tcPr marL="64008" marR="64008" marT="27432" marB="27432" anchor="ctr">
                    <a:solidFill>
                      <a:srgbClr val="FFFFFF"/>
                    </a:solidFill>
                  </a:tcPr>
                </a:tc>
              </a:tr>
              <a:tr h="365760">
                <a:tc>
                  <a:txBody>
                    <a:bodyPr wrap="square"/>
                    <a:lstStyle/>
                    <a:p>
                      <a:pPr algn="l"/>
                      <a:r>
                        <a:rPr sz="1050" b="0" i="0">
                          <a:solidFill>
                            <a:srgbClr val="1F2430"/>
                          </a:solidFill>
                          <a:latin typeface="Arial"/>
                        </a:rPr>
                        <a:t>Chi phí</a:t>
                      </a:r>
                    </a:p>
                  </a:txBody>
                  <a:tcPr marL="64008" marR="64008" marT="27432" marB="27432" anchor="ctr">
                    <a:solidFill>
                      <a:srgbClr val="F4F4F7"/>
                    </a:solidFill>
                  </a:tcPr>
                </a:tc>
                <a:tc>
                  <a:txBody>
                    <a:bodyPr wrap="square"/>
                    <a:lstStyle/>
                    <a:p>
                      <a:pPr algn="ctr"/>
                      <a:r>
                        <a:rPr sz="1050" b="0" i="0">
                          <a:solidFill>
                            <a:srgbClr val="1F2430"/>
                          </a:solidFill>
                          <a:latin typeface="Arial"/>
                        </a:rPr>
                        <a:t>24,4 đ/phiên ≈ 890 tr/năm</a:t>
                      </a:r>
                    </a:p>
                  </a:txBody>
                  <a:tcPr marL="64008" marR="64008" marT="27432" marB="27432" anchor="ctr">
                    <a:solidFill>
                      <a:srgbClr val="F4F4F7"/>
                    </a:solidFill>
                  </a:tcPr>
                </a:tc>
                <a:tc>
                  <a:txBody>
                    <a:bodyPr wrap="square"/>
                    <a:lstStyle/>
                    <a:p>
                      <a:pPr algn="ctr"/>
                      <a:r>
                        <a:rPr sz="1050" b="0" i="0">
                          <a:solidFill>
                            <a:srgbClr val="1F2430"/>
                          </a:solidFill>
                          <a:latin typeface="Arial"/>
                        </a:rPr>
                        <a:t>123.500 đ/ca</a:t>
                      </a:r>
                    </a:p>
                  </a:txBody>
                  <a:tcPr marL="64008" marR="64008" marT="27432" marB="27432" anchor="ctr">
                    <a:solidFill>
                      <a:srgbClr val="F4F4F7"/>
                    </a:solidFill>
                  </a:tcPr>
                </a:tc>
                <a:tc>
                  <a:txBody>
                    <a:bodyPr wrap="square"/>
                    <a:lstStyle/>
                    <a:p>
                      <a:pPr algn="ctr"/>
                      <a:r>
                        <a:rPr sz="1050" b="0" i="0">
                          <a:solidFill>
                            <a:srgbClr val="1F2430"/>
                          </a:solidFill>
                          <a:latin typeface="Arial"/>
                        </a:rPr>
                        <a:t>1.413.600 đ/chiến dịch</a:t>
                      </a:r>
                    </a:p>
                  </a:txBody>
                  <a:tcPr marL="64008" marR="64008" marT="27432" marB="27432" anchor="ctr">
                    <a:solidFill>
                      <a:srgbClr val="F4F4F7"/>
                    </a:solidFill>
                  </a:tcPr>
                </a:tc>
              </a:tr>
            </a:tbl>
          </a:graphicData>
        </a:graphic>
      </p:graphicFrame>
      <p:sp>
        <p:nvSpPr>
          <p:cNvPr id="7" name="Rounded Rectangle 6"/>
          <p:cNvSpPr/>
          <p:nvPr/>
        </p:nvSpPr>
        <p:spPr>
          <a:xfrm>
            <a:off x="502920" y="4791456"/>
            <a:ext cx="11185855" cy="640080"/>
          </a:xfrm>
          <a:prstGeom prst="roundRect">
            <a:avLst>
              <a:gd name="adj" fmla="val 4000"/>
            </a:avLst>
          </a:prstGeom>
          <a:solidFill>
            <a:srgbClr val="FFF6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704088" y="4892040"/>
            <a:ext cx="10783519" cy="457199"/>
          </a:xfrm>
          <a:prstGeom prst="rect">
            <a:avLst/>
          </a:prstGeom>
          <a:noFill/>
        </p:spPr>
        <p:txBody>
          <a:bodyPr wrap="square" lIns="0" rIns="0" tIns="0" bIns="0">
            <a:spAutoFit/>
          </a:bodyPr>
          <a:lstStyle/>
          <a:p>
            <a:pPr algn="l">
              <a:lnSpc>
                <a:spcPct val="100000"/>
              </a:lnSpc>
            </a:pPr>
            <a:r>
              <a:rPr sz="1050" b="0" i="0">
                <a:solidFill>
                  <a:srgbClr val="7A5000"/>
                </a:solidFill>
                <a:latin typeface="Arial"/>
              </a:rPr>
              <a:t>ĐỌC BẢNG THEO CHIỀU NGANG — Hiệu suất thời gian chênh lệch rất lớn (95,9% so với 43,3%), và mức chênh này tỷ lệ thuận với mức độ lệ thuộc vào đối tác bên ngoài. Quy trình tự động hoàn toàn trong nội bộ đạt gần 96%; quy trình phải chờ hãng bay xác minh chỉ đạt hơn 43%. Số liệu định lượng là số liệu giả định mang tính minh họa do nhóm xây dựng — không phải số liệu vận hành do MoMo công bố.</a:t>
            </a:r>
          </a:p>
        </p:txBody>
      </p:sp>
      <p:sp>
        <p:nvSpPr>
          <p:cNvPr id="9" name="TextBox 8"/>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0" name="TextBox 9"/>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29</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5 · KẾT LUẬN</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Bốn mẫu hình lặp lại xuyên suốt các quy trình</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22376" y="1536192"/>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01</a:t>
            </a:r>
          </a:p>
        </p:txBody>
      </p:sp>
      <p:sp>
        <p:nvSpPr>
          <p:cNvPr id="8" name="TextBox 7"/>
          <p:cNvSpPr txBox="1"/>
          <p:nvPr/>
        </p:nvSpPr>
        <p:spPr>
          <a:xfrm>
            <a:off x="1417320" y="1554480"/>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Giá trị gia tăng tập trung ở khâu ra quyết định và xử lý dữ liệu</a:t>
            </a:r>
          </a:p>
        </p:txBody>
      </p:sp>
      <p:sp>
        <p:nvSpPr>
          <p:cNvPr id="9" name="TextBox 8"/>
          <p:cNvSpPr txBox="1"/>
          <p:nvPr/>
        </p:nvSpPr>
        <p:spPr>
          <a:xfrm>
            <a:off x="722376" y="2231136"/>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Phần lớn hoạt động NVA đều là bước sửa lỗi hoặc làm lại. Quy trình Tìm kiếm có 3 NVA thì cả 3 là sửa lỗi; quy trình Quản trị giá có 5 NVA thì cả 5 là bước làm lại. Nghĩa là có thể loại bỏ bằng thiết kế lại quy trình và kiểm soát chất lượng đầu vào.</a:t>
            </a:r>
          </a:p>
        </p:txBody>
      </p:sp>
      <p:sp>
        <p:nvSpPr>
          <p:cNvPr id="10" name="Rounded Rectangle 9"/>
          <p:cNvSpPr/>
          <p:nvPr/>
        </p:nvSpPr>
        <p:spPr>
          <a:xfrm>
            <a:off x="6205575" y="1389888"/>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6425031" y="1536192"/>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02</a:t>
            </a:r>
          </a:p>
        </p:txBody>
      </p:sp>
      <p:sp>
        <p:nvSpPr>
          <p:cNvPr id="12" name="TextBox 11"/>
          <p:cNvSpPr txBox="1"/>
          <p:nvPr/>
        </p:nvSpPr>
        <p:spPr>
          <a:xfrm>
            <a:off x="7119975" y="1554480"/>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Lãng phí chủ yếu thuộc hai nhóm Hold và Overdo</a:t>
            </a:r>
          </a:p>
        </p:txBody>
      </p:sp>
      <p:sp>
        <p:nvSpPr>
          <p:cNvPr id="13" name="TextBox 12"/>
          <p:cNvSpPr txBox="1"/>
          <p:nvPr/>
        </p:nvSpPr>
        <p:spPr>
          <a:xfrm>
            <a:off x="6425031" y="2231136"/>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Hold — chờ hãng bay/đối tác — xuất hiện ở cả ba quy trình và nằm ngoài tầm kiểm soát trực tiếp của MoMo. Ngược lại Overdo — làm nhiều hơn mức cần thiết — hoàn toàn có thể cải thiện bằng nội lực. Đây là nhóm nên ưu tiên làm trước.</a:t>
            </a:r>
          </a:p>
        </p:txBody>
      </p:sp>
      <p:sp>
        <p:nvSpPr>
          <p:cNvPr id="14" name="Rounded Rectangle 13"/>
          <p:cNvSpPr/>
          <p:nvPr/>
        </p:nvSpPr>
        <p:spPr>
          <a:xfrm>
            <a:off x="502920" y="3602736"/>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22376" y="3749039"/>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03</a:t>
            </a:r>
          </a:p>
        </p:txBody>
      </p:sp>
      <p:sp>
        <p:nvSpPr>
          <p:cNvPr id="16" name="TextBox 15"/>
          <p:cNvSpPr txBox="1"/>
          <p:nvPr/>
        </p:nvSpPr>
        <p:spPr>
          <a:xfrm>
            <a:off x="1417320" y="3767328"/>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Hiệu suất thời gian chênh lệch theo mức độ lệ thuộc bên ngoài</a:t>
            </a:r>
          </a:p>
        </p:txBody>
      </p:sp>
      <p:sp>
        <p:nvSpPr>
          <p:cNvPr id="17" name="TextBox 16"/>
          <p:cNvSpPr txBox="1"/>
          <p:nvPr/>
        </p:nvSpPr>
        <p:spPr>
          <a:xfrm>
            <a:off x="722376" y="4443984"/>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Quy trình xử lý nội bộ đạt hiệu suất ~95,9%; các quy trình có bước chờ đối tác chỉ đạt 43–69%. Nút thắt lớn nhất của hệ thống không nằm ở năng lực xử lý nội bộ mà ở tốc độ phối hợp với đối tác bên ngoài.</a:t>
            </a:r>
          </a:p>
        </p:txBody>
      </p:sp>
      <p:sp>
        <p:nvSpPr>
          <p:cNvPr id="18" name="Rounded Rectangle 17"/>
          <p:cNvSpPr/>
          <p:nvPr/>
        </p:nvSpPr>
        <p:spPr>
          <a:xfrm>
            <a:off x="6205575" y="3602736"/>
            <a:ext cx="5483199" cy="206654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425031" y="3749039"/>
            <a:ext cx="640080" cy="365760"/>
          </a:xfrm>
          <a:prstGeom prst="rect">
            <a:avLst/>
          </a:prstGeom>
          <a:noFill/>
        </p:spPr>
        <p:txBody>
          <a:bodyPr wrap="square" lIns="0" rIns="0" tIns="0" bIns="0">
            <a:spAutoFit/>
          </a:bodyPr>
          <a:lstStyle/>
          <a:p>
            <a:pPr algn="l">
              <a:lnSpc>
                <a:spcPct val="100000"/>
              </a:lnSpc>
            </a:pPr>
            <a:r>
              <a:rPr sz="2000" b="1" i="0">
                <a:solidFill>
                  <a:srgbClr val="A50064"/>
                </a:solidFill>
                <a:latin typeface="Arial"/>
              </a:rPr>
              <a:t>04</a:t>
            </a:r>
          </a:p>
        </p:txBody>
      </p:sp>
      <p:sp>
        <p:nvSpPr>
          <p:cNvPr id="20" name="TextBox 19"/>
          <p:cNvSpPr txBox="1"/>
          <p:nvPr/>
        </p:nvSpPr>
        <p:spPr>
          <a:xfrm>
            <a:off x="7119975" y="3767328"/>
            <a:ext cx="4349343" cy="548640"/>
          </a:xfrm>
          <a:prstGeom prst="rect">
            <a:avLst/>
          </a:prstGeom>
          <a:noFill/>
        </p:spPr>
        <p:txBody>
          <a:bodyPr wrap="square" lIns="0" rIns="0" tIns="0" bIns="0">
            <a:spAutoFit/>
          </a:bodyPr>
          <a:lstStyle/>
          <a:p>
            <a:pPr algn="l">
              <a:lnSpc>
                <a:spcPct val="100000"/>
              </a:lnSpc>
            </a:pPr>
            <a:r>
              <a:rPr sz="1250" b="1" i="0">
                <a:solidFill>
                  <a:srgbClr val="1F2430"/>
                </a:solidFill>
                <a:latin typeface="Arial"/>
              </a:rPr>
              <a:t>Nguyên nhân gốc rễ quy về ba nhóm lặp lại</a:t>
            </a:r>
          </a:p>
        </p:txBody>
      </p:sp>
      <p:sp>
        <p:nvSpPr>
          <p:cNvPr id="21" name="TextBox 20"/>
          <p:cNvSpPr txBox="1"/>
          <p:nvPr/>
        </p:nvSpPr>
        <p:spPr>
          <a:xfrm>
            <a:off x="6425031" y="4443984"/>
            <a:ext cx="5044287" cy="1097280"/>
          </a:xfrm>
          <a:prstGeom prst="rect">
            <a:avLst/>
          </a:prstGeom>
          <a:noFill/>
        </p:spPr>
        <p:txBody>
          <a:bodyPr wrap="square" lIns="0" rIns="0" tIns="0" bIns="0">
            <a:spAutoFit/>
          </a:bodyPr>
          <a:lstStyle/>
          <a:p>
            <a:pPr algn="l">
              <a:lnSpc>
                <a:spcPct val="115000"/>
              </a:lnSpc>
            </a:pPr>
            <a:r>
              <a:rPr sz="1050" b="0" i="0">
                <a:solidFill>
                  <a:srgbClr val="5A6172"/>
                </a:solidFill>
                <a:latin typeface="Arial"/>
              </a:rPr>
              <a:t>Qua sơ đồ xương cá và biểu đồ Pareto: thiếu chuẩn hóa và tự động hóa trong trao đổi dữ liệu với đối tác; thiếu SLA nội bộ rõ ràng; và hạn chế trong hệ thống đo lường, giám sát vận hành theo thời gian thực.</a:t>
            </a:r>
          </a:p>
        </p:txBody>
      </p:sp>
      <p:sp>
        <p:nvSpPr>
          <p:cNvPr id="22" name="TextBox 21"/>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23" name="TextBox 22"/>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30</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502920" y="365760"/>
            <a:ext cx="50292" cy="27432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9224" y="347472"/>
            <a:ext cx="11002975" cy="256032"/>
          </a:xfrm>
          <a:prstGeom prst="rect">
            <a:avLst/>
          </a:prstGeom>
          <a:noFill/>
        </p:spPr>
        <p:txBody>
          <a:bodyPr wrap="square" lIns="0" rIns="0" tIns="0" bIns="0">
            <a:spAutoFit/>
          </a:bodyPr>
          <a:lstStyle/>
          <a:p>
            <a:pPr algn="l">
              <a:lnSpc>
                <a:spcPct val="100000"/>
              </a:lnSpc>
            </a:pPr>
            <a:r>
              <a:rPr sz="1050" b="1" i="0">
                <a:solidFill>
                  <a:srgbClr val="A50064"/>
                </a:solidFill>
                <a:latin typeface="Arial"/>
              </a:rPr>
              <a:t>CHƯƠNG 5 · KẾT LUẬN</a:t>
            </a:r>
          </a:p>
        </p:txBody>
      </p:sp>
      <p:sp>
        <p:nvSpPr>
          <p:cNvPr id="4" name="TextBox 3"/>
          <p:cNvSpPr txBox="1"/>
          <p:nvPr/>
        </p:nvSpPr>
        <p:spPr>
          <a:xfrm>
            <a:off x="502920" y="658368"/>
            <a:ext cx="11185855" cy="566928"/>
          </a:xfrm>
          <a:prstGeom prst="rect">
            <a:avLst/>
          </a:prstGeom>
          <a:noFill/>
        </p:spPr>
        <p:txBody>
          <a:bodyPr wrap="square" lIns="0" rIns="0" tIns="0" bIns="0">
            <a:spAutoFit/>
          </a:bodyPr>
          <a:lstStyle/>
          <a:p>
            <a:pPr algn="l">
              <a:lnSpc>
                <a:spcPct val="95000"/>
              </a:lnSpc>
            </a:pPr>
            <a:r>
              <a:rPr sz="2500" b="1" i="0">
                <a:solidFill>
                  <a:srgbClr val="1F2430"/>
                </a:solidFill>
                <a:latin typeface="Arial"/>
              </a:rPr>
              <a:t>Hạn chế của đồ án và hướng phát triển</a:t>
            </a:r>
          </a:p>
        </p:txBody>
      </p:sp>
      <p:sp>
        <p:nvSpPr>
          <p:cNvPr id="5" name="Rectangle 4"/>
          <p:cNvSpPr/>
          <p:nvPr/>
        </p:nvSpPr>
        <p:spPr>
          <a:xfrm>
            <a:off x="502920" y="1234440"/>
            <a:ext cx="11185855" cy="10972"/>
          </a:xfrm>
          <a:prstGeom prst="rect">
            <a:avLst/>
          </a:prstGeom>
          <a:solidFill>
            <a:srgbClr val="D8DA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 name="Rounded Rectangle 5"/>
          <p:cNvSpPr/>
          <p:nvPr/>
        </p:nvSpPr>
        <p:spPr>
          <a:xfrm>
            <a:off x="502920" y="1389888"/>
            <a:ext cx="5483199" cy="4901183"/>
          </a:xfrm>
          <a:prstGeom prst="roundRect">
            <a:avLst>
              <a:gd name="adj" fmla="val 4000"/>
            </a:avLst>
          </a:prstGeom>
          <a:solidFill>
            <a:srgbClr val="F4F4F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704088"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HẠN CHẾ</a:t>
            </a:r>
          </a:p>
        </p:txBody>
      </p:sp>
      <p:sp>
        <p:nvSpPr>
          <p:cNvPr id="8" name="TextBox 7"/>
          <p:cNvSpPr txBox="1"/>
          <p:nvPr/>
        </p:nvSpPr>
        <p:spPr>
          <a:xfrm>
            <a:off x="704088" y="1865376"/>
            <a:ext cx="5080863" cy="4279392"/>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Số liệu định lượng là số liệu minh họa/giả định </a:t>
            </a:r>
            <a:r>
              <a:rPr sz="1050" b="0" i="0">
                <a:solidFill>
                  <a:srgbClr val="1F2430"/>
                </a:solidFill>
                <a:latin typeface="Arial"/>
              </a:rPr>
              <a:t>— nhóm không tiếp cận được dữ liệu vận hành nội bộ và không phỏng vấn trực tiếp nhân sự M_Service. Bộ câu hỏi Chương 3 vì vậy là công cụ đã thiết kế nhưng chưa triển khai.</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Mô hình BPMN phản ánh cách nhóm hiểu quy trình </a:t>
            </a:r>
            <a:r>
              <a:rPr sz="1050" b="0" i="0">
                <a:solidFill>
                  <a:srgbClr val="1F2430"/>
                </a:solidFill>
                <a:latin typeface="Arial"/>
              </a:rPr>
              <a:t>dựa trên bằng chứng công khai, có thể khác thiết kế thực tế bên trong hệ thống MoMo — nhất là ở cơ chế bộ đệm giá, cách điều phối truy vấn và logic xử lý ngoại lệ chi tiết.</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Một số tham số là giả định của nhóm </a:t>
            </a:r>
            <a:r>
              <a:rPr sz="1050" b="0" i="0">
                <a:solidFill>
                  <a:srgbClr val="1F2430"/>
                </a:solidFill>
                <a:latin typeface="Arial"/>
              </a:rPr>
              <a:t>— mốc 72 giờ yêu cầu xuất VAT, việc dùng hệ thống hóa đơn điện tử của đối tác thứ ba, và giới hạn 2 lần thử lại khi tích hợp API hạng vé. Đều đã ghi chú rõ tại nơi sử dụng.</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Phân tích định lượng mới bao phủ 3/10 quy trình </a:t>
            </a:r>
            <a:r>
              <a:rPr sz="1050" b="0" i="0">
                <a:solidFill>
                  <a:srgbClr val="1F2430"/>
                </a:solidFill>
                <a:latin typeface="Arial"/>
              </a:rPr>
              <a:t>— 7 quy trình còn lại mới dừng ở mức mô tả, trong đó 3 quy trình có mô hình BPMN.</a:t>
            </a:r>
          </a:p>
        </p:txBody>
      </p:sp>
      <p:sp>
        <p:nvSpPr>
          <p:cNvPr id="9" name="Rounded Rectangle 8"/>
          <p:cNvSpPr/>
          <p:nvPr/>
        </p:nvSpPr>
        <p:spPr>
          <a:xfrm>
            <a:off x="6205575" y="1389888"/>
            <a:ext cx="5483199" cy="4901183"/>
          </a:xfrm>
          <a:prstGeom prst="roundRect">
            <a:avLst>
              <a:gd name="adj" fmla="val 4000"/>
            </a:avLst>
          </a:prstGeom>
          <a:solidFill>
            <a:srgbClr val="FAF0F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6406743" y="1536192"/>
            <a:ext cx="5080863" cy="274320"/>
          </a:xfrm>
          <a:prstGeom prst="rect">
            <a:avLst/>
          </a:prstGeom>
          <a:noFill/>
        </p:spPr>
        <p:txBody>
          <a:bodyPr wrap="square" lIns="0" rIns="0" tIns="0" bIns="0">
            <a:spAutoFit/>
          </a:bodyPr>
          <a:lstStyle/>
          <a:p>
            <a:pPr algn="l">
              <a:lnSpc>
                <a:spcPct val="100000"/>
              </a:lnSpc>
            </a:pPr>
            <a:r>
              <a:rPr sz="1000" b="1" i="0">
                <a:solidFill>
                  <a:srgbClr val="A50064"/>
                </a:solidFill>
                <a:latin typeface="Arial"/>
              </a:rPr>
              <a:t>HƯỚNG PHÁT TRIỂN</a:t>
            </a:r>
          </a:p>
        </p:txBody>
      </p:sp>
      <p:sp>
        <p:nvSpPr>
          <p:cNvPr id="11" name="TextBox 10"/>
          <p:cNvSpPr txBox="1"/>
          <p:nvPr/>
        </p:nvSpPr>
        <p:spPr>
          <a:xfrm>
            <a:off x="6406743" y="1865376"/>
            <a:ext cx="5080863" cy="4279392"/>
          </a:xfrm>
          <a:prstGeom prst="rect">
            <a:avLst/>
          </a:prstGeom>
          <a:noFill/>
        </p:spPr>
        <p:txBody>
          <a:bodyPr wrap="square" lIns="0" rIns="0" tIns="0" bIns="0">
            <a:spAutoFit/>
          </a:bodyPr>
          <a:lstStyle/>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Triển khai bộ câu hỏi đã thiết kế </a:t>
            </a:r>
            <a:r>
              <a:rPr sz="1050" b="0" i="0">
                <a:solidFill>
                  <a:srgbClr val="1F2430"/>
                </a:solidFill>
                <a:latin typeface="Arial"/>
              </a:rPr>
              <a:t>— nếu tiếp cận được CSKH, Vận hành Sản phẩm Du lịch, Bộ phận Quản lý Giá và Tài chính/Pháp chế, có thể hiệu chỉnh số liệu và mô hình BPMN cho sát thực tế, đồng thời xác thực các giả định.</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Mở rộng phạm vi mô hình hóa </a:t>
            </a:r>
            <a:r>
              <a:rPr sz="1050" b="0" i="0">
                <a:solidFill>
                  <a:srgbClr val="1F2430"/>
                </a:solidFill>
                <a:latin typeface="Arial"/>
              </a:rPr>
              <a:t>— đặc biệt là Quản trị danh mục hãng bay và đối tác NCC, Mua thêm dịch vụ sau đặt chỗ, và Quản lý vé đã mua.</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Xây dựng mô hình "To-Be" </a:t>
            </a:r>
            <a:r>
              <a:rPr sz="1050" b="0" i="0">
                <a:solidFill>
                  <a:srgbClr val="1F2430"/>
                </a:solidFill>
                <a:latin typeface="Arial"/>
              </a:rPr>
              <a:t>— lượng hóa mức cải thiện dự kiến của từng đề xuất, ví dụ tác động của việc nâng cache-hit lên 65% tới chi phí truy vấn, hay tác động của Maker-Checker tới chỉ số RTY.</a:t>
            </a:r>
          </a:p>
          <a:p>
            <a:pPr marL="219456" indent="-219456">
              <a:lnSpc>
                <a:spcPct val="112000"/>
              </a:lnSpc>
              <a:spcAft>
                <a:spcPts val="400"/>
              </a:spcAft>
            </a:pPr>
            <a:r>
              <a:rPr sz="1050" b="1" i="0">
                <a:solidFill>
                  <a:srgbClr val="A50064"/>
                </a:solidFill>
                <a:latin typeface="Arial"/>
              </a:rPr>
              <a:t>▸  </a:t>
            </a:r>
            <a:r>
              <a:rPr sz="1050" b="1" i="0">
                <a:solidFill>
                  <a:srgbClr val="1F2430"/>
                </a:solidFill>
                <a:latin typeface="Arial"/>
              </a:rPr>
              <a:t>Ưu tiên đề xuất chi phí thấp, nằm trong nội lực trước </a:t>
            </a:r>
            <a:r>
              <a:rPr sz="1050" b="0" i="0">
                <a:solidFill>
                  <a:srgbClr val="1F2430"/>
                </a:solidFill>
                <a:latin typeface="Arial"/>
              </a:rPr>
              <a:t>— bổ sung hệ thống đo lường hành vi người dùng, chuẩn hóa checklist và SLA nội bộ — rồi mới tới các cải tiến phụ thuộc đối tác bên ngoài.</a:t>
            </a:r>
          </a:p>
        </p:txBody>
      </p:sp>
      <p:sp>
        <p:nvSpPr>
          <p:cNvPr id="12" name="TextBox 11"/>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5A6172"/>
                </a:solidFill>
                <a:latin typeface="Arial"/>
              </a:rPr>
              <a:t>IE203 – Hệ thống Quản trị Quy trình Nghiệp vụ  ·  Nhóm 9  ·  MoMo – Đặt vé máy bay</a:t>
            </a:r>
          </a:p>
        </p:txBody>
      </p:sp>
      <p:sp>
        <p:nvSpPr>
          <p:cNvPr id="13" name="TextBox 12"/>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5A6172"/>
                </a:solidFill>
                <a:latin typeface="Arial"/>
              </a:rPr>
              <a:t>31</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A5006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502920" y="2331720"/>
            <a:ext cx="11185855" cy="822960"/>
          </a:xfrm>
          <a:prstGeom prst="rect">
            <a:avLst/>
          </a:prstGeom>
          <a:noFill/>
        </p:spPr>
        <p:txBody>
          <a:bodyPr wrap="square" lIns="0" rIns="0" tIns="0" bIns="0">
            <a:spAutoFit/>
          </a:bodyPr>
          <a:lstStyle/>
          <a:p>
            <a:pPr algn="ctr">
              <a:lnSpc>
                <a:spcPct val="115000"/>
              </a:lnSpc>
            </a:pPr>
            <a:r>
              <a:rPr sz="3400" b="1" i="0">
                <a:solidFill>
                  <a:srgbClr val="FFFFFF"/>
                </a:solidFill>
                <a:latin typeface="Arial"/>
              </a:rPr>
              <a:t>CẢM ƠN THẦY VÀ CÁC BẠN</a:t>
            </a:r>
          </a:p>
          <a:p>
            <a:pPr algn="ctr">
              <a:lnSpc>
                <a:spcPct val="115000"/>
              </a:lnSpc>
            </a:pPr>
            <a:r>
              <a:rPr sz="3400" b="1" i="0">
                <a:solidFill>
                  <a:srgbClr val="FFFFFF"/>
                </a:solidFill>
                <a:latin typeface="Arial"/>
              </a:rPr>
              <a:t>ĐÃ LẮNG NGHE</a:t>
            </a:r>
          </a:p>
        </p:txBody>
      </p:sp>
      <p:sp>
        <p:nvSpPr>
          <p:cNvPr id="4" name="Rectangle 3"/>
          <p:cNvSpPr/>
          <p:nvPr/>
        </p:nvSpPr>
        <p:spPr>
          <a:xfrm>
            <a:off x="5364327" y="3749039"/>
            <a:ext cx="1463040" cy="457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 name="TextBox 4"/>
          <p:cNvSpPr txBox="1"/>
          <p:nvPr/>
        </p:nvSpPr>
        <p:spPr>
          <a:xfrm>
            <a:off x="502920" y="4041648"/>
            <a:ext cx="11185855" cy="548640"/>
          </a:xfrm>
          <a:prstGeom prst="rect">
            <a:avLst/>
          </a:prstGeom>
          <a:noFill/>
        </p:spPr>
        <p:txBody>
          <a:bodyPr wrap="square" lIns="0" rIns="0" tIns="0" bIns="0">
            <a:spAutoFit/>
          </a:bodyPr>
          <a:lstStyle/>
          <a:p>
            <a:pPr algn="ctr">
              <a:lnSpc>
                <a:spcPct val="100000"/>
              </a:lnSpc>
            </a:pPr>
            <a:r>
              <a:rPr sz="2800" b="1" i="0">
                <a:solidFill>
                  <a:srgbClr val="FFFFFF"/>
                </a:solidFill>
                <a:latin typeface="Arial"/>
              </a:rPr>
              <a:t>Q  &amp;  A</a:t>
            </a:r>
          </a:p>
        </p:txBody>
      </p:sp>
      <p:sp>
        <p:nvSpPr>
          <p:cNvPr id="6" name="TextBox 5"/>
          <p:cNvSpPr txBox="1"/>
          <p:nvPr/>
        </p:nvSpPr>
        <p:spPr>
          <a:xfrm>
            <a:off x="502920" y="5120640"/>
            <a:ext cx="11185855" cy="457200"/>
          </a:xfrm>
          <a:prstGeom prst="rect">
            <a:avLst/>
          </a:prstGeom>
          <a:noFill/>
        </p:spPr>
        <p:txBody>
          <a:bodyPr wrap="square" lIns="0" rIns="0" tIns="0" bIns="0">
            <a:spAutoFit/>
          </a:bodyPr>
          <a:lstStyle/>
          <a:p>
            <a:pPr algn="ctr">
              <a:lnSpc>
                <a:spcPct val="100000"/>
              </a:lnSpc>
            </a:pPr>
            <a:r>
              <a:rPr sz="1150" b="0" i="0">
                <a:solidFill>
                  <a:srgbClr val="FFFFFF"/>
                </a:solidFill>
                <a:latin typeface="Arial"/>
              </a:rPr>
              <a:t>IE203 – Hệ thống Quản trị Quy trình Nghiệp vụ  ·  Nhóm 9</a:t>
            </a:r>
          </a:p>
          <a:p>
            <a:pPr algn="ctr">
              <a:lnSpc>
                <a:spcPct val="100000"/>
              </a:lnSpc>
            </a:pPr>
            <a:r>
              <a:rPr sz="1150" b="0" i="0">
                <a:solidFill>
                  <a:srgbClr val="FFFFFF"/>
                </a:solidFill>
                <a:latin typeface="Arial"/>
              </a:rPr>
              <a:t>Đề tài: Hệ thống quy trình nghiệp vụ mảng đặt vé máy bay trên ứng dụng MoMo</a:t>
            </a:r>
          </a:p>
        </p:txBody>
      </p:sp>
      <p:sp>
        <p:nvSpPr>
          <p:cNvPr id="7" name="TextBox 6"/>
          <p:cNvSpPr txBox="1"/>
          <p:nvPr/>
        </p:nvSpPr>
        <p:spPr>
          <a:xfrm>
            <a:off x="502920" y="6391656"/>
            <a:ext cx="10545775" cy="256032"/>
          </a:xfrm>
          <a:prstGeom prst="rect">
            <a:avLst/>
          </a:prstGeom>
          <a:noFill/>
        </p:spPr>
        <p:txBody>
          <a:bodyPr wrap="square" lIns="0" rIns="0" tIns="0" bIns="0">
            <a:spAutoFit/>
          </a:bodyPr>
          <a:lstStyle/>
          <a:p>
            <a:pPr algn="l">
              <a:lnSpc>
                <a:spcPct val="100000"/>
              </a:lnSpc>
            </a:pPr>
            <a:r>
              <a:rPr sz="850" b="0" i="0">
                <a:solidFill>
                  <a:srgbClr val="FFFFFF"/>
                </a:solidFill>
                <a:latin typeface="Arial"/>
              </a:rPr>
              <a:t>IE203 – Hệ thống Quản trị Quy trình Nghiệp vụ  ·  Nhóm 9  ·  MoMo – Đặt vé máy bay</a:t>
            </a:r>
          </a:p>
        </p:txBody>
      </p:sp>
      <p:sp>
        <p:nvSpPr>
          <p:cNvPr id="8" name="TextBox 7"/>
          <p:cNvSpPr txBox="1"/>
          <p:nvPr/>
        </p:nvSpPr>
        <p:spPr>
          <a:xfrm>
            <a:off x="11140135" y="6391656"/>
            <a:ext cx="548640" cy="256032"/>
          </a:xfrm>
          <a:prstGeom prst="rect">
            <a:avLst/>
          </a:prstGeom>
          <a:noFill/>
        </p:spPr>
        <p:txBody>
          <a:bodyPr wrap="square" lIns="0" rIns="0" tIns="0" bIns="0">
            <a:spAutoFit/>
          </a:bodyPr>
          <a:lstStyle/>
          <a:p>
            <a:pPr algn="r">
              <a:lnSpc>
                <a:spcPct val="100000"/>
              </a:lnSpc>
            </a:pPr>
            <a:r>
              <a:rPr sz="900" b="1" i="0">
                <a:solidFill>
                  <a:srgbClr val="FFFFFF"/>
                </a:solidFill>
                <a:latin typeface="Arial"/>
              </a:rPr>
              <a:t>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