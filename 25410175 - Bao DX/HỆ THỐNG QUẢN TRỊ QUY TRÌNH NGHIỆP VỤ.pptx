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8288000" cy="10287000"/>
  <p:notesSz cx="6858000" cy="9144000"/>
  <p:embeddedFontLst>
    <p:embeddedFont>
      <p:font typeface="Open Sans 1 Bold" charset="1" panose="020B0806030504020204"/>
      <p:regular r:id="rId38"/>
    </p:embeddedFont>
    <p:embeddedFont>
      <p:font typeface="Open Sans 1" charset="1" panose="020B0606030504020204"/>
      <p:regular r:id="rId39"/>
    </p:embeddedFont>
    <p:embeddedFont>
      <p:font typeface="Noto Sans" charset="1" panose="020B0502040504020204"/>
      <p:regular r:id="rId40"/>
    </p:embeddedFont>
    <p:embeddedFont>
      <p:font typeface="Open Sans 2 Bold" charset="1" panose="00000000000000000000"/>
      <p:regular r:id="rId41"/>
    </p:embeddedFont>
    <p:embeddedFont>
      <p:font typeface="Helvetica World Bold" charset="1" panose="020B0800040000020004"/>
      <p:regular r:id="rId42"/>
    </p:embeddedFont>
    <p:embeddedFont>
      <p:font typeface="Helvetica World" charset="1" panose="020B0500040000020004"/>
      <p:regular r:id="rId43"/>
    </p:embeddedFont>
    <p:embeddedFont>
      <p:font typeface="Noto Sans Bold" charset="1" panose="020B0802040504020204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jpe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jpeg" Type="http://schemas.openxmlformats.org/officeDocument/2006/relationships/image"/><Relationship Id="rId4" Target="../media/image1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21.png" Type="http://schemas.openxmlformats.org/officeDocument/2006/relationships/image"/><Relationship Id="rId5" Target="../embeddings/oleObject2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embeddings/oleObject3.bin" Type="http://schemas.openxmlformats.org/officeDocument/2006/relationships/oleObject"/><Relationship Id="rId4" Target="../media/image23.png" Type="http://schemas.openxmlformats.org/officeDocument/2006/relationships/image"/><Relationship Id="rId5" Target="../embeddings/oleObject4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embeddings/oleObject5.bin" Type="http://schemas.openxmlformats.org/officeDocument/2006/relationships/oleObject"/><Relationship Id="rId4" Target="../media/image27.png" Type="http://schemas.openxmlformats.org/officeDocument/2006/relationships/image"/><Relationship Id="rId5" Target="../embeddings/oleObject6.bin" Type="http://schemas.openxmlformats.org/officeDocument/2006/relationships/oleObjec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embeddings/oleObject7.bin" Type="http://schemas.openxmlformats.org/officeDocument/2006/relationships/oleObject"/><Relationship Id="rId4" Target="../media/image29.png" Type="http://schemas.openxmlformats.org/officeDocument/2006/relationships/image"/><Relationship Id="rId5" Target="../embeddings/oleObject8.bin" Type="http://schemas.openxmlformats.org/officeDocument/2006/relationships/oleObjec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Relationship Id="rId3" Target="../media/image3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embeddings/oleObject9.bin" Type="http://schemas.openxmlformats.org/officeDocument/2006/relationships/oleObject"/><Relationship Id="rId4" Target="../media/image33.png" Type="http://schemas.openxmlformats.org/officeDocument/2006/relationships/image"/><Relationship Id="rId5" Target="../embeddings/oleObject10.bin" Type="http://schemas.openxmlformats.org/officeDocument/2006/relationships/oleObjec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embeddings/oleObject11.bin" Type="http://schemas.openxmlformats.org/officeDocument/2006/relationships/oleObject"/><Relationship Id="rId4" Target="../media/image35.png" Type="http://schemas.openxmlformats.org/officeDocument/2006/relationships/image"/><Relationship Id="rId5" Target="../embeddings/oleObject12.bin" Type="http://schemas.openxmlformats.org/officeDocument/2006/relationships/oleObjec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jpeg" Type="http://schemas.openxmlformats.org/officeDocument/2006/relationships/image"/><Relationship Id="rId3" Target="../media/image41.png" Type="http://schemas.openxmlformats.org/officeDocument/2006/relationships/image"/><Relationship Id="rId4" Target="../embeddings/oleObject13.bin" Type="http://schemas.openxmlformats.org/officeDocument/2006/relationships/oleObject"/><Relationship Id="rId5" Target="../media/image42.png" Type="http://schemas.openxmlformats.org/officeDocument/2006/relationships/image"/><Relationship Id="rId6" Target="../embeddings/oleObject14.bin" Type="http://schemas.openxmlformats.org/officeDocument/2006/relationships/oleObjec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embeddings/oleObject15.bin" Type="http://schemas.openxmlformats.org/officeDocument/2006/relationships/oleObject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../media/image48.pn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embeddings/oleObject16.bin" Type="http://schemas.openxmlformats.org/officeDocument/2006/relationships/oleObject"/><Relationship Id="rId4" Target="../media/image51.png" Type="http://schemas.openxmlformats.org/officeDocument/2006/relationships/image"/><Relationship Id="rId5" Target="../embeddings/oleObject17.bin" Type="http://schemas.openxmlformats.org/officeDocument/2006/relationships/oleObjec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embeddings/oleObject18.bin" Type="http://schemas.openxmlformats.org/officeDocument/2006/relationships/oleObjec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embeddings/oleObject19.bin" Type="http://schemas.openxmlformats.org/officeDocument/2006/relationships/oleObjec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57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500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81942" y="881442"/>
            <a:ext cx="8524115" cy="8524115"/>
          </a:xfrm>
          <a:custGeom>
            <a:avLst/>
            <a:gdLst/>
            <a:ahLst/>
            <a:cxnLst/>
            <a:rect r="r" b="b" t="t" l="l"/>
            <a:pathLst>
              <a:path h="8524115" w="8524115">
                <a:moveTo>
                  <a:pt x="0" y="0"/>
                </a:moveTo>
                <a:lnTo>
                  <a:pt x="8524116" y="0"/>
                </a:lnTo>
                <a:lnTo>
                  <a:pt x="8524116" y="8524116"/>
                </a:lnTo>
                <a:lnTo>
                  <a:pt x="0" y="85241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86032" y="-1233030"/>
            <a:ext cx="9964946" cy="8940512"/>
          </a:xfrm>
          <a:custGeom>
            <a:avLst/>
            <a:gdLst/>
            <a:ahLst/>
            <a:cxnLst/>
            <a:rect r="r" b="b" t="t" l="l"/>
            <a:pathLst>
              <a:path h="8940512" w="9964946">
                <a:moveTo>
                  <a:pt x="0" y="0"/>
                </a:moveTo>
                <a:lnTo>
                  <a:pt x="9964946" y="0"/>
                </a:lnTo>
                <a:lnTo>
                  <a:pt x="9964946" y="8940513"/>
                </a:lnTo>
                <a:lnTo>
                  <a:pt x="0" y="894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4826" y="1567054"/>
            <a:ext cx="14896017" cy="6290244"/>
            <a:chOff x="0" y="0"/>
            <a:chExt cx="19861355" cy="838699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748140"/>
              <a:ext cx="19861355" cy="35036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43"/>
                </a:lnSpc>
              </a:pPr>
              <a:r>
                <a:rPr lang="en-US" b="true" sz="5619">
                  <a:solidFill>
                    <a:srgbClr val="A5006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Công</a:t>
              </a:r>
              <a:r>
                <a:rPr lang="en-US" b="true" sz="5619">
                  <a:solidFill>
                    <a:srgbClr val="A5006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 ty Cổ phần Dịch vụ </a:t>
              </a:r>
            </a:p>
            <a:p>
              <a:pPr algn="l">
                <a:lnSpc>
                  <a:spcPts val="6743"/>
                </a:lnSpc>
              </a:pPr>
              <a:r>
                <a:rPr lang="en-US" b="true" sz="5619">
                  <a:solidFill>
                    <a:srgbClr val="A5006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DI ĐỘNG TRỰC TUYẾN – M_SERVICE</a:t>
              </a:r>
            </a:p>
            <a:p>
              <a:pPr algn="l">
                <a:lnSpc>
                  <a:spcPts val="3678"/>
                </a:lnSpc>
              </a:pPr>
            </a:p>
            <a:p>
              <a:pPr algn="l">
                <a:lnSpc>
                  <a:spcPts val="3678"/>
                </a:lnSpc>
              </a:pPr>
              <a:r>
                <a:rPr lang="en-US" sz="3065">
                  <a:solidFill>
                    <a:srgbClr val="A50064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Mô hình hóa và phân tích theo chuẩn BPMN 2.0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0"/>
              <a:ext cx="19861355" cy="609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78"/>
                </a:lnSpc>
              </a:pPr>
              <a:r>
                <a:rPr lang="en-US" b="true" sz="3065">
                  <a:solidFill>
                    <a:srgbClr val="A5006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HỆ</a:t>
              </a:r>
              <a:r>
                <a:rPr lang="en-US" b="true" sz="3065">
                  <a:solidFill>
                    <a:srgbClr val="A5006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 THỐNG QUẢN TRỊ QUY TRÌNH NGHIỆP VỤ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6787850"/>
              <a:ext cx="19861355" cy="15991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 spc="70">
                  <a:solidFill>
                    <a:srgbClr val="A50064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GIẢNG VIÊN HƯỚNG DẪN: </a:t>
              </a:r>
              <a:r>
                <a:rPr lang="en-US" b="true" sz="3500" spc="70">
                  <a:solidFill>
                    <a:srgbClr val="A5006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ThS. Hà Lê Hoài Trung</a:t>
              </a:r>
            </a:p>
            <a:p>
              <a:pPr algn="l">
                <a:lnSpc>
                  <a:spcPts val="4900"/>
                </a:lnSpc>
              </a:pPr>
              <a:r>
                <a:rPr lang="en-US" sz="3500" spc="70">
                  <a:solidFill>
                    <a:srgbClr val="A50064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NHÓM THỰC HIỆN: </a:t>
              </a:r>
              <a:r>
                <a:rPr lang="en-US" b="true" sz="3500" spc="70">
                  <a:solidFill>
                    <a:srgbClr val="A5006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Nhóm 6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67415" y="202901"/>
            <a:ext cx="1522570" cy="1230744"/>
          </a:xfrm>
          <a:custGeom>
            <a:avLst/>
            <a:gdLst/>
            <a:ahLst/>
            <a:cxnLst/>
            <a:rect r="r" b="b" t="t" l="l"/>
            <a:pathLst>
              <a:path h="1230744" w="1522570">
                <a:moveTo>
                  <a:pt x="0" y="0"/>
                </a:moveTo>
                <a:lnTo>
                  <a:pt x="1522570" y="0"/>
                </a:lnTo>
                <a:lnTo>
                  <a:pt x="1522570" y="1230744"/>
                </a:lnTo>
                <a:lnTo>
                  <a:pt x="0" y="12307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83169" y="4316329"/>
            <a:ext cx="5970671" cy="5970671"/>
          </a:xfrm>
          <a:custGeom>
            <a:avLst/>
            <a:gdLst/>
            <a:ahLst/>
            <a:cxnLst/>
            <a:rect r="r" b="b" t="t" l="l"/>
            <a:pathLst>
              <a:path h="5970671" w="5970671">
                <a:moveTo>
                  <a:pt x="0" y="0"/>
                </a:moveTo>
                <a:lnTo>
                  <a:pt x="5970671" y="0"/>
                </a:lnTo>
                <a:lnTo>
                  <a:pt x="5970671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908584" y="96570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8657037" cy="10287000"/>
          </a:xfrm>
          <a:prstGeom prst="rect">
            <a:avLst/>
          </a:prstGeom>
          <a:solidFill>
            <a:srgbClr val="A50064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896396" y="2695992"/>
            <a:ext cx="4624400" cy="6716860"/>
          </a:xfrm>
          <a:custGeom>
            <a:avLst/>
            <a:gdLst/>
            <a:ahLst/>
            <a:cxnLst/>
            <a:rect r="r" b="b" t="t" l="l"/>
            <a:pathLst>
              <a:path h="6716860" w="4624400">
                <a:moveTo>
                  <a:pt x="0" y="0"/>
                </a:moveTo>
                <a:lnTo>
                  <a:pt x="4624400" y="0"/>
                </a:lnTo>
                <a:lnTo>
                  <a:pt x="4624400" y="6716859"/>
                </a:lnTo>
                <a:lnTo>
                  <a:pt x="0" y="67168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239845" y="380843"/>
            <a:ext cx="8896882" cy="3684925"/>
            <a:chOff x="0" y="0"/>
            <a:chExt cx="11862509" cy="491323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9525"/>
              <a:ext cx="11862509" cy="2200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99"/>
                </a:lnSpc>
              </a:pPr>
              <a:r>
                <a:rPr lang="en-US" sz="5499" b="true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Giới thiệu thành viên</a:t>
              </a:r>
            </a:p>
            <a:p>
              <a:pPr algn="ctr">
                <a:lnSpc>
                  <a:spcPts val="6599"/>
                </a:lnSpc>
              </a:pPr>
              <a:r>
                <a:rPr lang="en-US" b="true" sz="5499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NHÓM 6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289027"/>
              <a:ext cx="9714209" cy="624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766814" y="722877"/>
            <a:ext cx="9196544" cy="868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8750"/>
              </a:lnSpc>
              <a:buFont typeface="Arial"/>
              <a:buChar char="•"/>
            </a:pPr>
            <a:r>
              <a:rPr lang="en-US" b="true" sz="3500" spc="17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25410175 - Đinh Xuân Bảo</a:t>
            </a:r>
          </a:p>
          <a:p>
            <a:pPr algn="l" marL="755651" indent="-377825" lvl="1">
              <a:lnSpc>
                <a:spcPts val="8750"/>
              </a:lnSpc>
              <a:buFont typeface="Arial"/>
              <a:buChar char="•"/>
            </a:pPr>
            <a:r>
              <a:rPr lang="en-US" b="true" sz="3500" spc="17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25410195 - Nguyễn Huỳnh Mỹ Duyên</a:t>
            </a:r>
          </a:p>
          <a:p>
            <a:pPr algn="l" marL="755651" indent="-377825" lvl="1">
              <a:lnSpc>
                <a:spcPts val="8750"/>
              </a:lnSpc>
              <a:buFont typeface="Arial"/>
              <a:buChar char="•"/>
            </a:pPr>
            <a:r>
              <a:rPr lang="en-US" b="true" sz="3500" spc="17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25410167 - Vũ Thị Nhân Ái</a:t>
            </a:r>
          </a:p>
          <a:p>
            <a:pPr algn="l" marL="755651" indent="-377825" lvl="1">
              <a:lnSpc>
                <a:spcPts val="8750"/>
              </a:lnSpc>
              <a:buFont typeface="Arial"/>
              <a:buChar char="•"/>
            </a:pPr>
            <a:r>
              <a:rPr lang="en-US" b="true" sz="3500" spc="17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25410237 - Nguyễn Mậu An Khương</a:t>
            </a:r>
          </a:p>
          <a:p>
            <a:pPr algn="l" marL="755651" indent="-377825" lvl="1">
              <a:lnSpc>
                <a:spcPts val="8750"/>
              </a:lnSpc>
              <a:buFont typeface="Arial"/>
              <a:buChar char="•"/>
            </a:pPr>
            <a:r>
              <a:rPr lang="en-US" b="true" sz="3500" spc="17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25410168 - Phạm Ngọc Bảo An</a:t>
            </a:r>
          </a:p>
          <a:p>
            <a:pPr algn="l" marL="755651" indent="-377825" lvl="1">
              <a:lnSpc>
                <a:spcPts val="8750"/>
              </a:lnSpc>
              <a:buFont typeface="Arial"/>
              <a:buChar char="•"/>
            </a:pPr>
            <a:r>
              <a:rPr lang="en-US" b="true" sz="3500" spc="17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25410191 - Hồ Nguyễn Bảo Duy</a:t>
            </a:r>
          </a:p>
          <a:p>
            <a:pPr algn="l" marL="755651" indent="-377825" lvl="1">
              <a:lnSpc>
                <a:spcPts val="8750"/>
              </a:lnSpc>
              <a:buFont typeface="Arial"/>
              <a:buChar char="•"/>
            </a:pPr>
            <a:r>
              <a:rPr lang="en-US" b="true" sz="3500" spc="17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25410206 - Nguyễn Đắc Hiển</a:t>
            </a:r>
          </a:p>
          <a:p>
            <a:pPr algn="l" marL="755651" indent="-377825" lvl="1">
              <a:lnSpc>
                <a:spcPts val="8750"/>
              </a:lnSpc>
              <a:buFont typeface="Arial"/>
              <a:buChar char="•"/>
            </a:pPr>
            <a:r>
              <a:rPr lang="en-US" b="true" sz="3500" spc="17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25410223 - Lê Quốc Hưng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908584" y="96570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500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2600314" y="-409978"/>
            <a:ext cx="10820333" cy="10840042"/>
          </a:xfrm>
          <a:custGeom>
            <a:avLst/>
            <a:gdLst/>
            <a:ahLst/>
            <a:cxnLst/>
            <a:rect r="r" b="b" t="t" l="l"/>
            <a:pathLst>
              <a:path h="10840042" w="10820333">
                <a:moveTo>
                  <a:pt x="10820333" y="0"/>
                </a:moveTo>
                <a:lnTo>
                  <a:pt x="0" y="0"/>
                </a:lnTo>
                <a:lnTo>
                  <a:pt x="0" y="10840042"/>
                </a:lnTo>
                <a:lnTo>
                  <a:pt x="10820333" y="10840042"/>
                </a:lnTo>
                <a:lnTo>
                  <a:pt x="10820333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1028700"/>
            <a:ext cx="10552836" cy="8229600"/>
            <a:chOff x="0" y="0"/>
            <a:chExt cx="2779348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79348" cy="2167467"/>
            </a:xfrm>
            <a:custGeom>
              <a:avLst/>
              <a:gdLst/>
              <a:ahLst/>
              <a:cxnLst/>
              <a:rect r="r" b="b" t="t" l="l"/>
              <a:pathLst>
                <a:path h="2167467" w="2779348">
                  <a:moveTo>
                    <a:pt x="35214" y="0"/>
                  </a:moveTo>
                  <a:lnTo>
                    <a:pt x="2744133" y="0"/>
                  </a:lnTo>
                  <a:cubicBezTo>
                    <a:pt x="2753473" y="0"/>
                    <a:pt x="2762430" y="3710"/>
                    <a:pt x="2769034" y="10314"/>
                  </a:cubicBezTo>
                  <a:cubicBezTo>
                    <a:pt x="2775638" y="16918"/>
                    <a:pt x="2779348" y="25875"/>
                    <a:pt x="2779348" y="35214"/>
                  </a:cubicBezTo>
                  <a:lnTo>
                    <a:pt x="2779348" y="2132252"/>
                  </a:lnTo>
                  <a:cubicBezTo>
                    <a:pt x="2779348" y="2151701"/>
                    <a:pt x="2763582" y="2167467"/>
                    <a:pt x="2744133" y="2167467"/>
                  </a:cubicBezTo>
                  <a:lnTo>
                    <a:pt x="35214" y="2167467"/>
                  </a:lnTo>
                  <a:cubicBezTo>
                    <a:pt x="25875" y="2167467"/>
                    <a:pt x="16918" y="2163757"/>
                    <a:pt x="10314" y="2157153"/>
                  </a:cubicBezTo>
                  <a:cubicBezTo>
                    <a:pt x="3710" y="2150549"/>
                    <a:pt x="0" y="2141592"/>
                    <a:pt x="0" y="2132252"/>
                  </a:cubicBezTo>
                  <a:lnTo>
                    <a:pt x="0" y="35214"/>
                  </a:lnTo>
                  <a:cubicBezTo>
                    <a:pt x="0" y="15766"/>
                    <a:pt x="15766" y="0"/>
                    <a:pt x="35214" y="0"/>
                  </a:cubicBezTo>
                  <a:close/>
                </a:path>
              </a:pathLst>
            </a:custGeom>
            <a:solidFill>
              <a:srgbClr val="FFD1D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779348" cy="2186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1662580">
            <a:off x="15185524" y="-615913"/>
            <a:ext cx="2243338" cy="2286205"/>
          </a:xfrm>
          <a:custGeom>
            <a:avLst/>
            <a:gdLst/>
            <a:ahLst/>
            <a:cxnLst/>
            <a:rect r="r" b="b" t="t" l="l"/>
            <a:pathLst>
              <a:path h="2286205" w="2243338">
                <a:moveTo>
                  <a:pt x="0" y="0"/>
                </a:moveTo>
                <a:lnTo>
                  <a:pt x="2243339" y="0"/>
                </a:lnTo>
                <a:lnTo>
                  <a:pt x="2243339" y="2286204"/>
                </a:lnTo>
                <a:lnTo>
                  <a:pt x="0" y="22862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082314">
            <a:off x="7332883" y="8146105"/>
            <a:ext cx="1435128" cy="1462551"/>
          </a:xfrm>
          <a:custGeom>
            <a:avLst/>
            <a:gdLst/>
            <a:ahLst/>
            <a:cxnLst/>
            <a:rect r="r" b="b" t="t" l="l"/>
            <a:pathLst>
              <a:path h="1462551" w="1435128">
                <a:moveTo>
                  <a:pt x="0" y="0"/>
                </a:moveTo>
                <a:lnTo>
                  <a:pt x="1435128" y="0"/>
                </a:lnTo>
                <a:lnTo>
                  <a:pt x="1435128" y="1462550"/>
                </a:lnTo>
                <a:lnTo>
                  <a:pt x="0" y="1462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51042" y="3881132"/>
            <a:ext cx="7337097" cy="6548932"/>
          </a:xfrm>
          <a:custGeom>
            <a:avLst/>
            <a:gdLst/>
            <a:ahLst/>
            <a:cxnLst/>
            <a:rect r="r" b="b" t="t" l="l"/>
            <a:pathLst>
              <a:path h="6548932" w="7337097">
                <a:moveTo>
                  <a:pt x="0" y="0"/>
                </a:moveTo>
                <a:lnTo>
                  <a:pt x="7337096" y="0"/>
                </a:lnTo>
                <a:lnTo>
                  <a:pt x="7337096" y="6548932"/>
                </a:lnTo>
                <a:lnTo>
                  <a:pt x="0" y="65489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839161" y="3306563"/>
            <a:ext cx="4642806" cy="4144067"/>
          </a:xfrm>
          <a:custGeom>
            <a:avLst/>
            <a:gdLst/>
            <a:ahLst/>
            <a:cxnLst/>
            <a:rect r="r" b="b" t="t" l="l"/>
            <a:pathLst>
              <a:path h="4144067" w="4642806">
                <a:moveTo>
                  <a:pt x="0" y="0"/>
                </a:moveTo>
                <a:lnTo>
                  <a:pt x="4642806" y="0"/>
                </a:lnTo>
                <a:lnTo>
                  <a:pt x="4642806" y="4144067"/>
                </a:lnTo>
                <a:lnTo>
                  <a:pt x="0" y="41440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48990" y="697515"/>
            <a:ext cx="6981780" cy="2422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52"/>
              </a:lnSpc>
            </a:pPr>
            <a:r>
              <a:rPr lang="en-US" sz="10400" spc="-520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Nội dung trình bày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908584" y="96570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855494" y="1599492"/>
            <a:ext cx="10555712" cy="7088017"/>
            <a:chOff x="0" y="0"/>
            <a:chExt cx="14074283" cy="9450689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76200"/>
              <a:ext cx="6085606" cy="781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1"/>
                </a:lnSpc>
              </a:pPr>
              <a:r>
                <a:rPr lang="en-US" sz="3901" spc="-78" b="true">
                  <a:solidFill>
                    <a:srgbClr val="A5006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I. Tổng quan đề tài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05923"/>
              <a:ext cx="14055021" cy="583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10"/>
                </a:lnSpc>
              </a:pPr>
              <a:r>
                <a:rPr lang="en-US" sz="2925" spc="-58">
                  <a:solidFill>
                    <a:srgbClr val="A5006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M_Service – MoMo – phạm vi nghiên cứu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9262" y="2017509"/>
              <a:ext cx="13096213" cy="781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1"/>
                </a:lnSpc>
              </a:pPr>
              <a:r>
                <a:rPr lang="en-US" sz="3901" spc="-78" b="true">
                  <a:solidFill>
                    <a:srgbClr val="A5006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II. Phân loại quy trình nghiệp vụ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9262" y="2847232"/>
              <a:ext cx="14055021" cy="583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10"/>
                </a:lnSpc>
              </a:pPr>
              <a:r>
                <a:rPr lang="en-US" sz="2925" spc="-58">
                  <a:solidFill>
                    <a:srgbClr val="A5006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Management – Core – Support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9262" y="3967370"/>
              <a:ext cx="13096213" cy="781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1"/>
                </a:lnSpc>
              </a:pPr>
              <a:r>
                <a:rPr lang="en-US" sz="3901" spc="-78" b="true">
                  <a:solidFill>
                    <a:srgbClr val="A5006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III. Kiến trúc quy trình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9262" y="4797093"/>
              <a:ext cx="14055021" cy="583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10"/>
                </a:lnSpc>
              </a:pPr>
              <a:r>
                <a:rPr lang="en-US" sz="2925" spc="-58">
                  <a:solidFill>
                    <a:srgbClr val="A5006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Hệ thống quy trình nghiệp vụ mảng vé máy bay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9262" y="5998738"/>
              <a:ext cx="13096213" cy="781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1"/>
                </a:lnSpc>
              </a:pPr>
              <a:r>
                <a:rPr lang="en-US" sz="3901" spc="-78" b="true">
                  <a:solidFill>
                    <a:srgbClr val="A5006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IV. Nhóm quy trình quản lý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9262" y="6828461"/>
              <a:ext cx="14055021" cy="583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10"/>
                </a:lnSpc>
              </a:pPr>
              <a:r>
                <a:rPr lang="en-US" sz="2925" spc="-58">
                  <a:solidFill>
                    <a:srgbClr val="A5006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Quản trị giá/ Khuyến mãi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9262" y="8037068"/>
              <a:ext cx="13096213" cy="781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1"/>
                </a:lnSpc>
              </a:pPr>
              <a:r>
                <a:rPr lang="en-US" sz="3901" spc="-78" b="true">
                  <a:solidFill>
                    <a:srgbClr val="A5006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V. Nhóm quy trình cốt lõi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9262" y="8866791"/>
              <a:ext cx="14055021" cy="583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10"/>
                </a:lnSpc>
              </a:pPr>
              <a:r>
                <a:rPr lang="en-US" sz="2925" spc="-58">
                  <a:solidFill>
                    <a:srgbClr val="A5006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Đặt vé – Mua thêm dịch vụ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300021" y="-553042"/>
            <a:ext cx="10820333" cy="10840042"/>
          </a:xfrm>
          <a:custGeom>
            <a:avLst/>
            <a:gdLst/>
            <a:ahLst/>
            <a:cxnLst/>
            <a:rect r="r" b="b" t="t" l="l"/>
            <a:pathLst>
              <a:path h="10840042" w="10820333">
                <a:moveTo>
                  <a:pt x="10820333" y="0"/>
                </a:moveTo>
                <a:lnTo>
                  <a:pt x="0" y="0"/>
                </a:lnTo>
                <a:lnTo>
                  <a:pt x="0" y="10840042"/>
                </a:lnTo>
                <a:lnTo>
                  <a:pt x="10820333" y="10840042"/>
                </a:lnTo>
                <a:lnTo>
                  <a:pt x="10820333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408836" y="1028700"/>
            <a:ext cx="10552836" cy="8229600"/>
            <a:chOff x="0" y="0"/>
            <a:chExt cx="2779348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79348" cy="2167467"/>
            </a:xfrm>
            <a:custGeom>
              <a:avLst/>
              <a:gdLst/>
              <a:ahLst/>
              <a:cxnLst/>
              <a:rect r="r" b="b" t="t" l="l"/>
              <a:pathLst>
                <a:path h="2167467" w="2779348">
                  <a:moveTo>
                    <a:pt x="35214" y="0"/>
                  </a:moveTo>
                  <a:lnTo>
                    <a:pt x="2744133" y="0"/>
                  </a:lnTo>
                  <a:cubicBezTo>
                    <a:pt x="2753473" y="0"/>
                    <a:pt x="2762430" y="3710"/>
                    <a:pt x="2769034" y="10314"/>
                  </a:cubicBezTo>
                  <a:cubicBezTo>
                    <a:pt x="2775638" y="16918"/>
                    <a:pt x="2779348" y="25875"/>
                    <a:pt x="2779348" y="35214"/>
                  </a:cubicBezTo>
                  <a:lnTo>
                    <a:pt x="2779348" y="2132252"/>
                  </a:lnTo>
                  <a:cubicBezTo>
                    <a:pt x="2779348" y="2151701"/>
                    <a:pt x="2763582" y="2167467"/>
                    <a:pt x="2744133" y="2167467"/>
                  </a:cubicBezTo>
                  <a:lnTo>
                    <a:pt x="35214" y="2167467"/>
                  </a:lnTo>
                  <a:cubicBezTo>
                    <a:pt x="25875" y="2167467"/>
                    <a:pt x="16918" y="2163757"/>
                    <a:pt x="10314" y="2157153"/>
                  </a:cubicBezTo>
                  <a:cubicBezTo>
                    <a:pt x="3710" y="2150549"/>
                    <a:pt x="0" y="2141592"/>
                    <a:pt x="0" y="2132252"/>
                  </a:cubicBezTo>
                  <a:lnTo>
                    <a:pt x="0" y="35214"/>
                  </a:lnTo>
                  <a:cubicBezTo>
                    <a:pt x="0" y="15766"/>
                    <a:pt x="15766" y="0"/>
                    <a:pt x="35214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779348" cy="2186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1662580">
            <a:off x="15641767" y="-520204"/>
            <a:ext cx="2243338" cy="2286205"/>
          </a:xfrm>
          <a:custGeom>
            <a:avLst/>
            <a:gdLst/>
            <a:ahLst/>
            <a:cxnLst/>
            <a:rect r="r" b="b" t="t" l="l"/>
            <a:pathLst>
              <a:path h="2286205" w="2243338">
                <a:moveTo>
                  <a:pt x="0" y="0"/>
                </a:moveTo>
                <a:lnTo>
                  <a:pt x="2243339" y="0"/>
                </a:lnTo>
                <a:lnTo>
                  <a:pt x="2243339" y="2286205"/>
                </a:lnTo>
                <a:lnTo>
                  <a:pt x="0" y="22862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082314">
            <a:off x="7350543" y="8527025"/>
            <a:ext cx="1435128" cy="1462551"/>
          </a:xfrm>
          <a:custGeom>
            <a:avLst/>
            <a:gdLst/>
            <a:ahLst/>
            <a:cxnLst/>
            <a:rect r="r" b="b" t="t" l="l"/>
            <a:pathLst>
              <a:path h="1462551" w="1435128">
                <a:moveTo>
                  <a:pt x="0" y="0"/>
                </a:moveTo>
                <a:lnTo>
                  <a:pt x="1435128" y="0"/>
                </a:lnTo>
                <a:lnTo>
                  <a:pt x="1435128" y="1462550"/>
                </a:lnTo>
                <a:lnTo>
                  <a:pt x="0" y="1462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926513" y="3576780"/>
            <a:ext cx="7337097" cy="6548932"/>
          </a:xfrm>
          <a:custGeom>
            <a:avLst/>
            <a:gdLst/>
            <a:ahLst/>
            <a:cxnLst/>
            <a:rect r="r" b="b" t="t" l="l"/>
            <a:pathLst>
              <a:path h="6548932" w="7337097">
                <a:moveTo>
                  <a:pt x="0" y="0"/>
                </a:moveTo>
                <a:lnTo>
                  <a:pt x="7337096" y="0"/>
                </a:lnTo>
                <a:lnTo>
                  <a:pt x="7337096" y="6548932"/>
                </a:lnTo>
                <a:lnTo>
                  <a:pt x="0" y="65489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77548" y="4179039"/>
            <a:ext cx="4642806" cy="4144067"/>
          </a:xfrm>
          <a:custGeom>
            <a:avLst/>
            <a:gdLst/>
            <a:ahLst/>
            <a:cxnLst/>
            <a:rect r="r" b="b" t="t" l="l"/>
            <a:pathLst>
              <a:path h="4144067" w="4642806">
                <a:moveTo>
                  <a:pt x="0" y="0"/>
                </a:moveTo>
                <a:lnTo>
                  <a:pt x="4642806" y="0"/>
                </a:lnTo>
                <a:lnTo>
                  <a:pt x="4642806" y="4144067"/>
                </a:lnTo>
                <a:lnTo>
                  <a:pt x="0" y="41440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908584" y="96570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36140" y="2156471"/>
            <a:ext cx="10555712" cy="5586028"/>
            <a:chOff x="0" y="0"/>
            <a:chExt cx="14074283" cy="744803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104775"/>
              <a:ext cx="9575508" cy="9622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12"/>
                </a:lnSpc>
              </a:pPr>
              <a:r>
                <a:rPr lang="en-US" sz="3901" spc="-78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</a:t>
              </a:r>
              <a:r>
                <a:rPr lang="en-US" b="true" sz="3901" spc="-78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I. Nhóm quy trình hỗ trợ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829615"/>
              <a:ext cx="14055021" cy="6691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359"/>
                </a:lnSpc>
              </a:pPr>
              <a:r>
                <a:rPr lang="en-US" sz="2925" spc="-58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Hỗ t</a:t>
              </a:r>
              <a:r>
                <a:rPr lang="en-US" sz="2925" spc="-58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rợ khách hàng – Xuất hóa đơn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9262" y="1845453"/>
              <a:ext cx="13096213" cy="9622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12"/>
                </a:lnSpc>
              </a:pPr>
              <a:r>
                <a:rPr lang="en-US" sz="3901" spc="-78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</a:t>
              </a:r>
              <a:r>
                <a:rPr lang="en-US" b="true" sz="3901" spc="-78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II. Phân tích định tính và định lượng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9262" y="2779843"/>
              <a:ext cx="14055021" cy="6691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359"/>
                </a:lnSpc>
              </a:pPr>
              <a:r>
                <a:rPr lang="en-US" sz="2925" spc="-58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VA/BVA/NVA – W</a:t>
              </a:r>
              <a:r>
                <a:rPr lang="en-US" sz="2925" spc="-58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aste – Time – Quality – Cost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9262" y="3804235"/>
              <a:ext cx="13096213" cy="9622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12"/>
                </a:lnSpc>
              </a:pPr>
              <a:r>
                <a:rPr lang="en-US" sz="3901" spc="-78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</a:t>
              </a:r>
              <a:r>
                <a:rPr lang="en-US" b="true" sz="3901" spc="-78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III. Stakeholder &amp; Pareto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9262" y="4738624"/>
              <a:ext cx="14055021" cy="6691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359"/>
                </a:lnSpc>
              </a:pPr>
              <a:r>
                <a:rPr lang="en-US" sz="2925" spc="-58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Vấn đề</a:t>
              </a:r>
              <a:r>
                <a:rPr lang="en-US" sz="2925" spc="-58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tồn tại và thứ tự ưu tiên cải tiến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9262" y="5844522"/>
              <a:ext cx="13096213" cy="9622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12"/>
                </a:lnSpc>
              </a:pPr>
              <a:r>
                <a:rPr lang="en-US" b="true" sz="3901" spc="-78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IX. Kết luận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9262" y="6778912"/>
              <a:ext cx="14055021" cy="6691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359"/>
                </a:lnSpc>
              </a:pPr>
              <a:r>
                <a:rPr lang="en-US" sz="2925" spc="-58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Kết q</a:t>
              </a:r>
              <a:r>
                <a:rPr lang="en-US" sz="2925" spc="-58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uả và định hướng cải tiến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77520" y="883656"/>
            <a:ext cx="6981780" cy="2422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52"/>
              </a:lnSpc>
            </a:pPr>
            <a:r>
              <a:rPr lang="en-US" sz="10400" spc="-520" b="true">
                <a:solidFill>
                  <a:srgbClr val="A5006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Nội dung trình bày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500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9288" y="1565400"/>
            <a:ext cx="8307118" cy="8139282"/>
            <a:chOff x="0" y="0"/>
            <a:chExt cx="2516057" cy="24652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16057" cy="2465223"/>
            </a:xfrm>
            <a:custGeom>
              <a:avLst/>
              <a:gdLst/>
              <a:ahLst/>
              <a:cxnLst/>
              <a:rect r="r" b="b" t="t" l="l"/>
              <a:pathLst>
                <a:path h="2465223" w="2516057">
                  <a:moveTo>
                    <a:pt x="44734" y="0"/>
                  </a:moveTo>
                  <a:lnTo>
                    <a:pt x="2471323" y="0"/>
                  </a:lnTo>
                  <a:cubicBezTo>
                    <a:pt x="2483187" y="0"/>
                    <a:pt x="2494565" y="4713"/>
                    <a:pt x="2502954" y="13102"/>
                  </a:cubicBezTo>
                  <a:cubicBezTo>
                    <a:pt x="2511344" y="21492"/>
                    <a:pt x="2516057" y="32870"/>
                    <a:pt x="2516057" y="44734"/>
                  </a:cubicBezTo>
                  <a:lnTo>
                    <a:pt x="2516057" y="2420488"/>
                  </a:lnTo>
                  <a:cubicBezTo>
                    <a:pt x="2516057" y="2432353"/>
                    <a:pt x="2511344" y="2443731"/>
                    <a:pt x="2502954" y="2452120"/>
                  </a:cubicBezTo>
                  <a:cubicBezTo>
                    <a:pt x="2494565" y="2460510"/>
                    <a:pt x="2483187" y="2465223"/>
                    <a:pt x="2471323" y="2465223"/>
                  </a:cubicBezTo>
                  <a:lnTo>
                    <a:pt x="44734" y="2465223"/>
                  </a:lnTo>
                  <a:cubicBezTo>
                    <a:pt x="32870" y="2465223"/>
                    <a:pt x="21492" y="2460510"/>
                    <a:pt x="13102" y="2452120"/>
                  </a:cubicBezTo>
                  <a:cubicBezTo>
                    <a:pt x="4713" y="2443731"/>
                    <a:pt x="0" y="2432353"/>
                    <a:pt x="0" y="2420488"/>
                  </a:cubicBezTo>
                  <a:lnTo>
                    <a:pt x="0" y="44734"/>
                  </a:lnTo>
                  <a:cubicBezTo>
                    <a:pt x="0" y="32870"/>
                    <a:pt x="4713" y="21492"/>
                    <a:pt x="13102" y="13102"/>
                  </a:cubicBezTo>
                  <a:cubicBezTo>
                    <a:pt x="21492" y="4713"/>
                    <a:pt x="32870" y="0"/>
                    <a:pt x="44734" y="0"/>
                  </a:cubicBezTo>
                  <a:close/>
                </a:path>
              </a:pathLst>
            </a:custGeom>
            <a:solidFill>
              <a:srgbClr val="FFD1D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516057" cy="2484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44924" y="1565400"/>
            <a:ext cx="8530310" cy="8139282"/>
            <a:chOff x="0" y="0"/>
            <a:chExt cx="2583657" cy="24652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3657" cy="2465223"/>
            </a:xfrm>
            <a:custGeom>
              <a:avLst/>
              <a:gdLst/>
              <a:ahLst/>
              <a:cxnLst/>
              <a:rect r="r" b="b" t="t" l="l"/>
              <a:pathLst>
                <a:path h="2465223" w="2583657">
                  <a:moveTo>
                    <a:pt x="43564" y="0"/>
                  </a:moveTo>
                  <a:lnTo>
                    <a:pt x="2540093" y="0"/>
                  </a:lnTo>
                  <a:cubicBezTo>
                    <a:pt x="2551647" y="0"/>
                    <a:pt x="2562727" y="4590"/>
                    <a:pt x="2570897" y="12760"/>
                  </a:cubicBezTo>
                  <a:cubicBezTo>
                    <a:pt x="2579067" y="20929"/>
                    <a:pt x="2583657" y="32010"/>
                    <a:pt x="2583657" y="43564"/>
                  </a:cubicBezTo>
                  <a:lnTo>
                    <a:pt x="2583657" y="2421659"/>
                  </a:lnTo>
                  <a:cubicBezTo>
                    <a:pt x="2583657" y="2433213"/>
                    <a:pt x="2579067" y="2444293"/>
                    <a:pt x="2570897" y="2452463"/>
                  </a:cubicBezTo>
                  <a:cubicBezTo>
                    <a:pt x="2562727" y="2460633"/>
                    <a:pt x="2551647" y="2465223"/>
                    <a:pt x="2540093" y="2465223"/>
                  </a:cubicBezTo>
                  <a:lnTo>
                    <a:pt x="43564" y="2465223"/>
                  </a:lnTo>
                  <a:cubicBezTo>
                    <a:pt x="32010" y="2465223"/>
                    <a:pt x="20929" y="2460633"/>
                    <a:pt x="12760" y="2452463"/>
                  </a:cubicBezTo>
                  <a:cubicBezTo>
                    <a:pt x="4590" y="2444293"/>
                    <a:pt x="0" y="2433213"/>
                    <a:pt x="0" y="2421659"/>
                  </a:cubicBezTo>
                  <a:lnTo>
                    <a:pt x="0" y="43564"/>
                  </a:lnTo>
                  <a:cubicBezTo>
                    <a:pt x="0" y="32010"/>
                    <a:pt x="4590" y="20929"/>
                    <a:pt x="12760" y="12760"/>
                  </a:cubicBezTo>
                  <a:cubicBezTo>
                    <a:pt x="20929" y="4590"/>
                    <a:pt x="32010" y="0"/>
                    <a:pt x="43564" y="0"/>
                  </a:cubicBezTo>
                  <a:close/>
                </a:path>
              </a:pathLst>
            </a:custGeom>
            <a:solidFill>
              <a:srgbClr val="FFD1D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583657" cy="2484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908584" y="96570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9288" y="322575"/>
            <a:ext cx="15512415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I. Tổ</a:t>
            </a:r>
            <a:r>
              <a:rPr lang="en-US" b="true" sz="50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ng quan M_Service và dịch vụ đặt vé máy bay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160321"/>
            <a:ext cx="7553201" cy="710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500" spc="-7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01.</a:t>
            </a:r>
            <a:r>
              <a:rPr lang="en-US" b="true" sz="3500" spc="-7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Doanh nghiệp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MoMo thuộc Công ty Cổ phần Dịch vụ Di động Trực tuyến – M_Service.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MoMo phát triển theo mô hình Super App.</a:t>
            </a:r>
          </a:p>
          <a:p>
            <a:pPr algn="l">
              <a:lnSpc>
                <a:spcPts val="3510"/>
              </a:lnSpc>
              <a:spcBef>
                <a:spcPct val="0"/>
              </a:spcBef>
            </a:pPr>
          </a:p>
          <a:p>
            <a:pPr algn="l">
              <a:lnSpc>
                <a:spcPts val="351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500" spc="-7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03. Hệ sinh thái liên kết</a:t>
            </a:r>
          </a:p>
          <a:p>
            <a:pPr algn="l">
              <a:lnSpc>
                <a:spcPts val="351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Khách hàng.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M_Service.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Hãng hàng không.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Nhà cung cấp (đại lý vé).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Hệ thống thanh toán.</a:t>
            </a:r>
          </a:p>
          <a:p>
            <a:pPr algn="l">
              <a:lnSpc>
                <a:spcPts val="351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733479" y="1924407"/>
            <a:ext cx="7553201" cy="757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500" spc="-7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02.</a:t>
            </a:r>
            <a:r>
              <a:rPr lang="en-US" b="true" sz="3500" spc="-7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Lĩnh vực nghiên cứu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Thương mại điện tử.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Dịch vụ du lịch trực tuyến – OTA.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Đặt vé</a:t>
            </a:r>
            <a:r>
              <a:rPr lang="en-US" sz="3000" spc="-60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máy bay trực tiếp trên ứng dụng MoMo.</a:t>
            </a:r>
          </a:p>
          <a:p>
            <a:pPr algn="l">
              <a:lnSpc>
                <a:spcPts val="351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500" spc="-7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04. Dữ liệu cần quản lý</a:t>
            </a:r>
          </a:p>
          <a:p>
            <a:pPr algn="l">
              <a:lnSpc>
                <a:spcPts val="351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Giá vé.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Hạng vé.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Thông tin khách hàng.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Booking.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Thanh toán.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Vé điện tử.</a:t>
            </a:r>
          </a:p>
          <a:p>
            <a:pPr algn="l">
              <a:lnSpc>
                <a:spcPts val="3510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463370" y="7044335"/>
            <a:ext cx="5517842" cy="4138382"/>
          </a:xfrm>
          <a:custGeom>
            <a:avLst/>
            <a:gdLst/>
            <a:ahLst/>
            <a:cxnLst/>
            <a:rect r="r" b="b" t="t" l="l"/>
            <a:pathLst>
              <a:path h="4138382" w="5517842">
                <a:moveTo>
                  <a:pt x="0" y="0"/>
                </a:moveTo>
                <a:lnTo>
                  <a:pt x="5517842" y="0"/>
                </a:lnTo>
                <a:lnTo>
                  <a:pt x="5517842" y="4138382"/>
                </a:lnTo>
                <a:lnTo>
                  <a:pt x="0" y="41383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D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908584" y="96570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173231" y="1596824"/>
            <a:ext cx="2964328" cy="1107765"/>
            <a:chOff x="0" y="0"/>
            <a:chExt cx="780728" cy="2917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0728" cy="291757"/>
            </a:xfrm>
            <a:custGeom>
              <a:avLst/>
              <a:gdLst/>
              <a:ahLst/>
              <a:cxnLst/>
              <a:rect r="r" b="b" t="t" l="l"/>
              <a:pathLst>
                <a:path h="291757" w="780728">
                  <a:moveTo>
                    <a:pt x="125361" y="0"/>
                  </a:moveTo>
                  <a:lnTo>
                    <a:pt x="655367" y="0"/>
                  </a:lnTo>
                  <a:cubicBezTo>
                    <a:pt x="688615" y="0"/>
                    <a:pt x="720501" y="13208"/>
                    <a:pt x="744011" y="36717"/>
                  </a:cubicBezTo>
                  <a:cubicBezTo>
                    <a:pt x="767521" y="60227"/>
                    <a:pt x="780728" y="92113"/>
                    <a:pt x="780728" y="125361"/>
                  </a:cubicBezTo>
                  <a:lnTo>
                    <a:pt x="780728" y="166396"/>
                  </a:lnTo>
                  <a:cubicBezTo>
                    <a:pt x="780728" y="199644"/>
                    <a:pt x="767521" y="231530"/>
                    <a:pt x="744011" y="255040"/>
                  </a:cubicBezTo>
                  <a:cubicBezTo>
                    <a:pt x="720501" y="278549"/>
                    <a:pt x="688615" y="291757"/>
                    <a:pt x="655367" y="291757"/>
                  </a:cubicBezTo>
                  <a:lnTo>
                    <a:pt x="125361" y="291757"/>
                  </a:lnTo>
                  <a:cubicBezTo>
                    <a:pt x="56126" y="291757"/>
                    <a:pt x="0" y="235631"/>
                    <a:pt x="0" y="166396"/>
                  </a:cubicBezTo>
                  <a:lnTo>
                    <a:pt x="0" y="125361"/>
                  </a:lnTo>
                  <a:cubicBezTo>
                    <a:pt x="0" y="92113"/>
                    <a:pt x="13208" y="60227"/>
                    <a:pt x="36717" y="36717"/>
                  </a:cubicBezTo>
                  <a:cubicBezTo>
                    <a:pt x="60227" y="13208"/>
                    <a:pt x="92113" y="0"/>
                    <a:pt x="125361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780728" cy="310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6585468"/>
            <a:ext cx="7590477" cy="3270027"/>
            <a:chOff x="0" y="0"/>
            <a:chExt cx="1999138" cy="8612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9138" cy="861242"/>
            </a:xfrm>
            <a:custGeom>
              <a:avLst/>
              <a:gdLst/>
              <a:ahLst/>
              <a:cxnLst/>
              <a:rect r="r" b="b" t="t" l="l"/>
              <a:pathLst>
                <a:path h="861242" w="1999138">
                  <a:moveTo>
                    <a:pt x="48958" y="0"/>
                  </a:moveTo>
                  <a:lnTo>
                    <a:pt x="1950180" y="0"/>
                  </a:lnTo>
                  <a:cubicBezTo>
                    <a:pt x="1963165" y="0"/>
                    <a:pt x="1975617" y="5158"/>
                    <a:pt x="1984799" y="14339"/>
                  </a:cubicBezTo>
                  <a:cubicBezTo>
                    <a:pt x="1993980" y="23521"/>
                    <a:pt x="1999138" y="35973"/>
                    <a:pt x="1999138" y="48958"/>
                  </a:cubicBezTo>
                  <a:lnTo>
                    <a:pt x="1999138" y="812284"/>
                  </a:lnTo>
                  <a:cubicBezTo>
                    <a:pt x="1999138" y="825268"/>
                    <a:pt x="1993980" y="837721"/>
                    <a:pt x="1984799" y="846902"/>
                  </a:cubicBezTo>
                  <a:cubicBezTo>
                    <a:pt x="1975617" y="856084"/>
                    <a:pt x="1963165" y="861242"/>
                    <a:pt x="1950180" y="861242"/>
                  </a:cubicBezTo>
                  <a:lnTo>
                    <a:pt x="48958" y="861242"/>
                  </a:lnTo>
                  <a:cubicBezTo>
                    <a:pt x="21919" y="861242"/>
                    <a:pt x="0" y="839323"/>
                    <a:pt x="0" y="812284"/>
                  </a:cubicBezTo>
                  <a:lnTo>
                    <a:pt x="0" y="48958"/>
                  </a:lnTo>
                  <a:cubicBezTo>
                    <a:pt x="0" y="21919"/>
                    <a:pt x="21919" y="0"/>
                    <a:pt x="48958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999138" cy="880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409374"/>
            <a:ext cx="832604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A5006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Mục tiêu và phạm vi đồ án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25749" y="1853097"/>
            <a:ext cx="2259292" cy="57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1"/>
              </a:lnSpc>
              <a:spcBef>
                <a:spcPct val="0"/>
              </a:spcBef>
            </a:pPr>
            <a:r>
              <a:rPr lang="en-US" b="true" sz="3901" spc="-78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Mục tiêu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9042" y="7931059"/>
            <a:ext cx="7149213" cy="57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1"/>
              </a:lnSpc>
              <a:spcBef>
                <a:spcPct val="0"/>
              </a:spcBef>
            </a:pPr>
            <a:r>
              <a:rPr lang="en-US" b="true" sz="3901" spc="-78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Phạm vi phân tích chi tiết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173231" y="3188235"/>
            <a:ext cx="2964328" cy="2913586"/>
            <a:chOff x="0" y="0"/>
            <a:chExt cx="780728" cy="7673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0728" cy="767364"/>
            </a:xfrm>
            <a:custGeom>
              <a:avLst/>
              <a:gdLst/>
              <a:ahLst/>
              <a:cxnLst/>
              <a:rect r="r" b="b" t="t" l="l"/>
              <a:pathLst>
                <a:path h="767364" w="780728">
                  <a:moveTo>
                    <a:pt x="125361" y="0"/>
                  </a:moveTo>
                  <a:lnTo>
                    <a:pt x="655367" y="0"/>
                  </a:lnTo>
                  <a:cubicBezTo>
                    <a:pt x="688615" y="0"/>
                    <a:pt x="720501" y="13208"/>
                    <a:pt x="744011" y="36717"/>
                  </a:cubicBezTo>
                  <a:cubicBezTo>
                    <a:pt x="767521" y="60227"/>
                    <a:pt x="780728" y="92113"/>
                    <a:pt x="780728" y="125361"/>
                  </a:cubicBezTo>
                  <a:lnTo>
                    <a:pt x="780728" y="642003"/>
                  </a:lnTo>
                  <a:cubicBezTo>
                    <a:pt x="780728" y="675251"/>
                    <a:pt x="767521" y="707137"/>
                    <a:pt x="744011" y="730647"/>
                  </a:cubicBezTo>
                  <a:cubicBezTo>
                    <a:pt x="720501" y="754157"/>
                    <a:pt x="688615" y="767364"/>
                    <a:pt x="655367" y="767364"/>
                  </a:cubicBezTo>
                  <a:lnTo>
                    <a:pt x="125361" y="767364"/>
                  </a:lnTo>
                  <a:cubicBezTo>
                    <a:pt x="92113" y="767364"/>
                    <a:pt x="60227" y="754157"/>
                    <a:pt x="36717" y="730647"/>
                  </a:cubicBezTo>
                  <a:cubicBezTo>
                    <a:pt x="13208" y="707137"/>
                    <a:pt x="0" y="675251"/>
                    <a:pt x="0" y="642003"/>
                  </a:cubicBezTo>
                  <a:lnTo>
                    <a:pt x="0" y="125361"/>
                  </a:lnTo>
                  <a:cubicBezTo>
                    <a:pt x="0" y="92113"/>
                    <a:pt x="13208" y="60227"/>
                    <a:pt x="36717" y="36717"/>
                  </a:cubicBezTo>
                  <a:cubicBezTo>
                    <a:pt x="60227" y="13208"/>
                    <a:pt x="92113" y="0"/>
                    <a:pt x="125361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780728" cy="786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1596824"/>
            <a:ext cx="12649168" cy="4658537"/>
            <a:chOff x="0" y="0"/>
            <a:chExt cx="3331468" cy="12269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31468" cy="1226940"/>
            </a:xfrm>
            <a:custGeom>
              <a:avLst/>
              <a:gdLst/>
              <a:ahLst/>
              <a:cxnLst/>
              <a:rect r="r" b="b" t="t" l="l"/>
              <a:pathLst>
                <a:path h="1226940" w="3331468">
                  <a:moveTo>
                    <a:pt x="29378" y="0"/>
                  </a:moveTo>
                  <a:lnTo>
                    <a:pt x="3302090" y="0"/>
                  </a:lnTo>
                  <a:cubicBezTo>
                    <a:pt x="3309882" y="0"/>
                    <a:pt x="3317354" y="3095"/>
                    <a:pt x="3322863" y="8605"/>
                  </a:cubicBezTo>
                  <a:cubicBezTo>
                    <a:pt x="3328373" y="14114"/>
                    <a:pt x="3331468" y="21587"/>
                    <a:pt x="3331468" y="29378"/>
                  </a:cubicBezTo>
                  <a:lnTo>
                    <a:pt x="3331468" y="1197562"/>
                  </a:lnTo>
                  <a:cubicBezTo>
                    <a:pt x="3331468" y="1213787"/>
                    <a:pt x="3318315" y="1226940"/>
                    <a:pt x="3302090" y="1226940"/>
                  </a:cubicBezTo>
                  <a:lnTo>
                    <a:pt x="29378" y="1226940"/>
                  </a:lnTo>
                  <a:cubicBezTo>
                    <a:pt x="21587" y="1226940"/>
                    <a:pt x="14114" y="1223845"/>
                    <a:pt x="8605" y="1218335"/>
                  </a:cubicBezTo>
                  <a:cubicBezTo>
                    <a:pt x="3095" y="1212826"/>
                    <a:pt x="0" y="1205353"/>
                    <a:pt x="0" y="1197562"/>
                  </a:cubicBezTo>
                  <a:lnTo>
                    <a:pt x="0" y="29378"/>
                  </a:lnTo>
                  <a:cubicBezTo>
                    <a:pt x="0" y="21587"/>
                    <a:pt x="3095" y="14114"/>
                    <a:pt x="8605" y="8605"/>
                  </a:cubicBezTo>
                  <a:cubicBezTo>
                    <a:pt x="14114" y="3095"/>
                    <a:pt x="21587" y="0"/>
                    <a:pt x="29378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3331468" cy="1245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0" y="6585468"/>
            <a:ext cx="7869098" cy="3270027"/>
            <a:chOff x="0" y="0"/>
            <a:chExt cx="2072520" cy="86124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72520" cy="861242"/>
            </a:xfrm>
            <a:custGeom>
              <a:avLst/>
              <a:gdLst/>
              <a:ahLst/>
              <a:cxnLst/>
              <a:rect r="r" b="b" t="t" l="l"/>
              <a:pathLst>
                <a:path h="861242" w="2072520">
                  <a:moveTo>
                    <a:pt x="47224" y="0"/>
                  </a:moveTo>
                  <a:lnTo>
                    <a:pt x="2025295" y="0"/>
                  </a:lnTo>
                  <a:cubicBezTo>
                    <a:pt x="2037820" y="0"/>
                    <a:pt x="2049832" y="4975"/>
                    <a:pt x="2058688" y="13832"/>
                  </a:cubicBezTo>
                  <a:cubicBezTo>
                    <a:pt x="2067544" y="22688"/>
                    <a:pt x="2072520" y="34700"/>
                    <a:pt x="2072520" y="47224"/>
                  </a:cubicBezTo>
                  <a:lnTo>
                    <a:pt x="2072520" y="814017"/>
                  </a:lnTo>
                  <a:cubicBezTo>
                    <a:pt x="2072520" y="826542"/>
                    <a:pt x="2067544" y="838554"/>
                    <a:pt x="2058688" y="847410"/>
                  </a:cubicBezTo>
                  <a:cubicBezTo>
                    <a:pt x="2049832" y="856266"/>
                    <a:pt x="2037820" y="861242"/>
                    <a:pt x="2025295" y="861242"/>
                  </a:cubicBezTo>
                  <a:lnTo>
                    <a:pt x="47224" y="861242"/>
                  </a:lnTo>
                  <a:cubicBezTo>
                    <a:pt x="21143" y="861242"/>
                    <a:pt x="0" y="840099"/>
                    <a:pt x="0" y="814017"/>
                  </a:cubicBezTo>
                  <a:lnTo>
                    <a:pt x="0" y="47224"/>
                  </a:lnTo>
                  <a:cubicBezTo>
                    <a:pt x="0" y="34700"/>
                    <a:pt x="4975" y="22688"/>
                    <a:pt x="13832" y="13832"/>
                  </a:cubicBezTo>
                  <a:cubicBezTo>
                    <a:pt x="22688" y="4975"/>
                    <a:pt x="34700" y="0"/>
                    <a:pt x="47224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072520" cy="880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453850" y="2016953"/>
            <a:ext cx="11369560" cy="424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spc="-6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Ứng dụng lý thuyết BPMS để rà soát kiến trúc quy trình nghiệp vụ mảng đặt vé máy bay trên MoMo.</a:t>
            </a:r>
          </a:p>
          <a:p>
            <a:pPr algn="ctr">
              <a:lnSpc>
                <a:spcPts val="3000"/>
              </a:lnSpc>
            </a:pPr>
            <a:r>
              <a:rPr lang="en-US" b="true" sz="3000" spc="-6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---</a:t>
            </a: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b="true" sz="3000" spc="-6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Xây dựng mô hình BPMN.</a:t>
            </a: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b="true" sz="3000" spc="-6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Làm rõ tác nhân và luồng xử lý.</a:t>
            </a: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b="true" sz="3000" spc="-6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Xác định nút thắt cổ chai.</a:t>
            </a: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b="true" sz="3000" spc="-6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Nhận diện hoạt động NVA.</a:t>
            </a: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b="true" sz="3000" spc="-6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Phân tích thời gian, chất lượng và chi phí.</a:t>
            </a: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b="true" sz="3000" spc="-6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Đề xuất hướng tự động hóa và cải tiến.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9784460" y="7484358"/>
            <a:ext cx="5870935" cy="168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b="true" sz="3000" spc="-6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Management Process.</a:t>
            </a: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b="true" sz="3000" spc="-6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Core Process.</a:t>
            </a: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b="true" sz="3000" spc="-6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Support Process.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3390849" y="3651909"/>
            <a:ext cx="4590363" cy="198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62"/>
              </a:lnSpc>
            </a:pPr>
            <a:r>
              <a:rPr lang="en-US" sz="6635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MO</a:t>
            </a:r>
          </a:p>
          <a:p>
            <a:pPr algn="ctr">
              <a:lnSpc>
                <a:spcPts val="7962"/>
              </a:lnSpc>
              <a:spcBef>
                <a:spcPct val="0"/>
              </a:spcBef>
            </a:pPr>
            <a:r>
              <a:rPr lang="en-US" b="true" sz="6635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500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6472" y="3503021"/>
            <a:ext cx="9101142" cy="6352475"/>
          </a:xfrm>
          <a:custGeom>
            <a:avLst/>
            <a:gdLst/>
            <a:ahLst/>
            <a:cxnLst/>
            <a:rect r="r" b="b" t="t" l="l"/>
            <a:pathLst>
              <a:path h="6352475" w="9101142">
                <a:moveTo>
                  <a:pt x="0" y="0"/>
                </a:moveTo>
                <a:lnTo>
                  <a:pt x="9101142" y="0"/>
                </a:lnTo>
                <a:lnTo>
                  <a:pt x="9101142" y="6352474"/>
                </a:lnTo>
                <a:lnTo>
                  <a:pt x="0" y="63524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908584" y="96570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5522" y="165100"/>
            <a:ext cx="11001142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II. </a:t>
            </a:r>
            <a:r>
              <a:rPr lang="en-US" b="true" sz="50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Phân loại quy trình nghiệp vụ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24314" y="1028700"/>
            <a:ext cx="8084270" cy="8826795"/>
            <a:chOff x="0" y="0"/>
            <a:chExt cx="2448560" cy="26734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8560" cy="2673456"/>
            </a:xfrm>
            <a:custGeom>
              <a:avLst/>
              <a:gdLst/>
              <a:ahLst/>
              <a:cxnLst/>
              <a:rect r="r" b="b" t="t" l="l"/>
              <a:pathLst>
                <a:path h="2673456" w="2448560">
                  <a:moveTo>
                    <a:pt x="45967" y="0"/>
                  </a:moveTo>
                  <a:lnTo>
                    <a:pt x="2402593" y="0"/>
                  </a:lnTo>
                  <a:cubicBezTo>
                    <a:pt x="2427980" y="0"/>
                    <a:pt x="2448560" y="20580"/>
                    <a:pt x="2448560" y="45967"/>
                  </a:cubicBezTo>
                  <a:lnTo>
                    <a:pt x="2448560" y="2627489"/>
                  </a:lnTo>
                  <a:cubicBezTo>
                    <a:pt x="2448560" y="2652876"/>
                    <a:pt x="2427980" y="2673456"/>
                    <a:pt x="2402593" y="2673456"/>
                  </a:cubicBezTo>
                  <a:lnTo>
                    <a:pt x="45967" y="2673456"/>
                  </a:lnTo>
                  <a:cubicBezTo>
                    <a:pt x="20580" y="2673456"/>
                    <a:pt x="0" y="2652876"/>
                    <a:pt x="0" y="2627489"/>
                  </a:cubicBezTo>
                  <a:lnTo>
                    <a:pt x="0" y="45967"/>
                  </a:lnTo>
                  <a:cubicBezTo>
                    <a:pt x="0" y="20580"/>
                    <a:pt x="20580" y="0"/>
                    <a:pt x="45967" y="0"/>
                  </a:cubicBezTo>
                  <a:close/>
                </a:path>
              </a:pathLst>
            </a:custGeom>
            <a:solidFill>
              <a:srgbClr val="FFD1D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448560" cy="2692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085425" y="1167535"/>
            <a:ext cx="7559388" cy="849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MANAGEMENT PROCESS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Điều phối, thiết lập chiến lược và kiểm soát hoạt động hợp tác, giá, hạng vé và rủi ro.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</a:t>
            </a:r>
            <a:r>
              <a:rPr lang="en-US" sz="3500" b="true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PROCESS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Trực tiếp tạo ra trải nghiệm và giá trị cho khách hàng trong quá trình mua và sử dụng vé.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</a:t>
            </a:r>
            <a:r>
              <a:rPr lang="en-US" sz="3500" b="true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SUPPORT PROCESS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Hỗ trợ vận hành, xử lý sự cố, quản lý vé và chứng từ cho giao dịch.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56472" y="1186585"/>
            <a:ext cx="876623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K</a:t>
            </a:r>
            <a:r>
              <a:rPr lang="en-US" sz="24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iến trúc 10 quy trình nghiệp vụ theo cấu trúc 3 tầng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1662" y="1774749"/>
            <a:ext cx="17295988" cy="8231559"/>
            <a:chOff x="0" y="0"/>
            <a:chExt cx="5238602" cy="24931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8602" cy="2493171"/>
            </a:xfrm>
            <a:custGeom>
              <a:avLst/>
              <a:gdLst/>
              <a:ahLst/>
              <a:cxnLst/>
              <a:rect r="r" b="b" t="t" l="l"/>
              <a:pathLst>
                <a:path h="2493171" w="5238602">
                  <a:moveTo>
                    <a:pt x="21485" y="0"/>
                  </a:moveTo>
                  <a:lnTo>
                    <a:pt x="5217116" y="0"/>
                  </a:lnTo>
                  <a:cubicBezTo>
                    <a:pt x="5222815" y="0"/>
                    <a:pt x="5228280" y="2264"/>
                    <a:pt x="5232309" y="6293"/>
                  </a:cubicBezTo>
                  <a:cubicBezTo>
                    <a:pt x="5236338" y="10322"/>
                    <a:pt x="5238602" y="15787"/>
                    <a:pt x="5238602" y="21485"/>
                  </a:cubicBezTo>
                  <a:lnTo>
                    <a:pt x="5238602" y="2471686"/>
                  </a:lnTo>
                  <a:cubicBezTo>
                    <a:pt x="5238602" y="2483552"/>
                    <a:pt x="5228983" y="2493171"/>
                    <a:pt x="5217116" y="2493171"/>
                  </a:cubicBezTo>
                  <a:lnTo>
                    <a:pt x="21485" y="2493171"/>
                  </a:lnTo>
                  <a:cubicBezTo>
                    <a:pt x="9619" y="2493171"/>
                    <a:pt x="0" y="2483552"/>
                    <a:pt x="0" y="2471686"/>
                  </a:cubicBezTo>
                  <a:lnTo>
                    <a:pt x="0" y="21485"/>
                  </a:lnTo>
                  <a:cubicBezTo>
                    <a:pt x="0" y="9619"/>
                    <a:pt x="9619" y="0"/>
                    <a:pt x="21485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238602" cy="2512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400" spc="-48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CP - Tìm kiếm, lựa chọn hành trình, thanh toán và xác nhận đặt vé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596457"/>
            <a:ext cx="16230600" cy="1853790"/>
            <a:chOff x="0" y="0"/>
            <a:chExt cx="4915918" cy="5614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15918" cy="561475"/>
            </a:xfrm>
            <a:custGeom>
              <a:avLst/>
              <a:gdLst/>
              <a:ahLst/>
              <a:cxnLst/>
              <a:rect r="r" b="b" t="t" l="l"/>
              <a:pathLst>
                <a:path h="561475" w="4915918">
                  <a:moveTo>
                    <a:pt x="22896" y="0"/>
                  </a:moveTo>
                  <a:lnTo>
                    <a:pt x="4893022" y="0"/>
                  </a:lnTo>
                  <a:cubicBezTo>
                    <a:pt x="4899094" y="0"/>
                    <a:pt x="4904918" y="2412"/>
                    <a:pt x="4909212" y="6706"/>
                  </a:cubicBezTo>
                  <a:cubicBezTo>
                    <a:pt x="4913506" y="11000"/>
                    <a:pt x="4915918" y="16823"/>
                    <a:pt x="4915918" y="22896"/>
                  </a:cubicBezTo>
                  <a:lnTo>
                    <a:pt x="4915918" y="538579"/>
                  </a:lnTo>
                  <a:cubicBezTo>
                    <a:pt x="4915918" y="544652"/>
                    <a:pt x="4913506" y="550475"/>
                    <a:pt x="4909212" y="554769"/>
                  </a:cubicBezTo>
                  <a:cubicBezTo>
                    <a:pt x="4904918" y="559063"/>
                    <a:pt x="4899094" y="561475"/>
                    <a:pt x="4893022" y="561475"/>
                  </a:cubicBezTo>
                  <a:lnTo>
                    <a:pt x="22896" y="561475"/>
                  </a:lnTo>
                  <a:cubicBezTo>
                    <a:pt x="10251" y="561475"/>
                    <a:pt x="0" y="551224"/>
                    <a:pt x="0" y="538579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FFD1D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4915918" cy="58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367848" y="2852473"/>
            <a:ext cx="13949336" cy="1284608"/>
          </a:xfrm>
          <a:custGeom>
            <a:avLst/>
            <a:gdLst/>
            <a:ahLst/>
            <a:cxnLst/>
            <a:rect r="r" b="b" t="t" l="l"/>
            <a:pathLst>
              <a:path h="1284608" w="13949336">
                <a:moveTo>
                  <a:pt x="0" y="0"/>
                </a:moveTo>
                <a:lnTo>
                  <a:pt x="13949337" y="0"/>
                </a:lnTo>
                <a:lnTo>
                  <a:pt x="13949337" y="1284608"/>
                </a:lnTo>
                <a:lnTo>
                  <a:pt x="0" y="1284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7850892"/>
            <a:ext cx="16230600" cy="1853790"/>
            <a:chOff x="0" y="0"/>
            <a:chExt cx="4915918" cy="5614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15918" cy="561475"/>
            </a:xfrm>
            <a:custGeom>
              <a:avLst/>
              <a:gdLst/>
              <a:ahLst/>
              <a:cxnLst/>
              <a:rect r="r" b="b" t="t" l="l"/>
              <a:pathLst>
                <a:path h="561475" w="4915918">
                  <a:moveTo>
                    <a:pt x="22896" y="0"/>
                  </a:moveTo>
                  <a:lnTo>
                    <a:pt x="4893022" y="0"/>
                  </a:lnTo>
                  <a:cubicBezTo>
                    <a:pt x="4899094" y="0"/>
                    <a:pt x="4904918" y="2412"/>
                    <a:pt x="4909212" y="6706"/>
                  </a:cubicBezTo>
                  <a:cubicBezTo>
                    <a:pt x="4913506" y="11000"/>
                    <a:pt x="4915918" y="16823"/>
                    <a:pt x="4915918" y="22896"/>
                  </a:cubicBezTo>
                  <a:lnTo>
                    <a:pt x="4915918" y="538579"/>
                  </a:lnTo>
                  <a:cubicBezTo>
                    <a:pt x="4915918" y="544652"/>
                    <a:pt x="4913506" y="550475"/>
                    <a:pt x="4909212" y="554769"/>
                  </a:cubicBezTo>
                  <a:cubicBezTo>
                    <a:pt x="4904918" y="559063"/>
                    <a:pt x="4899094" y="561475"/>
                    <a:pt x="4893022" y="561475"/>
                  </a:cubicBezTo>
                  <a:lnTo>
                    <a:pt x="22896" y="561475"/>
                  </a:lnTo>
                  <a:cubicBezTo>
                    <a:pt x="10251" y="561475"/>
                    <a:pt x="0" y="551224"/>
                    <a:pt x="0" y="538579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FFD1D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4915918" cy="58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5223675"/>
            <a:ext cx="16230600" cy="1853790"/>
            <a:chOff x="0" y="0"/>
            <a:chExt cx="4915918" cy="5614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15918" cy="561475"/>
            </a:xfrm>
            <a:custGeom>
              <a:avLst/>
              <a:gdLst/>
              <a:ahLst/>
              <a:cxnLst/>
              <a:rect r="r" b="b" t="t" l="l"/>
              <a:pathLst>
                <a:path h="561475" w="4915918">
                  <a:moveTo>
                    <a:pt x="22896" y="0"/>
                  </a:moveTo>
                  <a:lnTo>
                    <a:pt x="4893022" y="0"/>
                  </a:lnTo>
                  <a:cubicBezTo>
                    <a:pt x="4899094" y="0"/>
                    <a:pt x="4904918" y="2412"/>
                    <a:pt x="4909212" y="6706"/>
                  </a:cubicBezTo>
                  <a:cubicBezTo>
                    <a:pt x="4913506" y="11000"/>
                    <a:pt x="4915918" y="16823"/>
                    <a:pt x="4915918" y="22896"/>
                  </a:cubicBezTo>
                  <a:lnTo>
                    <a:pt x="4915918" y="538579"/>
                  </a:lnTo>
                  <a:cubicBezTo>
                    <a:pt x="4915918" y="544652"/>
                    <a:pt x="4913506" y="550475"/>
                    <a:pt x="4909212" y="554769"/>
                  </a:cubicBezTo>
                  <a:cubicBezTo>
                    <a:pt x="4904918" y="559063"/>
                    <a:pt x="4899094" y="561475"/>
                    <a:pt x="4893022" y="561475"/>
                  </a:cubicBezTo>
                  <a:lnTo>
                    <a:pt x="22896" y="561475"/>
                  </a:lnTo>
                  <a:cubicBezTo>
                    <a:pt x="10251" y="561475"/>
                    <a:pt x="0" y="551224"/>
                    <a:pt x="0" y="538579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FFD1D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915918" cy="58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554108" y="5532286"/>
            <a:ext cx="11179784" cy="1203074"/>
          </a:xfrm>
          <a:custGeom>
            <a:avLst/>
            <a:gdLst/>
            <a:ahLst/>
            <a:cxnLst/>
            <a:rect r="r" b="b" t="t" l="l"/>
            <a:pathLst>
              <a:path h="1203074" w="11179784">
                <a:moveTo>
                  <a:pt x="0" y="0"/>
                </a:moveTo>
                <a:lnTo>
                  <a:pt x="11179784" y="0"/>
                </a:lnTo>
                <a:lnTo>
                  <a:pt x="11179784" y="1203074"/>
                </a:lnTo>
                <a:lnTo>
                  <a:pt x="0" y="12030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637133" y="8201415"/>
            <a:ext cx="11013734" cy="1268436"/>
          </a:xfrm>
          <a:custGeom>
            <a:avLst/>
            <a:gdLst/>
            <a:ahLst/>
            <a:cxnLst/>
            <a:rect r="r" b="b" t="t" l="l"/>
            <a:pathLst>
              <a:path h="1268436" w="11013734">
                <a:moveTo>
                  <a:pt x="0" y="0"/>
                </a:moveTo>
                <a:lnTo>
                  <a:pt x="11013734" y="0"/>
                </a:lnTo>
                <a:lnTo>
                  <a:pt x="11013734" y="1268436"/>
                </a:lnTo>
                <a:lnTo>
                  <a:pt x="0" y="1268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7908584" y="96570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9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1662" y="165100"/>
            <a:ext cx="895450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b="true" sz="5000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III. K</a:t>
            </a:r>
            <a:r>
              <a:rPr lang="en-US" b="true" sz="5000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iến trúc quy trình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1662" y="1122840"/>
            <a:ext cx="601753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Kiếm trúc của 6 quy trình sẽ vẽ BPMN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24353" y="1927331"/>
            <a:ext cx="961060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Quản</a:t>
            </a:r>
            <a:r>
              <a:rPr lang="en-US" b="true" sz="29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trị giá, khuyến mãi và chính sách hiển thị giá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84379" y="4556925"/>
            <a:ext cx="511924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Quy trình quản lý hạng vé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97022" y="7191765"/>
            <a:ext cx="1069395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Tìm kiếm, lựa chọn hành trình, thanh toán và xác nhận đặt vé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500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1662" y="1774749"/>
            <a:ext cx="17295988" cy="8231559"/>
            <a:chOff x="0" y="0"/>
            <a:chExt cx="5238602" cy="24931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8602" cy="2493171"/>
            </a:xfrm>
            <a:custGeom>
              <a:avLst/>
              <a:gdLst/>
              <a:ahLst/>
              <a:cxnLst/>
              <a:rect r="r" b="b" t="t" l="l"/>
              <a:pathLst>
                <a:path h="2493171" w="5238602">
                  <a:moveTo>
                    <a:pt x="21485" y="0"/>
                  </a:moveTo>
                  <a:lnTo>
                    <a:pt x="5217116" y="0"/>
                  </a:lnTo>
                  <a:cubicBezTo>
                    <a:pt x="5222815" y="0"/>
                    <a:pt x="5228280" y="2264"/>
                    <a:pt x="5232309" y="6293"/>
                  </a:cubicBezTo>
                  <a:cubicBezTo>
                    <a:pt x="5236338" y="10322"/>
                    <a:pt x="5238602" y="15787"/>
                    <a:pt x="5238602" y="21485"/>
                  </a:cubicBezTo>
                  <a:lnTo>
                    <a:pt x="5238602" y="2471686"/>
                  </a:lnTo>
                  <a:cubicBezTo>
                    <a:pt x="5238602" y="2483552"/>
                    <a:pt x="5228983" y="2493171"/>
                    <a:pt x="5217116" y="2493171"/>
                  </a:cubicBezTo>
                  <a:lnTo>
                    <a:pt x="21485" y="2493171"/>
                  </a:lnTo>
                  <a:cubicBezTo>
                    <a:pt x="9619" y="2493171"/>
                    <a:pt x="0" y="2483552"/>
                    <a:pt x="0" y="2471686"/>
                  </a:cubicBezTo>
                  <a:lnTo>
                    <a:pt x="0" y="21485"/>
                  </a:lnTo>
                  <a:cubicBezTo>
                    <a:pt x="0" y="9619"/>
                    <a:pt x="9619" y="0"/>
                    <a:pt x="21485" y="0"/>
                  </a:cubicBezTo>
                  <a:close/>
                </a:path>
              </a:pathLst>
            </a:custGeom>
            <a:solidFill>
              <a:srgbClr val="FFD1D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238602" cy="2512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400" spc="-48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CP - Tìm kiếm, lựa chọn hành trình, thanh toán và xác nhận đặt vé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596457"/>
            <a:ext cx="16230600" cy="1853790"/>
            <a:chOff x="0" y="0"/>
            <a:chExt cx="4915918" cy="5614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15918" cy="561475"/>
            </a:xfrm>
            <a:custGeom>
              <a:avLst/>
              <a:gdLst/>
              <a:ahLst/>
              <a:cxnLst/>
              <a:rect r="r" b="b" t="t" l="l"/>
              <a:pathLst>
                <a:path h="561475" w="4915918">
                  <a:moveTo>
                    <a:pt x="22896" y="0"/>
                  </a:moveTo>
                  <a:lnTo>
                    <a:pt x="4893022" y="0"/>
                  </a:lnTo>
                  <a:cubicBezTo>
                    <a:pt x="4899094" y="0"/>
                    <a:pt x="4904918" y="2412"/>
                    <a:pt x="4909212" y="6706"/>
                  </a:cubicBezTo>
                  <a:cubicBezTo>
                    <a:pt x="4913506" y="11000"/>
                    <a:pt x="4915918" y="16823"/>
                    <a:pt x="4915918" y="22896"/>
                  </a:cubicBezTo>
                  <a:lnTo>
                    <a:pt x="4915918" y="538579"/>
                  </a:lnTo>
                  <a:cubicBezTo>
                    <a:pt x="4915918" y="544652"/>
                    <a:pt x="4913506" y="550475"/>
                    <a:pt x="4909212" y="554769"/>
                  </a:cubicBezTo>
                  <a:cubicBezTo>
                    <a:pt x="4904918" y="559063"/>
                    <a:pt x="4899094" y="561475"/>
                    <a:pt x="4893022" y="561475"/>
                  </a:cubicBezTo>
                  <a:lnTo>
                    <a:pt x="22896" y="561475"/>
                  </a:lnTo>
                  <a:cubicBezTo>
                    <a:pt x="10251" y="561475"/>
                    <a:pt x="0" y="551224"/>
                    <a:pt x="0" y="538579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4915918" cy="58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7850892"/>
            <a:ext cx="16230600" cy="1853790"/>
            <a:chOff x="0" y="0"/>
            <a:chExt cx="4915918" cy="5614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15918" cy="561475"/>
            </a:xfrm>
            <a:custGeom>
              <a:avLst/>
              <a:gdLst/>
              <a:ahLst/>
              <a:cxnLst/>
              <a:rect r="r" b="b" t="t" l="l"/>
              <a:pathLst>
                <a:path h="561475" w="4915918">
                  <a:moveTo>
                    <a:pt x="22896" y="0"/>
                  </a:moveTo>
                  <a:lnTo>
                    <a:pt x="4893022" y="0"/>
                  </a:lnTo>
                  <a:cubicBezTo>
                    <a:pt x="4899094" y="0"/>
                    <a:pt x="4904918" y="2412"/>
                    <a:pt x="4909212" y="6706"/>
                  </a:cubicBezTo>
                  <a:cubicBezTo>
                    <a:pt x="4913506" y="11000"/>
                    <a:pt x="4915918" y="16823"/>
                    <a:pt x="4915918" y="22896"/>
                  </a:cubicBezTo>
                  <a:lnTo>
                    <a:pt x="4915918" y="538579"/>
                  </a:lnTo>
                  <a:cubicBezTo>
                    <a:pt x="4915918" y="544652"/>
                    <a:pt x="4913506" y="550475"/>
                    <a:pt x="4909212" y="554769"/>
                  </a:cubicBezTo>
                  <a:cubicBezTo>
                    <a:pt x="4904918" y="559063"/>
                    <a:pt x="4899094" y="561475"/>
                    <a:pt x="4893022" y="561475"/>
                  </a:cubicBezTo>
                  <a:lnTo>
                    <a:pt x="22896" y="561475"/>
                  </a:lnTo>
                  <a:cubicBezTo>
                    <a:pt x="10251" y="561475"/>
                    <a:pt x="0" y="551224"/>
                    <a:pt x="0" y="538579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4915918" cy="58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5223675"/>
            <a:ext cx="16230600" cy="1853790"/>
            <a:chOff x="0" y="0"/>
            <a:chExt cx="4915918" cy="5614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15918" cy="561475"/>
            </a:xfrm>
            <a:custGeom>
              <a:avLst/>
              <a:gdLst/>
              <a:ahLst/>
              <a:cxnLst/>
              <a:rect r="r" b="b" t="t" l="l"/>
              <a:pathLst>
                <a:path h="561475" w="4915918">
                  <a:moveTo>
                    <a:pt x="22896" y="0"/>
                  </a:moveTo>
                  <a:lnTo>
                    <a:pt x="4893022" y="0"/>
                  </a:lnTo>
                  <a:cubicBezTo>
                    <a:pt x="4899094" y="0"/>
                    <a:pt x="4904918" y="2412"/>
                    <a:pt x="4909212" y="6706"/>
                  </a:cubicBezTo>
                  <a:cubicBezTo>
                    <a:pt x="4913506" y="11000"/>
                    <a:pt x="4915918" y="16823"/>
                    <a:pt x="4915918" y="22896"/>
                  </a:cubicBezTo>
                  <a:lnTo>
                    <a:pt x="4915918" y="538579"/>
                  </a:lnTo>
                  <a:cubicBezTo>
                    <a:pt x="4915918" y="544652"/>
                    <a:pt x="4913506" y="550475"/>
                    <a:pt x="4909212" y="554769"/>
                  </a:cubicBezTo>
                  <a:cubicBezTo>
                    <a:pt x="4904918" y="559063"/>
                    <a:pt x="4899094" y="561475"/>
                    <a:pt x="4893022" y="561475"/>
                  </a:cubicBezTo>
                  <a:lnTo>
                    <a:pt x="22896" y="561475"/>
                  </a:lnTo>
                  <a:cubicBezTo>
                    <a:pt x="10251" y="561475"/>
                    <a:pt x="0" y="551224"/>
                    <a:pt x="0" y="538579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915918" cy="58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539764" y="2921815"/>
            <a:ext cx="11179784" cy="1203074"/>
          </a:xfrm>
          <a:custGeom>
            <a:avLst/>
            <a:gdLst/>
            <a:ahLst/>
            <a:cxnLst/>
            <a:rect r="r" b="b" t="t" l="l"/>
            <a:pathLst>
              <a:path h="1203074" w="11179784">
                <a:moveTo>
                  <a:pt x="0" y="0"/>
                </a:moveTo>
                <a:lnTo>
                  <a:pt x="11179785" y="0"/>
                </a:lnTo>
                <a:lnTo>
                  <a:pt x="11179785" y="1203074"/>
                </a:lnTo>
                <a:lnTo>
                  <a:pt x="0" y="1203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311233" y="5627422"/>
            <a:ext cx="11636846" cy="1046295"/>
          </a:xfrm>
          <a:custGeom>
            <a:avLst/>
            <a:gdLst/>
            <a:ahLst/>
            <a:cxnLst/>
            <a:rect r="r" b="b" t="t" l="l"/>
            <a:pathLst>
              <a:path h="1046295" w="11636846">
                <a:moveTo>
                  <a:pt x="0" y="0"/>
                </a:moveTo>
                <a:lnTo>
                  <a:pt x="11636846" y="0"/>
                </a:lnTo>
                <a:lnTo>
                  <a:pt x="11636846" y="1046295"/>
                </a:lnTo>
                <a:lnTo>
                  <a:pt x="0" y="10462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554108" y="8144265"/>
            <a:ext cx="11179784" cy="1203074"/>
          </a:xfrm>
          <a:custGeom>
            <a:avLst/>
            <a:gdLst/>
            <a:ahLst/>
            <a:cxnLst/>
            <a:rect r="r" b="b" t="t" l="l"/>
            <a:pathLst>
              <a:path h="1203074" w="11179784">
                <a:moveTo>
                  <a:pt x="0" y="0"/>
                </a:moveTo>
                <a:lnTo>
                  <a:pt x="11179784" y="0"/>
                </a:lnTo>
                <a:lnTo>
                  <a:pt x="11179784" y="1203074"/>
                </a:lnTo>
                <a:lnTo>
                  <a:pt x="0" y="12030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7908584" y="96570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1662" y="1122840"/>
            <a:ext cx="601753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Kiếm trúc của 6 quy trình sẽ vẽ BPMN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73049" y="1927331"/>
            <a:ext cx="571321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</a:t>
            </a:r>
            <a:r>
              <a:rPr lang="en-US" b="true" sz="29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ua thêm dịch vụ sau đặt chỗ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84379" y="4556925"/>
            <a:ext cx="511924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X</a:t>
            </a:r>
            <a:r>
              <a:rPr lang="en-US" b="true" sz="3000" spc="-6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uất hóa đơn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75935" y="7191765"/>
            <a:ext cx="713613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Hỗ trợ khách hàng và tiếp nhận phản hồi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1662" y="165100"/>
            <a:ext cx="895450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b="true" sz="50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III. K</a:t>
            </a:r>
            <a:r>
              <a:rPr lang="en-US" b="true" sz="50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iến trúc quy trình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63837" y="902017"/>
            <a:ext cx="9744747" cy="9159807"/>
          </a:xfrm>
          <a:custGeom>
            <a:avLst/>
            <a:gdLst/>
            <a:ahLst/>
            <a:cxnLst/>
            <a:rect r="r" b="b" t="t" l="l"/>
            <a:pathLst>
              <a:path h="9159807" w="9744747">
                <a:moveTo>
                  <a:pt x="0" y="0"/>
                </a:moveTo>
                <a:lnTo>
                  <a:pt x="9744747" y="0"/>
                </a:lnTo>
                <a:lnTo>
                  <a:pt x="9744747" y="9159808"/>
                </a:lnTo>
                <a:lnTo>
                  <a:pt x="0" y="91598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" r="0" b="-7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908584" y="96570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5625" y="115570"/>
            <a:ext cx="7626668" cy="151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00"/>
              </a:lnSpc>
            </a:pPr>
            <a:r>
              <a:rPr lang="en-US" b="true" sz="5000" spc="-10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IV. Nhóm quy trình quản lý</a:t>
            </a:r>
          </a:p>
          <a:p>
            <a:pPr algn="just">
              <a:lnSpc>
                <a:spcPts val="4550"/>
              </a:lnSpc>
              <a:spcBef>
                <a:spcPct val="0"/>
              </a:spcBef>
            </a:pPr>
            <a:r>
              <a:rPr lang="en-US" b="true" sz="3500" spc="-7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Phân tích quy trình: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5625" y="1975025"/>
            <a:ext cx="10572215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Quy</a:t>
            </a:r>
            <a:r>
              <a:rPr lang="en-US" sz="2499" b="true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trình quản trị giá, khuyến mãi và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chính sách hiển thị giá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25625" y="3127740"/>
            <a:ext cx="7626668" cy="6727755"/>
            <a:chOff x="0" y="0"/>
            <a:chExt cx="2309962" cy="2037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09962" cy="2037700"/>
            </a:xfrm>
            <a:custGeom>
              <a:avLst/>
              <a:gdLst/>
              <a:ahLst/>
              <a:cxnLst/>
              <a:rect r="r" b="b" t="t" l="l"/>
              <a:pathLst>
                <a:path h="2037700" w="2309962">
                  <a:moveTo>
                    <a:pt x="48725" y="0"/>
                  </a:moveTo>
                  <a:lnTo>
                    <a:pt x="2261237" y="0"/>
                  </a:lnTo>
                  <a:cubicBezTo>
                    <a:pt x="2274159" y="0"/>
                    <a:pt x="2286553" y="5134"/>
                    <a:pt x="2295691" y="14271"/>
                  </a:cubicBezTo>
                  <a:cubicBezTo>
                    <a:pt x="2304829" y="23409"/>
                    <a:pt x="2309962" y="35803"/>
                    <a:pt x="2309962" y="48725"/>
                  </a:cubicBezTo>
                  <a:lnTo>
                    <a:pt x="2309962" y="1988974"/>
                  </a:lnTo>
                  <a:cubicBezTo>
                    <a:pt x="2309962" y="2015885"/>
                    <a:pt x="2288147" y="2037700"/>
                    <a:pt x="2261237" y="2037700"/>
                  </a:cubicBezTo>
                  <a:lnTo>
                    <a:pt x="48725" y="2037700"/>
                  </a:lnTo>
                  <a:cubicBezTo>
                    <a:pt x="35803" y="2037700"/>
                    <a:pt x="23409" y="2032566"/>
                    <a:pt x="14271" y="2023428"/>
                  </a:cubicBezTo>
                  <a:cubicBezTo>
                    <a:pt x="5134" y="2014291"/>
                    <a:pt x="0" y="2001897"/>
                    <a:pt x="0" y="1988974"/>
                  </a:cubicBezTo>
                  <a:lnTo>
                    <a:pt x="0" y="48725"/>
                  </a:lnTo>
                  <a:cubicBezTo>
                    <a:pt x="0" y="21815"/>
                    <a:pt x="21815" y="0"/>
                    <a:pt x="48725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309962" cy="205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13933" y="3625321"/>
            <a:ext cx="6450050" cy="4546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6"/>
              </a:lnSpc>
            </a:pPr>
            <a:r>
              <a:rPr lang="en-US" sz="3566" spc="-71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Các bước thực hiện:</a:t>
            </a:r>
          </a:p>
          <a:p>
            <a:pPr algn="l">
              <a:lnSpc>
                <a:spcPts val="4636"/>
              </a:lnSpc>
            </a:pPr>
          </a:p>
          <a:p>
            <a:pPr algn="l" marL="626111" indent="-313055" lvl="1">
              <a:lnSpc>
                <a:spcPts val="3770"/>
              </a:lnSpc>
              <a:buAutoNum type="arabicPeriod" startAt="1"/>
            </a:pPr>
            <a:r>
              <a:rPr lang="en-US" sz="2900" spc="-5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Hãng bay/NCC cung cấp dữ liệu giá.</a:t>
            </a:r>
          </a:p>
          <a:p>
            <a:pPr algn="l" marL="626111" indent="-313055" lvl="1">
              <a:lnSpc>
                <a:spcPts val="3770"/>
              </a:lnSpc>
              <a:buAutoNum type="arabicPeriod" startAt="1"/>
            </a:pPr>
            <a:r>
              <a:rPr lang="en-US" sz="2900" spc="-5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Tiếp nhận dũ liệu từ Hãng bay/NCC.</a:t>
            </a:r>
          </a:p>
          <a:p>
            <a:pPr algn="l" marL="626111" indent="-313055" lvl="1">
              <a:lnSpc>
                <a:spcPts val="3770"/>
              </a:lnSpc>
              <a:buAutoNum type="arabicPeriod" startAt="1"/>
            </a:pPr>
            <a:r>
              <a:rPr lang="en-US" sz="2900" spc="-5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Marketing xây dựng chương trình khuyến mãi.</a:t>
            </a:r>
          </a:p>
          <a:p>
            <a:pPr algn="l" marL="626111" indent="-313055" lvl="1">
              <a:lnSpc>
                <a:spcPts val="3770"/>
              </a:lnSpc>
              <a:buAutoNum type="arabicPeriod" startAt="1"/>
            </a:pPr>
            <a:r>
              <a:rPr lang="en-US" sz="2900" spc="-5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Tài chính/ pháp chế thẩm định rủi ro</a:t>
            </a:r>
          </a:p>
          <a:p>
            <a:pPr algn="l" marL="626111" indent="-313055" lvl="1">
              <a:lnSpc>
                <a:spcPts val="3770"/>
              </a:lnSpc>
              <a:buAutoNum type="arabicPeriod" startAt="1"/>
            </a:pPr>
            <a:r>
              <a:rPr lang="en-US" sz="2900" spc="-5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Kỹ thuật cấu hình.</a:t>
            </a:r>
          </a:p>
          <a:p>
            <a:pPr algn="l" marL="626111" indent="-313055" lvl="1">
              <a:lnSpc>
                <a:spcPts val="3770"/>
              </a:lnSpc>
              <a:buAutoNum type="arabicPeriod" startAt="1"/>
            </a:pPr>
            <a:r>
              <a:rPr lang="en-US" sz="2900" spc="-5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Kiểm tra và công bố giá/KM trên App.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9326" y="3202647"/>
            <a:ext cx="7238139" cy="6803661"/>
          </a:xfrm>
          <a:custGeom>
            <a:avLst/>
            <a:gdLst/>
            <a:ahLst/>
            <a:cxnLst/>
            <a:rect r="r" b="b" t="t" l="l"/>
            <a:pathLst>
              <a:path h="6803661" w="7238139">
                <a:moveTo>
                  <a:pt x="0" y="0"/>
                </a:moveTo>
                <a:lnTo>
                  <a:pt x="7238139" y="0"/>
                </a:lnTo>
                <a:lnTo>
                  <a:pt x="7238139" y="6803661"/>
                </a:lnTo>
                <a:lnTo>
                  <a:pt x="0" y="68036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" r="0" b="-7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908584" y="96570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5625" y="1975025"/>
            <a:ext cx="10572215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Quy</a:t>
            </a:r>
            <a:r>
              <a:rPr lang="en-US" sz="2499" b="true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trình quản trị giá, khuyến mãi và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chính sách hiển thị giá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115392" y="307413"/>
            <a:ext cx="9793192" cy="9698895"/>
            <a:chOff x="0" y="0"/>
            <a:chExt cx="2966158" cy="29375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66158" cy="2937597"/>
            </a:xfrm>
            <a:custGeom>
              <a:avLst/>
              <a:gdLst/>
              <a:ahLst/>
              <a:cxnLst/>
              <a:rect r="r" b="b" t="t" l="l"/>
              <a:pathLst>
                <a:path h="2937597" w="2966158">
                  <a:moveTo>
                    <a:pt x="37946" y="0"/>
                  </a:moveTo>
                  <a:lnTo>
                    <a:pt x="2928212" y="0"/>
                  </a:lnTo>
                  <a:cubicBezTo>
                    <a:pt x="2938276" y="0"/>
                    <a:pt x="2947928" y="3998"/>
                    <a:pt x="2955044" y="11114"/>
                  </a:cubicBezTo>
                  <a:cubicBezTo>
                    <a:pt x="2962160" y="18230"/>
                    <a:pt x="2966158" y="27882"/>
                    <a:pt x="2966158" y="37946"/>
                  </a:cubicBezTo>
                  <a:lnTo>
                    <a:pt x="2966158" y="2899651"/>
                  </a:lnTo>
                  <a:cubicBezTo>
                    <a:pt x="2966158" y="2920609"/>
                    <a:pt x="2949169" y="2937597"/>
                    <a:pt x="2928212" y="2937597"/>
                  </a:cubicBezTo>
                  <a:lnTo>
                    <a:pt x="37946" y="2937597"/>
                  </a:lnTo>
                  <a:cubicBezTo>
                    <a:pt x="16989" y="2937597"/>
                    <a:pt x="0" y="2920609"/>
                    <a:pt x="0" y="2899651"/>
                  </a:cubicBezTo>
                  <a:lnTo>
                    <a:pt x="0" y="37946"/>
                  </a:lnTo>
                  <a:cubicBezTo>
                    <a:pt x="0" y="16989"/>
                    <a:pt x="16989" y="0"/>
                    <a:pt x="37946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966158" cy="2956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382308" y="480656"/>
            <a:ext cx="6450050" cy="298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spc="-6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Tác nhân:</a:t>
            </a:r>
          </a:p>
          <a:p>
            <a:pPr algn="l" marL="539749" indent="-269875" lvl="1">
              <a:lnSpc>
                <a:spcPts val="3249"/>
              </a:lnSpc>
              <a:buAutoNum type="arabicPeriod" startAt="1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Hãng bay/ Nhà cung cấp</a:t>
            </a:r>
          </a:p>
          <a:p>
            <a:pPr algn="l" marL="539749" indent="-269875" lvl="1">
              <a:lnSpc>
                <a:spcPts val="3249"/>
              </a:lnSpc>
              <a:buAutoNum type="arabicPeriod" startAt="1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Bộ phận Vé giá</a:t>
            </a:r>
          </a:p>
          <a:p>
            <a:pPr algn="l" marL="539749" indent="-269875" lvl="1">
              <a:lnSpc>
                <a:spcPts val="3249"/>
              </a:lnSpc>
              <a:buAutoNum type="arabicPeriod" startAt="1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Bộ phận Marketing</a:t>
            </a:r>
          </a:p>
          <a:p>
            <a:pPr algn="l" marL="539749" indent="-269875" lvl="1">
              <a:lnSpc>
                <a:spcPts val="3249"/>
              </a:lnSpc>
              <a:buAutoNum type="arabicPeriod" startAt="1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Bộ phận Tài chính</a:t>
            </a:r>
          </a:p>
          <a:p>
            <a:pPr algn="l" marL="539749" indent="-269875" lvl="1">
              <a:lnSpc>
                <a:spcPts val="3249"/>
              </a:lnSpc>
              <a:buAutoNum type="arabicPeriod" startAt="1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Bộ phận Kỹ thuật.</a:t>
            </a:r>
          </a:p>
          <a:p>
            <a:pPr algn="l" marL="539749" indent="-269875" lvl="1">
              <a:lnSpc>
                <a:spcPts val="3249"/>
              </a:lnSpc>
              <a:buAutoNum type="arabicPeriod" startAt="1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Hệ thống MoMo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04450" y="3103771"/>
            <a:ext cx="4454850" cy="134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spc="-6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Khách hàng:</a:t>
            </a:r>
          </a:p>
          <a:p>
            <a:pPr algn="l" marL="539749" indent="-269875" lvl="1">
              <a:lnSpc>
                <a:spcPts val="3249"/>
              </a:lnSpc>
              <a:buAutoNum type="arabicPeriod" startAt="1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Nội</a:t>
            </a: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bộ hệ thống</a:t>
            </a:r>
          </a:p>
          <a:p>
            <a:pPr algn="l" marL="539749" indent="-269875" lvl="1">
              <a:lnSpc>
                <a:spcPts val="3249"/>
              </a:lnSpc>
              <a:buAutoNum type="arabicPeriod" startAt="1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Người dùng cuối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84241" y="4421396"/>
            <a:ext cx="9040419" cy="528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spc="-6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Kết quả: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b="true" sz="2499" spc="-4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Thành công: </a:t>
            </a: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Mức giá cuối cùng hoặc chương trình khuyến mãi</a:t>
            </a: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được phê duyệt, cấu hình và công bố chính xác đến người dùng.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b="true" sz="2499" spc="-4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Hủy bỏ/ Từ chối:</a:t>
            </a: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Chiến dịch bị hủy do không vượt qua khâu thẩm định, hoặc hồ sơ điều kiện không được bổ sung đầy đủ. </a:t>
            </a:r>
          </a:p>
          <a:p>
            <a:pPr algn="l">
              <a:lnSpc>
                <a:spcPts val="3770"/>
              </a:lnSpc>
            </a:pPr>
          </a:p>
          <a:p>
            <a:pPr algn="l">
              <a:lnSpc>
                <a:spcPts val="3900"/>
              </a:lnSpc>
            </a:pPr>
            <a:r>
              <a:rPr lang="en-US" b="true" sz="3000" spc="-6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Giá trị mang lại: 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Giá/ Khuyến mãi chính xác, giảm rủi ro pháp lý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Tăng khả năng cạnh tranh và thu hút khách hàng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Tối ưu thời gian triển khai.</a:t>
            </a:r>
          </a:p>
          <a:p>
            <a:pPr algn="l">
              <a:lnSpc>
                <a:spcPts val="324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25625" y="115570"/>
            <a:ext cx="7626668" cy="151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00"/>
              </a:lnSpc>
            </a:pPr>
            <a:r>
              <a:rPr lang="en-US" b="true" sz="5000" spc="-10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IV. Nhóm quy trình quản lý</a:t>
            </a:r>
          </a:p>
          <a:p>
            <a:pPr algn="just">
              <a:lnSpc>
                <a:spcPts val="4550"/>
              </a:lnSpc>
              <a:spcBef>
                <a:spcPct val="0"/>
              </a:spcBef>
            </a:pPr>
            <a:r>
              <a:rPr lang="en-US" b="true" sz="3500" spc="-7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Phân tích quy trình: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35854" y="1780643"/>
            <a:ext cx="5782632" cy="892980"/>
            <a:chOff x="0" y="0"/>
            <a:chExt cx="1751441" cy="2704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1441" cy="270465"/>
            </a:xfrm>
            <a:custGeom>
              <a:avLst/>
              <a:gdLst/>
              <a:ahLst/>
              <a:cxnLst/>
              <a:rect r="r" b="b" t="t" l="l"/>
              <a:pathLst>
                <a:path h="270465" w="1751441">
                  <a:moveTo>
                    <a:pt x="64263" y="0"/>
                  </a:moveTo>
                  <a:lnTo>
                    <a:pt x="1687178" y="0"/>
                  </a:lnTo>
                  <a:cubicBezTo>
                    <a:pt x="1722670" y="0"/>
                    <a:pt x="1751441" y="28772"/>
                    <a:pt x="1751441" y="64263"/>
                  </a:cubicBezTo>
                  <a:lnTo>
                    <a:pt x="1751441" y="206202"/>
                  </a:lnTo>
                  <a:cubicBezTo>
                    <a:pt x="1751441" y="241694"/>
                    <a:pt x="1722670" y="270465"/>
                    <a:pt x="1687178" y="270465"/>
                  </a:cubicBezTo>
                  <a:lnTo>
                    <a:pt x="64263" y="270465"/>
                  </a:lnTo>
                  <a:cubicBezTo>
                    <a:pt x="28772" y="270465"/>
                    <a:pt x="0" y="241694"/>
                    <a:pt x="0" y="206202"/>
                  </a:cubicBezTo>
                  <a:lnTo>
                    <a:pt x="0" y="64263"/>
                  </a:lnTo>
                  <a:cubicBezTo>
                    <a:pt x="0" y="28772"/>
                    <a:pt x="28772" y="0"/>
                    <a:pt x="64263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751441" cy="289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9"/>
                </a:lnSpc>
              </a:pPr>
              <a:r>
                <a:rPr lang="en-US" b="true" sz="2499" spc="-49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Câu hỏi định tính có cấu trúc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2801939"/>
            <a:ext cx="12418487" cy="7485061"/>
            <a:chOff x="0" y="0"/>
            <a:chExt cx="3761306" cy="2267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61306" cy="2267072"/>
            </a:xfrm>
            <a:custGeom>
              <a:avLst/>
              <a:gdLst/>
              <a:ahLst/>
              <a:cxnLst/>
              <a:rect r="r" b="b" t="t" l="l"/>
              <a:pathLst>
                <a:path h="2267072" w="3761306">
                  <a:moveTo>
                    <a:pt x="29924" y="0"/>
                  </a:moveTo>
                  <a:lnTo>
                    <a:pt x="3731382" y="0"/>
                  </a:lnTo>
                  <a:cubicBezTo>
                    <a:pt x="3747908" y="0"/>
                    <a:pt x="3761306" y="13397"/>
                    <a:pt x="3761306" y="29924"/>
                  </a:cubicBezTo>
                  <a:lnTo>
                    <a:pt x="3761306" y="2237148"/>
                  </a:lnTo>
                  <a:cubicBezTo>
                    <a:pt x="3761306" y="2245084"/>
                    <a:pt x="3758154" y="2252696"/>
                    <a:pt x="3752541" y="2258308"/>
                  </a:cubicBezTo>
                  <a:cubicBezTo>
                    <a:pt x="3746930" y="2263920"/>
                    <a:pt x="3739318" y="2267072"/>
                    <a:pt x="3731382" y="2267072"/>
                  </a:cubicBezTo>
                  <a:lnTo>
                    <a:pt x="29924" y="2267072"/>
                  </a:lnTo>
                  <a:cubicBezTo>
                    <a:pt x="13397" y="2267072"/>
                    <a:pt x="0" y="2253675"/>
                    <a:pt x="0" y="2237148"/>
                  </a:cubicBezTo>
                  <a:lnTo>
                    <a:pt x="0" y="29924"/>
                  </a:lnTo>
                  <a:cubicBezTo>
                    <a:pt x="0" y="13397"/>
                    <a:pt x="13397" y="0"/>
                    <a:pt x="29924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761306" cy="2295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550"/>
                </a:lnSpc>
              </a:pPr>
            </a:p>
          </p:txBody>
        </p:sp>
      </p:grpSp>
      <p:graphicFrame>
        <p:nvGraphicFramePr>
          <p:cNvPr name="Object 8" id="8"/>
          <p:cNvGraphicFramePr/>
          <p:nvPr/>
        </p:nvGraphicFramePr>
        <p:xfrm>
          <a:off x="325625" y="2801939"/>
          <a:ext cx="1469571" cy="8229600"/>
        </p:xfrm>
        <a:graphic>
          <a:graphicData uri="http://schemas.openxmlformats.org/presentationml/2006/ole">
            <p:oleObj imgW="3111500" imgH="9867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12611933" y="2801939"/>
            <a:ext cx="5296652" cy="7485061"/>
            <a:chOff x="0" y="0"/>
            <a:chExt cx="1604248" cy="2267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4248" cy="2267072"/>
            </a:xfrm>
            <a:custGeom>
              <a:avLst/>
              <a:gdLst/>
              <a:ahLst/>
              <a:cxnLst/>
              <a:rect r="r" b="b" t="t" l="l"/>
              <a:pathLst>
                <a:path h="2267072" w="1604248">
                  <a:moveTo>
                    <a:pt x="70160" y="0"/>
                  </a:moveTo>
                  <a:lnTo>
                    <a:pt x="1534088" y="0"/>
                  </a:lnTo>
                  <a:cubicBezTo>
                    <a:pt x="1552695" y="0"/>
                    <a:pt x="1570541" y="7392"/>
                    <a:pt x="1583698" y="20549"/>
                  </a:cubicBezTo>
                  <a:cubicBezTo>
                    <a:pt x="1596856" y="33707"/>
                    <a:pt x="1604248" y="51552"/>
                    <a:pt x="1604248" y="70160"/>
                  </a:cubicBezTo>
                  <a:lnTo>
                    <a:pt x="1604248" y="2196912"/>
                  </a:lnTo>
                  <a:cubicBezTo>
                    <a:pt x="1604248" y="2215520"/>
                    <a:pt x="1596856" y="2233365"/>
                    <a:pt x="1583698" y="2246523"/>
                  </a:cubicBezTo>
                  <a:cubicBezTo>
                    <a:pt x="1570541" y="2259680"/>
                    <a:pt x="1552695" y="2267072"/>
                    <a:pt x="1534088" y="2267072"/>
                  </a:cubicBezTo>
                  <a:lnTo>
                    <a:pt x="70160" y="2267072"/>
                  </a:lnTo>
                  <a:cubicBezTo>
                    <a:pt x="51552" y="2267072"/>
                    <a:pt x="33707" y="2259680"/>
                    <a:pt x="20549" y="2246523"/>
                  </a:cubicBezTo>
                  <a:cubicBezTo>
                    <a:pt x="7392" y="2233365"/>
                    <a:pt x="0" y="2215520"/>
                    <a:pt x="0" y="2196912"/>
                  </a:cubicBezTo>
                  <a:lnTo>
                    <a:pt x="0" y="70160"/>
                  </a:lnTo>
                  <a:cubicBezTo>
                    <a:pt x="0" y="51552"/>
                    <a:pt x="7392" y="33707"/>
                    <a:pt x="20549" y="20549"/>
                  </a:cubicBezTo>
                  <a:cubicBezTo>
                    <a:pt x="33707" y="7392"/>
                    <a:pt x="51552" y="0"/>
                    <a:pt x="70160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604248" cy="2295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55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611933" y="1755765"/>
            <a:ext cx="5296652" cy="917858"/>
            <a:chOff x="0" y="0"/>
            <a:chExt cx="1604248" cy="27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4248" cy="278000"/>
            </a:xfrm>
            <a:custGeom>
              <a:avLst/>
              <a:gdLst/>
              <a:ahLst/>
              <a:cxnLst/>
              <a:rect r="r" b="b" t="t" l="l"/>
              <a:pathLst>
                <a:path h="278000" w="1604248">
                  <a:moveTo>
                    <a:pt x="70160" y="0"/>
                  </a:moveTo>
                  <a:lnTo>
                    <a:pt x="1534088" y="0"/>
                  </a:lnTo>
                  <a:cubicBezTo>
                    <a:pt x="1552695" y="0"/>
                    <a:pt x="1570541" y="7392"/>
                    <a:pt x="1583698" y="20549"/>
                  </a:cubicBezTo>
                  <a:cubicBezTo>
                    <a:pt x="1596856" y="33707"/>
                    <a:pt x="1604248" y="51552"/>
                    <a:pt x="1604248" y="70160"/>
                  </a:cubicBezTo>
                  <a:lnTo>
                    <a:pt x="1604248" y="207840"/>
                  </a:lnTo>
                  <a:cubicBezTo>
                    <a:pt x="1604248" y="226448"/>
                    <a:pt x="1596856" y="244293"/>
                    <a:pt x="1583698" y="257451"/>
                  </a:cubicBezTo>
                  <a:cubicBezTo>
                    <a:pt x="1570541" y="270608"/>
                    <a:pt x="1552695" y="278000"/>
                    <a:pt x="1534088" y="278000"/>
                  </a:cubicBezTo>
                  <a:lnTo>
                    <a:pt x="70160" y="278000"/>
                  </a:lnTo>
                  <a:cubicBezTo>
                    <a:pt x="51552" y="278000"/>
                    <a:pt x="33707" y="270608"/>
                    <a:pt x="20549" y="257451"/>
                  </a:cubicBezTo>
                  <a:cubicBezTo>
                    <a:pt x="7392" y="244293"/>
                    <a:pt x="0" y="226448"/>
                    <a:pt x="0" y="207840"/>
                  </a:cubicBezTo>
                  <a:lnTo>
                    <a:pt x="0" y="70160"/>
                  </a:lnTo>
                  <a:cubicBezTo>
                    <a:pt x="0" y="51552"/>
                    <a:pt x="7392" y="33707"/>
                    <a:pt x="20549" y="20549"/>
                  </a:cubicBezTo>
                  <a:cubicBezTo>
                    <a:pt x="33707" y="7392"/>
                    <a:pt x="51552" y="0"/>
                    <a:pt x="70160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604248" cy="297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9"/>
                </a:lnSpc>
              </a:pPr>
              <a:r>
                <a:rPr lang="en-US" b="true" sz="2499" spc="-49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Câu hỏi định tính không cấu trúc</a:t>
              </a:r>
            </a:p>
          </p:txBody>
        </p:sp>
      </p:grpSp>
      <p:graphicFrame>
        <p:nvGraphicFramePr>
          <p:cNvPr name="Object 15" id="15"/>
          <p:cNvGraphicFramePr/>
          <p:nvPr/>
        </p:nvGraphicFramePr>
        <p:xfrm>
          <a:off x="12995212" y="3407559"/>
          <a:ext cx="1885950" cy="3268980"/>
        </p:xfrm>
        <a:graphic>
          <a:graphicData uri="http://schemas.openxmlformats.org/presentationml/2006/ole">
            <p:oleObj imgW="2540000" imgH="39243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6" id="16"/>
          <p:cNvSpPr txBox="true"/>
          <p:nvPr/>
        </p:nvSpPr>
        <p:spPr>
          <a:xfrm rot="0">
            <a:off x="17908584" y="96570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5625" y="115570"/>
            <a:ext cx="14045398" cy="8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00"/>
              </a:lnSpc>
              <a:spcBef>
                <a:spcPct val="0"/>
              </a:spcBef>
            </a:pPr>
            <a:r>
              <a:rPr lang="en-US" b="true" sz="5000" spc="-10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IV. Nhóm quy trình quản lý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5625" y="981075"/>
            <a:ext cx="1057221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Quy</a:t>
            </a: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trình quản trị giá, khuyến mãi và chính sách hiển thị giá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06175" y="2849564"/>
            <a:ext cx="2103358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b="true" sz="2499" spc="-4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Câ</a:t>
            </a:r>
            <a:r>
              <a:rPr lang="en-US" b="true" sz="2499" spc="-4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 hỏi cụ thể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87525" y="1883485"/>
            <a:ext cx="5969927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50"/>
              </a:lnSpc>
              <a:spcBef>
                <a:spcPct val="0"/>
              </a:spcBef>
            </a:pPr>
            <a:r>
              <a:rPr lang="en-US" b="true" sz="3500" spc="-7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Câu hỏi phỏng vấn định tính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35854" y="1506669"/>
            <a:ext cx="5782632" cy="892980"/>
            <a:chOff x="0" y="0"/>
            <a:chExt cx="1751441" cy="2704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1441" cy="270465"/>
            </a:xfrm>
            <a:custGeom>
              <a:avLst/>
              <a:gdLst/>
              <a:ahLst/>
              <a:cxnLst/>
              <a:rect r="r" b="b" t="t" l="l"/>
              <a:pathLst>
                <a:path h="270465" w="1751441">
                  <a:moveTo>
                    <a:pt x="64263" y="0"/>
                  </a:moveTo>
                  <a:lnTo>
                    <a:pt x="1687178" y="0"/>
                  </a:lnTo>
                  <a:cubicBezTo>
                    <a:pt x="1722670" y="0"/>
                    <a:pt x="1751441" y="28772"/>
                    <a:pt x="1751441" y="64263"/>
                  </a:cubicBezTo>
                  <a:lnTo>
                    <a:pt x="1751441" y="206202"/>
                  </a:lnTo>
                  <a:cubicBezTo>
                    <a:pt x="1751441" y="241694"/>
                    <a:pt x="1722670" y="270465"/>
                    <a:pt x="1687178" y="270465"/>
                  </a:cubicBezTo>
                  <a:lnTo>
                    <a:pt x="64263" y="270465"/>
                  </a:lnTo>
                  <a:cubicBezTo>
                    <a:pt x="28772" y="270465"/>
                    <a:pt x="0" y="241694"/>
                    <a:pt x="0" y="206202"/>
                  </a:cubicBezTo>
                  <a:lnTo>
                    <a:pt x="0" y="64263"/>
                  </a:lnTo>
                  <a:cubicBezTo>
                    <a:pt x="0" y="28772"/>
                    <a:pt x="28772" y="0"/>
                    <a:pt x="64263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751441" cy="289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9"/>
                </a:lnSpc>
              </a:pPr>
              <a:r>
                <a:rPr lang="en-US" sz="2499" spc="-4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Câu hỏi định tính có cấu trúc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2504423"/>
            <a:ext cx="12418487" cy="7782577"/>
            <a:chOff x="0" y="0"/>
            <a:chExt cx="3761306" cy="23571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61306" cy="2357184"/>
            </a:xfrm>
            <a:custGeom>
              <a:avLst/>
              <a:gdLst/>
              <a:ahLst/>
              <a:cxnLst/>
              <a:rect r="r" b="b" t="t" l="l"/>
              <a:pathLst>
                <a:path h="2357184" w="3761306">
                  <a:moveTo>
                    <a:pt x="29924" y="0"/>
                  </a:moveTo>
                  <a:lnTo>
                    <a:pt x="3731382" y="0"/>
                  </a:lnTo>
                  <a:cubicBezTo>
                    <a:pt x="3747908" y="0"/>
                    <a:pt x="3761306" y="13397"/>
                    <a:pt x="3761306" y="29924"/>
                  </a:cubicBezTo>
                  <a:lnTo>
                    <a:pt x="3761306" y="2327259"/>
                  </a:lnTo>
                  <a:cubicBezTo>
                    <a:pt x="3761306" y="2343786"/>
                    <a:pt x="3747908" y="2357184"/>
                    <a:pt x="3731382" y="2357184"/>
                  </a:cubicBezTo>
                  <a:lnTo>
                    <a:pt x="29924" y="2357184"/>
                  </a:lnTo>
                  <a:cubicBezTo>
                    <a:pt x="13397" y="2357184"/>
                    <a:pt x="0" y="2343786"/>
                    <a:pt x="0" y="2327259"/>
                  </a:cubicBezTo>
                  <a:lnTo>
                    <a:pt x="0" y="29924"/>
                  </a:lnTo>
                  <a:cubicBezTo>
                    <a:pt x="0" y="13397"/>
                    <a:pt x="13397" y="0"/>
                    <a:pt x="29924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761306" cy="2385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550"/>
                </a:lnSpc>
              </a:pPr>
            </a:p>
          </p:txBody>
        </p:sp>
      </p:grpSp>
      <p:graphicFrame>
        <p:nvGraphicFramePr>
          <p:cNvPr name="Object 8" id="8"/>
          <p:cNvGraphicFramePr/>
          <p:nvPr/>
        </p:nvGraphicFramePr>
        <p:xfrm>
          <a:off x="325625" y="2504423"/>
          <a:ext cx="1469571" cy="8229600"/>
        </p:xfrm>
        <a:graphic>
          <a:graphicData uri="http://schemas.openxmlformats.org/presentationml/2006/ole">
            <p:oleObj imgW="3111500" imgH="9867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12611933" y="2504423"/>
            <a:ext cx="5296652" cy="7782577"/>
            <a:chOff x="0" y="0"/>
            <a:chExt cx="1604248" cy="23571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4248" cy="2357184"/>
            </a:xfrm>
            <a:custGeom>
              <a:avLst/>
              <a:gdLst/>
              <a:ahLst/>
              <a:cxnLst/>
              <a:rect r="r" b="b" t="t" l="l"/>
              <a:pathLst>
                <a:path h="2357184" w="1604248">
                  <a:moveTo>
                    <a:pt x="70160" y="0"/>
                  </a:moveTo>
                  <a:lnTo>
                    <a:pt x="1534088" y="0"/>
                  </a:lnTo>
                  <a:cubicBezTo>
                    <a:pt x="1552695" y="0"/>
                    <a:pt x="1570541" y="7392"/>
                    <a:pt x="1583698" y="20549"/>
                  </a:cubicBezTo>
                  <a:cubicBezTo>
                    <a:pt x="1596856" y="33707"/>
                    <a:pt x="1604248" y="51552"/>
                    <a:pt x="1604248" y="70160"/>
                  </a:cubicBezTo>
                  <a:lnTo>
                    <a:pt x="1604248" y="2287024"/>
                  </a:lnTo>
                  <a:cubicBezTo>
                    <a:pt x="1604248" y="2305631"/>
                    <a:pt x="1596856" y="2323477"/>
                    <a:pt x="1583698" y="2336634"/>
                  </a:cubicBezTo>
                  <a:cubicBezTo>
                    <a:pt x="1570541" y="2349792"/>
                    <a:pt x="1552695" y="2357184"/>
                    <a:pt x="1534088" y="2357184"/>
                  </a:cubicBezTo>
                  <a:lnTo>
                    <a:pt x="70160" y="2357184"/>
                  </a:lnTo>
                  <a:cubicBezTo>
                    <a:pt x="51552" y="2357184"/>
                    <a:pt x="33707" y="2349792"/>
                    <a:pt x="20549" y="2336634"/>
                  </a:cubicBezTo>
                  <a:cubicBezTo>
                    <a:pt x="7392" y="2323477"/>
                    <a:pt x="0" y="2305631"/>
                    <a:pt x="0" y="2287024"/>
                  </a:cubicBezTo>
                  <a:lnTo>
                    <a:pt x="0" y="70160"/>
                  </a:lnTo>
                  <a:cubicBezTo>
                    <a:pt x="0" y="51552"/>
                    <a:pt x="7392" y="33707"/>
                    <a:pt x="20549" y="20549"/>
                  </a:cubicBezTo>
                  <a:cubicBezTo>
                    <a:pt x="33707" y="7392"/>
                    <a:pt x="51552" y="0"/>
                    <a:pt x="70160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604248" cy="2385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55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611933" y="1481791"/>
            <a:ext cx="5296652" cy="917858"/>
            <a:chOff x="0" y="0"/>
            <a:chExt cx="1604248" cy="27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4248" cy="278000"/>
            </a:xfrm>
            <a:custGeom>
              <a:avLst/>
              <a:gdLst/>
              <a:ahLst/>
              <a:cxnLst/>
              <a:rect r="r" b="b" t="t" l="l"/>
              <a:pathLst>
                <a:path h="278000" w="1604248">
                  <a:moveTo>
                    <a:pt x="70160" y="0"/>
                  </a:moveTo>
                  <a:lnTo>
                    <a:pt x="1534088" y="0"/>
                  </a:lnTo>
                  <a:cubicBezTo>
                    <a:pt x="1552695" y="0"/>
                    <a:pt x="1570541" y="7392"/>
                    <a:pt x="1583698" y="20549"/>
                  </a:cubicBezTo>
                  <a:cubicBezTo>
                    <a:pt x="1596856" y="33707"/>
                    <a:pt x="1604248" y="51552"/>
                    <a:pt x="1604248" y="70160"/>
                  </a:cubicBezTo>
                  <a:lnTo>
                    <a:pt x="1604248" y="207840"/>
                  </a:lnTo>
                  <a:cubicBezTo>
                    <a:pt x="1604248" y="226448"/>
                    <a:pt x="1596856" y="244293"/>
                    <a:pt x="1583698" y="257451"/>
                  </a:cubicBezTo>
                  <a:cubicBezTo>
                    <a:pt x="1570541" y="270608"/>
                    <a:pt x="1552695" y="278000"/>
                    <a:pt x="1534088" y="278000"/>
                  </a:cubicBezTo>
                  <a:lnTo>
                    <a:pt x="70160" y="278000"/>
                  </a:lnTo>
                  <a:cubicBezTo>
                    <a:pt x="51552" y="278000"/>
                    <a:pt x="33707" y="270608"/>
                    <a:pt x="20549" y="257451"/>
                  </a:cubicBezTo>
                  <a:cubicBezTo>
                    <a:pt x="7392" y="244293"/>
                    <a:pt x="0" y="226448"/>
                    <a:pt x="0" y="207840"/>
                  </a:cubicBezTo>
                  <a:lnTo>
                    <a:pt x="0" y="70160"/>
                  </a:lnTo>
                  <a:cubicBezTo>
                    <a:pt x="0" y="51552"/>
                    <a:pt x="7392" y="33707"/>
                    <a:pt x="20549" y="20549"/>
                  </a:cubicBezTo>
                  <a:cubicBezTo>
                    <a:pt x="33707" y="7392"/>
                    <a:pt x="51552" y="0"/>
                    <a:pt x="70160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604248" cy="297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9"/>
                </a:lnSpc>
              </a:pPr>
              <a:r>
                <a:rPr lang="en-US" sz="2499" spc="-4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Câu hỏi định tính không cấu trúc</a:t>
              </a:r>
            </a:p>
          </p:txBody>
        </p:sp>
      </p:grpSp>
      <p:graphicFrame>
        <p:nvGraphicFramePr>
          <p:cNvPr name="Object 15" id="15"/>
          <p:cNvGraphicFramePr/>
          <p:nvPr/>
        </p:nvGraphicFramePr>
        <p:xfrm>
          <a:off x="12995212" y="3107756"/>
          <a:ext cx="1885950" cy="3268980"/>
        </p:xfrm>
        <a:graphic>
          <a:graphicData uri="http://schemas.openxmlformats.org/presentationml/2006/ole">
            <p:oleObj imgW="2540000" imgH="39243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6" id="16"/>
          <p:cNvSpPr txBox="true"/>
          <p:nvPr/>
        </p:nvSpPr>
        <p:spPr>
          <a:xfrm rot="0">
            <a:off x="17908584" y="96570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14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5625" y="981075"/>
            <a:ext cx="1057221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Quy</a:t>
            </a: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trình quản trị giá, khuyến mãi và chính sách hiển thị giá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95212" y="2613726"/>
            <a:ext cx="2103358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b="true" sz="2499" spc="-4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Câ</a:t>
            </a:r>
            <a:r>
              <a:rPr lang="en-US" b="true" sz="2499" spc="-4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 hỏi cụ thể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8475" y="1609511"/>
            <a:ext cx="659377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  <a:spcBef>
                <a:spcPct val="0"/>
              </a:spcBef>
            </a:pPr>
            <a:r>
              <a:rPr lang="en-US" b="true" sz="3500" spc="-7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Câu hỏi phỏng vấn định lượng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5625" y="115570"/>
            <a:ext cx="14045398" cy="8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00"/>
              </a:lnSpc>
              <a:spcBef>
                <a:spcPct val="0"/>
              </a:spcBef>
            </a:pPr>
            <a:r>
              <a:rPr lang="en-US" b="true" sz="5000" spc="-10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IV. Nhóm quy trình quản lý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15808" y="1546874"/>
            <a:ext cx="4992776" cy="8586374"/>
            <a:chOff x="0" y="0"/>
            <a:chExt cx="1512210" cy="26006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2210" cy="2600637"/>
            </a:xfrm>
            <a:custGeom>
              <a:avLst/>
              <a:gdLst/>
              <a:ahLst/>
              <a:cxnLst/>
              <a:rect r="r" b="b" t="t" l="l"/>
              <a:pathLst>
                <a:path h="2600637" w="1512210">
                  <a:moveTo>
                    <a:pt x="74430" y="0"/>
                  </a:moveTo>
                  <a:lnTo>
                    <a:pt x="1437780" y="0"/>
                  </a:lnTo>
                  <a:cubicBezTo>
                    <a:pt x="1478886" y="0"/>
                    <a:pt x="1512210" y="33323"/>
                    <a:pt x="1512210" y="74430"/>
                  </a:cubicBezTo>
                  <a:lnTo>
                    <a:pt x="1512210" y="2526207"/>
                  </a:lnTo>
                  <a:cubicBezTo>
                    <a:pt x="1512210" y="2567314"/>
                    <a:pt x="1478886" y="2600637"/>
                    <a:pt x="1437780" y="2600637"/>
                  </a:cubicBezTo>
                  <a:lnTo>
                    <a:pt x="74430" y="2600637"/>
                  </a:lnTo>
                  <a:cubicBezTo>
                    <a:pt x="33323" y="2600637"/>
                    <a:pt x="0" y="2567314"/>
                    <a:pt x="0" y="2526207"/>
                  </a:cubicBezTo>
                  <a:lnTo>
                    <a:pt x="0" y="74430"/>
                  </a:lnTo>
                  <a:cubicBezTo>
                    <a:pt x="0" y="33323"/>
                    <a:pt x="33323" y="0"/>
                    <a:pt x="74430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512210" cy="2619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25625" y="2103977"/>
            <a:ext cx="12427721" cy="7472168"/>
          </a:xfrm>
          <a:custGeom>
            <a:avLst/>
            <a:gdLst/>
            <a:ahLst/>
            <a:cxnLst/>
            <a:rect r="r" b="b" t="t" l="l"/>
            <a:pathLst>
              <a:path h="7472168" w="12427721">
                <a:moveTo>
                  <a:pt x="0" y="0"/>
                </a:moveTo>
                <a:lnTo>
                  <a:pt x="12427721" y="0"/>
                </a:lnTo>
                <a:lnTo>
                  <a:pt x="12427721" y="7472168"/>
                </a:lnTo>
                <a:lnTo>
                  <a:pt x="0" y="7472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908584" y="96570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15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5625" y="115570"/>
            <a:ext cx="13902711" cy="8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00"/>
              </a:lnSpc>
              <a:spcBef>
                <a:spcPct val="0"/>
              </a:spcBef>
            </a:pPr>
            <a:r>
              <a:rPr lang="en-US" b="true" sz="5000" spc="-10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V. Nhóm quy trình cốt lõi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5625" y="1038874"/>
            <a:ext cx="1217513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Quy</a:t>
            </a: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trình tìm kiếm, lựa chọn hành trình, xác nhận đặt vé và thanh toán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21250" y="2565620"/>
            <a:ext cx="4581893" cy="512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9"/>
              </a:lnSpc>
            </a:pPr>
            <a:r>
              <a:rPr lang="en-US" sz="3330" spc="-66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Các bước thực hiện:</a:t>
            </a:r>
          </a:p>
          <a:p>
            <a:pPr algn="l">
              <a:lnSpc>
                <a:spcPts val="4329"/>
              </a:lnSpc>
            </a:pPr>
          </a:p>
          <a:p>
            <a:pPr algn="l" marL="584607" indent="-292304" lvl="1">
              <a:lnSpc>
                <a:spcPts val="3520"/>
              </a:lnSpc>
              <a:buAutoNum type="arabicPeriod" startAt="1"/>
            </a:pPr>
            <a:r>
              <a:rPr lang="en-US" sz="2707" spc="-5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Khá</a:t>
            </a:r>
            <a:r>
              <a:rPr lang="en-US" sz="2707" spc="-5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 hàng nhập và chọn chuyến bay</a:t>
            </a:r>
          </a:p>
          <a:p>
            <a:pPr algn="l" marL="584607" indent="-292304" lvl="1">
              <a:lnSpc>
                <a:spcPts val="3520"/>
              </a:lnSpc>
              <a:buAutoNum type="arabicPeriod" startAt="1"/>
            </a:pPr>
            <a:r>
              <a:rPr lang="en-US" sz="2707" spc="-5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Ứng dụng thực hiện giữ chỗ tạm thời</a:t>
            </a:r>
          </a:p>
          <a:p>
            <a:pPr algn="l" marL="584607" indent="-292304" lvl="1">
              <a:lnSpc>
                <a:spcPts val="3520"/>
              </a:lnSpc>
              <a:buAutoNum type="arabicPeriod" startAt="1"/>
            </a:pPr>
            <a:r>
              <a:rPr lang="en-US" sz="2707" spc="-5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Thực hiện thanh toán và hoàn tất giao dịch</a:t>
            </a:r>
          </a:p>
          <a:p>
            <a:pPr algn="l" marL="584607" indent="-292304" lvl="1">
              <a:lnSpc>
                <a:spcPts val="3520"/>
              </a:lnSpc>
              <a:buAutoNum type="arabicPeriod" startAt="1"/>
            </a:pPr>
            <a:r>
              <a:rPr lang="en-US" sz="2707" spc="-5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Hệ thống trừ tiền và xuất vé</a:t>
            </a:r>
          </a:p>
          <a:p>
            <a:pPr algn="l" marL="584607" indent="-292304" lvl="1">
              <a:lnSpc>
                <a:spcPts val="3520"/>
              </a:lnSpc>
              <a:buAutoNum type="arabicPeriod" startAt="1"/>
            </a:pPr>
            <a:r>
              <a:rPr lang="en-US" sz="2707" spc="-5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Trả vé điện tử về cho Khách hàng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5625" y="5547562"/>
            <a:ext cx="7415794" cy="4458746"/>
          </a:xfrm>
          <a:custGeom>
            <a:avLst/>
            <a:gdLst/>
            <a:ahLst/>
            <a:cxnLst/>
            <a:rect r="r" b="b" t="t" l="l"/>
            <a:pathLst>
              <a:path h="4458746" w="7415794">
                <a:moveTo>
                  <a:pt x="0" y="0"/>
                </a:moveTo>
                <a:lnTo>
                  <a:pt x="7415793" y="0"/>
                </a:lnTo>
                <a:lnTo>
                  <a:pt x="7415793" y="4458746"/>
                </a:lnTo>
                <a:lnTo>
                  <a:pt x="0" y="44587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922360" y="1577618"/>
            <a:ext cx="9986224" cy="8428690"/>
            <a:chOff x="0" y="0"/>
            <a:chExt cx="3024624" cy="25528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24624" cy="2552878"/>
            </a:xfrm>
            <a:custGeom>
              <a:avLst/>
              <a:gdLst/>
              <a:ahLst/>
              <a:cxnLst/>
              <a:rect r="r" b="b" t="t" l="l"/>
              <a:pathLst>
                <a:path h="2552878" w="3024624">
                  <a:moveTo>
                    <a:pt x="37212" y="0"/>
                  </a:moveTo>
                  <a:lnTo>
                    <a:pt x="2987411" y="0"/>
                  </a:lnTo>
                  <a:cubicBezTo>
                    <a:pt x="2997280" y="0"/>
                    <a:pt x="3006746" y="3921"/>
                    <a:pt x="3013724" y="10899"/>
                  </a:cubicBezTo>
                  <a:cubicBezTo>
                    <a:pt x="3020703" y="17878"/>
                    <a:pt x="3024624" y="27343"/>
                    <a:pt x="3024624" y="37212"/>
                  </a:cubicBezTo>
                  <a:lnTo>
                    <a:pt x="3024624" y="2515666"/>
                  </a:lnTo>
                  <a:cubicBezTo>
                    <a:pt x="3024624" y="2525535"/>
                    <a:pt x="3020703" y="2535000"/>
                    <a:pt x="3013724" y="2541979"/>
                  </a:cubicBezTo>
                  <a:cubicBezTo>
                    <a:pt x="3006746" y="2548958"/>
                    <a:pt x="2997280" y="2552878"/>
                    <a:pt x="2987411" y="2552878"/>
                  </a:cubicBezTo>
                  <a:lnTo>
                    <a:pt x="37212" y="2552878"/>
                  </a:lnTo>
                  <a:cubicBezTo>
                    <a:pt x="27343" y="2552878"/>
                    <a:pt x="17878" y="2548958"/>
                    <a:pt x="10899" y="2541979"/>
                  </a:cubicBezTo>
                  <a:cubicBezTo>
                    <a:pt x="3921" y="2535000"/>
                    <a:pt x="0" y="2525535"/>
                    <a:pt x="0" y="2515666"/>
                  </a:cubicBezTo>
                  <a:lnTo>
                    <a:pt x="0" y="37212"/>
                  </a:lnTo>
                  <a:cubicBezTo>
                    <a:pt x="0" y="27343"/>
                    <a:pt x="3921" y="17878"/>
                    <a:pt x="10899" y="10899"/>
                  </a:cubicBezTo>
                  <a:cubicBezTo>
                    <a:pt x="17878" y="3921"/>
                    <a:pt x="27343" y="0"/>
                    <a:pt x="37212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3024624" cy="25719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1184366">
            <a:off x="14738179" y="163795"/>
            <a:ext cx="3459612" cy="2594709"/>
          </a:xfrm>
          <a:custGeom>
            <a:avLst/>
            <a:gdLst/>
            <a:ahLst/>
            <a:cxnLst/>
            <a:rect r="r" b="b" t="t" l="l"/>
            <a:pathLst>
              <a:path h="2594709" w="3459612">
                <a:moveTo>
                  <a:pt x="0" y="0"/>
                </a:moveTo>
                <a:lnTo>
                  <a:pt x="3459612" y="0"/>
                </a:lnTo>
                <a:lnTo>
                  <a:pt x="3459612" y="2594709"/>
                </a:lnTo>
                <a:lnTo>
                  <a:pt x="0" y="25947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908584" y="96570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43178" y="1875046"/>
            <a:ext cx="6450050" cy="216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spc="-6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Tác nhân:</a:t>
            </a:r>
          </a:p>
          <a:p>
            <a:pPr algn="l" marL="539749" indent="-269875" lvl="1">
              <a:lnSpc>
                <a:spcPts val="3249"/>
              </a:lnSpc>
              <a:buAutoNum type="arabicPeriod" startAt="1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</a:t>
            </a: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hách hàng</a:t>
            </a:r>
          </a:p>
          <a:p>
            <a:pPr algn="l" marL="539749" indent="-269875" lvl="1">
              <a:lnSpc>
                <a:spcPts val="3249"/>
              </a:lnSpc>
              <a:buAutoNum type="arabicPeriod" startAt="1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Ứng dụng MoMo</a:t>
            </a:r>
          </a:p>
          <a:p>
            <a:pPr algn="l" marL="539749" indent="-269875" lvl="1">
              <a:lnSpc>
                <a:spcPts val="3249"/>
              </a:lnSpc>
              <a:buAutoNum type="arabicPeriod" startAt="1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Bộ phận CSKH</a:t>
            </a:r>
          </a:p>
          <a:p>
            <a:pPr algn="l" marL="539749" indent="-269875" lvl="1">
              <a:lnSpc>
                <a:spcPts val="3249"/>
              </a:lnSpc>
              <a:buAutoNum type="arabicPeriod" startAt="1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Hãng bay/NCC.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65804" y="3103771"/>
            <a:ext cx="445485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spc="-6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Khách hàng:</a:t>
            </a:r>
          </a:p>
          <a:p>
            <a:pPr algn="l" marL="539749" indent="-269875" lvl="1">
              <a:lnSpc>
                <a:spcPts val="3249"/>
              </a:lnSpc>
              <a:buAutoNum type="arabicPeriod" startAt="1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Người dùng cuối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84241" y="4421396"/>
            <a:ext cx="9040419" cy="524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spc="-6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Kết quả: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b="true" sz="2499" spc="-4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Thành công: </a:t>
            </a: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Giao dịch thanh toán hoàn tất, Hãng bay trả mã</a:t>
            </a: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đặt chỗ và vé điện tử được gửi thành công cho khách hàng.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b="true" sz="2499" spc="-4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Hủy bỏ/ Từ chối:</a:t>
            </a: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Giao dịch thanh toán bị lỗi, hoặc đơn hàng rơi vào trạng thái treo (Pending) nhưng khách hàng không còn nhu cầu và yêu cầu hủy để hoàn tiền (rollback).</a:t>
            </a:r>
          </a:p>
          <a:p>
            <a:pPr algn="l">
              <a:lnSpc>
                <a:spcPts val="3770"/>
              </a:lnSpc>
            </a:pPr>
          </a:p>
          <a:p>
            <a:pPr algn="l">
              <a:lnSpc>
                <a:spcPts val="3900"/>
              </a:lnSpc>
            </a:pPr>
            <a:r>
              <a:rPr lang="en-US" sz="3000" spc="-6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Giá trị mang lại: 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Đ</a:t>
            </a: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ảm bảo hách hàng mua vé thành công, đồng thời xử lý sự cố </a:t>
            </a: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nhanh nhất trong quá trình thanh toán. 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Giúp đồng bộ giao dịch giữa MoMo và hãng bay/ NCC</a:t>
            </a:r>
          </a:p>
          <a:p>
            <a:pPr algn="l">
              <a:lnSpc>
                <a:spcPts val="324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25625" y="1038874"/>
            <a:ext cx="1217513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Quy</a:t>
            </a: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trình tìm kiếm, lựa chọn hành trình, xác nhận đặt vé và thanh toán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5625" y="115570"/>
            <a:ext cx="13902711" cy="8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00"/>
              </a:lnSpc>
              <a:spcBef>
                <a:spcPct val="0"/>
              </a:spcBef>
            </a:pPr>
            <a:r>
              <a:rPr lang="en-US" b="true" sz="5000" spc="-10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V. Nhóm quy trình cốt lõi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35854" y="1780643"/>
            <a:ext cx="5782632" cy="892980"/>
            <a:chOff x="0" y="0"/>
            <a:chExt cx="1751441" cy="2704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1441" cy="270465"/>
            </a:xfrm>
            <a:custGeom>
              <a:avLst/>
              <a:gdLst/>
              <a:ahLst/>
              <a:cxnLst/>
              <a:rect r="r" b="b" t="t" l="l"/>
              <a:pathLst>
                <a:path h="270465" w="1751441">
                  <a:moveTo>
                    <a:pt x="64263" y="0"/>
                  </a:moveTo>
                  <a:lnTo>
                    <a:pt x="1687178" y="0"/>
                  </a:lnTo>
                  <a:cubicBezTo>
                    <a:pt x="1722670" y="0"/>
                    <a:pt x="1751441" y="28772"/>
                    <a:pt x="1751441" y="64263"/>
                  </a:cubicBezTo>
                  <a:lnTo>
                    <a:pt x="1751441" y="206202"/>
                  </a:lnTo>
                  <a:cubicBezTo>
                    <a:pt x="1751441" y="241694"/>
                    <a:pt x="1722670" y="270465"/>
                    <a:pt x="1687178" y="270465"/>
                  </a:cubicBezTo>
                  <a:lnTo>
                    <a:pt x="64263" y="270465"/>
                  </a:lnTo>
                  <a:cubicBezTo>
                    <a:pt x="28772" y="270465"/>
                    <a:pt x="0" y="241694"/>
                    <a:pt x="0" y="206202"/>
                  </a:cubicBezTo>
                  <a:lnTo>
                    <a:pt x="0" y="64263"/>
                  </a:lnTo>
                  <a:cubicBezTo>
                    <a:pt x="0" y="28772"/>
                    <a:pt x="28772" y="0"/>
                    <a:pt x="64263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751441" cy="289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9"/>
                </a:lnSpc>
              </a:pPr>
              <a:r>
                <a:rPr lang="en-US" b="true" sz="2499" spc="-49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Câu hỏi định tính có cấu trúc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2801939"/>
            <a:ext cx="12418487" cy="7485061"/>
            <a:chOff x="0" y="0"/>
            <a:chExt cx="3761306" cy="2267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61306" cy="2267072"/>
            </a:xfrm>
            <a:custGeom>
              <a:avLst/>
              <a:gdLst/>
              <a:ahLst/>
              <a:cxnLst/>
              <a:rect r="r" b="b" t="t" l="l"/>
              <a:pathLst>
                <a:path h="2267072" w="3761306">
                  <a:moveTo>
                    <a:pt x="29924" y="0"/>
                  </a:moveTo>
                  <a:lnTo>
                    <a:pt x="3731382" y="0"/>
                  </a:lnTo>
                  <a:cubicBezTo>
                    <a:pt x="3747908" y="0"/>
                    <a:pt x="3761306" y="13397"/>
                    <a:pt x="3761306" y="29924"/>
                  </a:cubicBezTo>
                  <a:lnTo>
                    <a:pt x="3761306" y="2237148"/>
                  </a:lnTo>
                  <a:cubicBezTo>
                    <a:pt x="3761306" y="2245084"/>
                    <a:pt x="3758154" y="2252696"/>
                    <a:pt x="3752541" y="2258308"/>
                  </a:cubicBezTo>
                  <a:cubicBezTo>
                    <a:pt x="3746930" y="2263920"/>
                    <a:pt x="3739318" y="2267072"/>
                    <a:pt x="3731382" y="2267072"/>
                  </a:cubicBezTo>
                  <a:lnTo>
                    <a:pt x="29924" y="2267072"/>
                  </a:lnTo>
                  <a:cubicBezTo>
                    <a:pt x="13397" y="2267072"/>
                    <a:pt x="0" y="2253675"/>
                    <a:pt x="0" y="2237148"/>
                  </a:cubicBezTo>
                  <a:lnTo>
                    <a:pt x="0" y="29924"/>
                  </a:lnTo>
                  <a:cubicBezTo>
                    <a:pt x="0" y="13397"/>
                    <a:pt x="13397" y="0"/>
                    <a:pt x="29924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761306" cy="2295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550"/>
                </a:lnSpc>
              </a:pPr>
            </a:p>
          </p:txBody>
        </p:sp>
      </p:grpSp>
      <p:graphicFrame>
        <p:nvGraphicFramePr>
          <p:cNvPr name="Object 8" id="8"/>
          <p:cNvGraphicFramePr/>
          <p:nvPr/>
        </p:nvGraphicFramePr>
        <p:xfrm>
          <a:off x="325625" y="2801939"/>
          <a:ext cx="1469571" cy="8229600"/>
        </p:xfrm>
        <a:graphic>
          <a:graphicData uri="http://schemas.openxmlformats.org/presentationml/2006/ole">
            <p:oleObj imgW="3111500" imgH="9867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12611933" y="2801939"/>
            <a:ext cx="5296652" cy="7485061"/>
            <a:chOff x="0" y="0"/>
            <a:chExt cx="1604248" cy="2267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4248" cy="2267072"/>
            </a:xfrm>
            <a:custGeom>
              <a:avLst/>
              <a:gdLst/>
              <a:ahLst/>
              <a:cxnLst/>
              <a:rect r="r" b="b" t="t" l="l"/>
              <a:pathLst>
                <a:path h="2267072" w="1604248">
                  <a:moveTo>
                    <a:pt x="70160" y="0"/>
                  </a:moveTo>
                  <a:lnTo>
                    <a:pt x="1534088" y="0"/>
                  </a:lnTo>
                  <a:cubicBezTo>
                    <a:pt x="1552695" y="0"/>
                    <a:pt x="1570541" y="7392"/>
                    <a:pt x="1583698" y="20549"/>
                  </a:cubicBezTo>
                  <a:cubicBezTo>
                    <a:pt x="1596856" y="33707"/>
                    <a:pt x="1604248" y="51552"/>
                    <a:pt x="1604248" y="70160"/>
                  </a:cubicBezTo>
                  <a:lnTo>
                    <a:pt x="1604248" y="2196912"/>
                  </a:lnTo>
                  <a:cubicBezTo>
                    <a:pt x="1604248" y="2215520"/>
                    <a:pt x="1596856" y="2233365"/>
                    <a:pt x="1583698" y="2246523"/>
                  </a:cubicBezTo>
                  <a:cubicBezTo>
                    <a:pt x="1570541" y="2259680"/>
                    <a:pt x="1552695" y="2267072"/>
                    <a:pt x="1534088" y="2267072"/>
                  </a:cubicBezTo>
                  <a:lnTo>
                    <a:pt x="70160" y="2267072"/>
                  </a:lnTo>
                  <a:cubicBezTo>
                    <a:pt x="51552" y="2267072"/>
                    <a:pt x="33707" y="2259680"/>
                    <a:pt x="20549" y="2246523"/>
                  </a:cubicBezTo>
                  <a:cubicBezTo>
                    <a:pt x="7392" y="2233365"/>
                    <a:pt x="0" y="2215520"/>
                    <a:pt x="0" y="2196912"/>
                  </a:cubicBezTo>
                  <a:lnTo>
                    <a:pt x="0" y="70160"/>
                  </a:lnTo>
                  <a:cubicBezTo>
                    <a:pt x="0" y="51552"/>
                    <a:pt x="7392" y="33707"/>
                    <a:pt x="20549" y="20549"/>
                  </a:cubicBezTo>
                  <a:cubicBezTo>
                    <a:pt x="33707" y="7392"/>
                    <a:pt x="51552" y="0"/>
                    <a:pt x="70160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604248" cy="2295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55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611933" y="1755765"/>
            <a:ext cx="5296652" cy="917858"/>
            <a:chOff x="0" y="0"/>
            <a:chExt cx="1604248" cy="27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4248" cy="278000"/>
            </a:xfrm>
            <a:custGeom>
              <a:avLst/>
              <a:gdLst/>
              <a:ahLst/>
              <a:cxnLst/>
              <a:rect r="r" b="b" t="t" l="l"/>
              <a:pathLst>
                <a:path h="278000" w="1604248">
                  <a:moveTo>
                    <a:pt x="70160" y="0"/>
                  </a:moveTo>
                  <a:lnTo>
                    <a:pt x="1534088" y="0"/>
                  </a:lnTo>
                  <a:cubicBezTo>
                    <a:pt x="1552695" y="0"/>
                    <a:pt x="1570541" y="7392"/>
                    <a:pt x="1583698" y="20549"/>
                  </a:cubicBezTo>
                  <a:cubicBezTo>
                    <a:pt x="1596856" y="33707"/>
                    <a:pt x="1604248" y="51552"/>
                    <a:pt x="1604248" y="70160"/>
                  </a:cubicBezTo>
                  <a:lnTo>
                    <a:pt x="1604248" y="207840"/>
                  </a:lnTo>
                  <a:cubicBezTo>
                    <a:pt x="1604248" y="226448"/>
                    <a:pt x="1596856" y="244293"/>
                    <a:pt x="1583698" y="257451"/>
                  </a:cubicBezTo>
                  <a:cubicBezTo>
                    <a:pt x="1570541" y="270608"/>
                    <a:pt x="1552695" y="278000"/>
                    <a:pt x="1534088" y="278000"/>
                  </a:cubicBezTo>
                  <a:lnTo>
                    <a:pt x="70160" y="278000"/>
                  </a:lnTo>
                  <a:cubicBezTo>
                    <a:pt x="51552" y="278000"/>
                    <a:pt x="33707" y="270608"/>
                    <a:pt x="20549" y="257451"/>
                  </a:cubicBezTo>
                  <a:cubicBezTo>
                    <a:pt x="7392" y="244293"/>
                    <a:pt x="0" y="226448"/>
                    <a:pt x="0" y="207840"/>
                  </a:cubicBezTo>
                  <a:lnTo>
                    <a:pt x="0" y="70160"/>
                  </a:lnTo>
                  <a:cubicBezTo>
                    <a:pt x="0" y="51552"/>
                    <a:pt x="7392" y="33707"/>
                    <a:pt x="20549" y="20549"/>
                  </a:cubicBezTo>
                  <a:cubicBezTo>
                    <a:pt x="33707" y="7392"/>
                    <a:pt x="51552" y="0"/>
                    <a:pt x="70160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604248" cy="297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9"/>
                </a:lnSpc>
              </a:pPr>
              <a:r>
                <a:rPr lang="en-US" b="true" sz="2499" spc="-49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Câu hỏi định tính không cấu trúc</a:t>
              </a:r>
            </a:p>
          </p:txBody>
        </p:sp>
      </p:grpSp>
      <p:graphicFrame>
        <p:nvGraphicFramePr>
          <p:cNvPr name="Object 15" id="15"/>
          <p:cNvGraphicFramePr/>
          <p:nvPr/>
        </p:nvGraphicFramePr>
        <p:xfrm>
          <a:off x="12995212" y="3407559"/>
          <a:ext cx="1885950" cy="3268980"/>
        </p:xfrm>
        <a:graphic>
          <a:graphicData uri="http://schemas.openxmlformats.org/presentationml/2006/ole">
            <p:oleObj imgW="2540000" imgH="39243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6" id="16"/>
          <p:cNvSpPr txBox="true"/>
          <p:nvPr/>
        </p:nvSpPr>
        <p:spPr>
          <a:xfrm rot="0">
            <a:off x="17908584" y="96570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17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06175" y="2849564"/>
            <a:ext cx="2103358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b="true" sz="2499" spc="-4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Câ</a:t>
            </a:r>
            <a:r>
              <a:rPr lang="en-US" b="true" sz="2499" spc="-4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 hỏi cụ thể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7525" y="1883485"/>
            <a:ext cx="5969927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50"/>
              </a:lnSpc>
              <a:spcBef>
                <a:spcPct val="0"/>
              </a:spcBef>
            </a:pPr>
            <a:r>
              <a:rPr lang="en-US" b="true" sz="3500" spc="-7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Câu hỏi phỏng vấn định tính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5625" y="1038874"/>
            <a:ext cx="1217513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Quy</a:t>
            </a: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trình tìm kiếm, lựa chọn hành trình, xác nhận đặt vé và thanh toán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5625" y="115570"/>
            <a:ext cx="13902711" cy="8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00"/>
              </a:lnSpc>
              <a:spcBef>
                <a:spcPct val="0"/>
              </a:spcBef>
            </a:pPr>
            <a:r>
              <a:rPr lang="en-US" b="true" sz="5000" spc="-10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V. Nhóm quy trình cốt lõi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35854" y="1506669"/>
            <a:ext cx="5782632" cy="892980"/>
            <a:chOff x="0" y="0"/>
            <a:chExt cx="1751441" cy="2704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1441" cy="270465"/>
            </a:xfrm>
            <a:custGeom>
              <a:avLst/>
              <a:gdLst/>
              <a:ahLst/>
              <a:cxnLst/>
              <a:rect r="r" b="b" t="t" l="l"/>
              <a:pathLst>
                <a:path h="270465" w="1751441">
                  <a:moveTo>
                    <a:pt x="64263" y="0"/>
                  </a:moveTo>
                  <a:lnTo>
                    <a:pt x="1687178" y="0"/>
                  </a:lnTo>
                  <a:cubicBezTo>
                    <a:pt x="1722670" y="0"/>
                    <a:pt x="1751441" y="28772"/>
                    <a:pt x="1751441" y="64263"/>
                  </a:cubicBezTo>
                  <a:lnTo>
                    <a:pt x="1751441" y="206202"/>
                  </a:lnTo>
                  <a:cubicBezTo>
                    <a:pt x="1751441" y="241694"/>
                    <a:pt x="1722670" y="270465"/>
                    <a:pt x="1687178" y="270465"/>
                  </a:cubicBezTo>
                  <a:lnTo>
                    <a:pt x="64263" y="270465"/>
                  </a:lnTo>
                  <a:cubicBezTo>
                    <a:pt x="28772" y="270465"/>
                    <a:pt x="0" y="241694"/>
                    <a:pt x="0" y="206202"/>
                  </a:cubicBezTo>
                  <a:lnTo>
                    <a:pt x="0" y="64263"/>
                  </a:lnTo>
                  <a:cubicBezTo>
                    <a:pt x="0" y="28772"/>
                    <a:pt x="28772" y="0"/>
                    <a:pt x="64263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751441" cy="289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9"/>
                </a:lnSpc>
              </a:pPr>
              <a:r>
                <a:rPr lang="en-US" sz="2499" spc="-4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Câu hỏi định tính có cấu trúc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2504423"/>
            <a:ext cx="12418487" cy="7782577"/>
            <a:chOff x="0" y="0"/>
            <a:chExt cx="3761306" cy="23571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61306" cy="2357184"/>
            </a:xfrm>
            <a:custGeom>
              <a:avLst/>
              <a:gdLst/>
              <a:ahLst/>
              <a:cxnLst/>
              <a:rect r="r" b="b" t="t" l="l"/>
              <a:pathLst>
                <a:path h="2357184" w="3761306">
                  <a:moveTo>
                    <a:pt x="29924" y="0"/>
                  </a:moveTo>
                  <a:lnTo>
                    <a:pt x="3731382" y="0"/>
                  </a:lnTo>
                  <a:cubicBezTo>
                    <a:pt x="3747908" y="0"/>
                    <a:pt x="3761306" y="13397"/>
                    <a:pt x="3761306" y="29924"/>
                  </a:cubicBezTo>
                  <a:lnTo>
                    <a:pt x="3761306" y="2327259"/>
                  </a:lnTo>
                  <a:cubicBezTo>
                    <a:pt x="3761306" y="2343786"/>
                    <a:pt x="3747908" y="2357184"/>
                    <a:pt x="3731382" y="2357184"/>
                  </a:cubicBezTo>
                  <a:lnTo>
                    <a:pt x="29924" y="2357184"/>
                  </a:lnTo>
                  <a:cubicBezTo>
                    <a:pt x="13397" y="2357184"/>
                    <a:pt x="0" y="2343786"/>
                    <a:pt x="0" y="2327259"/>
                  </a:cubicBezTo>
                  <a:lnTo>
                    <a:pt x="0" y="29924"/>
                  </a:lnTo>
                  <a:cubicBezTo>
                    <a:pt x="0" y="13397"/>
                    <a:pt x="13397" y="0"/>
                    <a:pt x="29924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761306" cy="2385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550"/>
                </a:lnSpc>
              </a:pPr>
            </a:p>
          </p:txBody>
        </p:sp>
      </p:grpSp>
      <p:graphicFrame>
        <p:nvGraphicFramePr>
          <p:cNvPr name="Object 8" id="8"/>
          <p:cNvGraphicFramePr/>
          <p:nvPr/>
        </p:nvGraphicFramePr>
        <p:xfrm>
          <a:off x="325625" y="2504423"/>
          <a:ext cx="1469571" cy="8229600"/>
        </p:xfrm>
        <a:graphic>
          <a:graphicData uri="http://schemas.openxmlformats.org/presentationml/2006/ole">
            <p:oleObj imgW="3111500" imgH="9867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12611933" y="2504423"/>
            <a:ext cx="5296652" cy="7782577"/>
            <a:chOff x="0" y="0"/>
            <a:chExt cx="1604248" cy="23571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4248" cy="2357184"/>
            </a:xfrm>
            <a:custGeom>
              <a:avLst/>
              <a:gdLst/>
              <a:ahLst/>
              <a:cxnLst/>
              <a:rect r="r" b="b" t="t" l="l"/>
              <a:pathLst>
                <a:path h="2357184" w="1604248">
                  <a:moveTo>
                    <a:pt x="70160" y="0"/>
                  </a:moveTo>
                  <a:lnTo>
                    <a:pt x="1534088" y="0"/>
                  </a:lnTo>
                  <a:cubicBezTo>
                    <a:pt x="1552695" y="0"/>
                    <a:pt x="1570541" y="7392"/>
                    <a:pt x="1583698" y="20549"/>
                  </a:cubicBezTo>
                  <a:cubicBezTo>
                    <a:pt x="1596856" y="33707"/>
                    <a:pt x="1604248" y="51552"/>
                    <a:pt x="1604248" y="70160"/>
                  </a:cubicBezTo>
                  <a:lnTo>
                    <a:pt x="1604248" y="2287024"/>
                  </a:lnTo>
                  <a:cubicBezTo>
                    <a:pt x="1604248" y="2305631"/>
                    <a:pt x="1596856" y="2323477"/>
                    <a:pt x="1583698" y="2336634"/>
                  </a:cubicBezTo>
                  <a:cubicBezTo>
                    <a:pt x="1570541" y="2349792"/>
                    <a:pt x="1552695" y="2357184"/>
                    <a:pt x="1534088" y="2357184"/>
                  </a:cubicBezTo>
                  <a:lnTo>
                    <a:pt x="70160" y="2357184"/>
                  </a:lnTo>
                  <a:cubicBezTo>
                    <a:pt x="51552" y="2357184"/>
                    <a:pt x="33707" y="2349792"/>
                    <a:pt x="20549" y="2336634"/>
                  </a:cubicBezTo>
                  <a:cubicBezTo>
                    <a:pt x="7392" y="2323477"/>
                    <a:pt x="0" y="2305631"/>
                    <a:pt x="0" y="2287024"/>
                  </a:cubicBezTo>
                  <a:lnTo>
                    <a:pt x="0" y="70160"/>
                  </a:lnTo>
                  <a:cubicBezTo>
                    <a:pt x="0" y="51552"/>
                    <a:pt x="7392" y="33707"/>
                    <a:pt x="20549" y="20549"/>
                  </a:cubicBezTo>
                  <a:cubicBezTo>
                    <a:pt x="33707" y="7392"/>
                    <a:pt x="51552" y="0"/>
                    <a:pt x="70160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604248" cy="2385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55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611933" y="1481791"/>
            <a:ext cx="5296652" cy="917858"/>
            <a:chOff x="0" y="0"/>
            <a:chExt cx="1604248" cy="27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4248" cy="278000"/>
            </a:xfrm>
            <a:custGeom>
              <a:avLst/>
              <a:gdLst/>
              <a:ahLst/>
              <a:cxnLst/>
              <a:rect r="r" b="b" t="t" l="l"/>
              <a:pathLst>
                <a:path h="278000" w="1604248">
                  <a:moveTo>
                    <a:pt x="70160" y="0"/>
                  </a:moveTo>
                  <a:lnTo>
                    <a:pt x="1534088" y="0"/>
                  </a:lnTo>
                  <a:cubicBezTo>
                    <a:pt x="1552695" y="0"/>
                    <a:pt x="1570541" y="7392"/>
                    <a:pt x="1583698" y="20549"/>
                  </a:cubicBezTo>
                  <a:cubicBezTo>
                    <a:pt x="1596856" y="33707"/>
                    <a:pt x="1604248" y="51552"/>
                    <a:pt x="1604248" y="70160"/>
                  </a:cubicBezTo>
                  <a:lnTo>
                    <a:pt x="1604248" y="207840"/>
                  </a:lnTo>
                  <a:cubicBezTo>
                    <a:pt x="1604248" y="226448"/>
                    <a:pt x="1596856" y="244293"/>
                    <a:pt x="1583698" y="257451"/>
                  </a:cubicBezTo>
                  <a:cubicBezTo>
                    <a:pt x="1570541" y="270608"/>
                    <a:pt x="1552695" y="278000"/>
                    <a:pt x="1534088" y="278000"/>
                  </a:cubicBezTo>
                  <a:lnTo>
                    <a:pt x="70160" y="278000"/>
                  </a:lnTo>
                  <a:cubicBezTo>
                    <a:pt x="51552" y="278000"/>
                    <a:pt x="33707" y="270608"/>
                    <a:pt x="20549" y="257451"/>
                  </a:cubicBezTo>
                  <a:cubicBezTo>
                    <a:pt x="7392" y="244293"/>
                    <a:pt x="0" y="226448"/>
                    <a:pt x="0" y="207840"/>
                  </a:cubicBezTo>
                  <a:lnTo>
                    <a:pt x="0" y="70160"/>
                  </a:lnTo>
                  <a:cubicBezTo>
                    <a:pt x="0" y="51552"/>
                    <a:pt x="7392" y="33707"/>
                    <a:pt x="20549" y="20549"/>
                  </a:cubicBezTo>
                  <a:cubicBezTo>
                    <a:pt x="33707" y="7392"/>
                    <a:pt x="51552" y="0"/>
                    <a:pt x="70160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604248" cy="297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9"/>
                </a:lnSpc>
              </a:pPr>
              <a:r>
                <a:rPr lang="en-US" sz="2499" spc="-4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Câu hỏi định tính không cấu trúc</a:t>
              </a:r>
            </a:p>
          </p:txBody>
        </p:sp>
      </p:grpSp>
      <p:graphicFrame>
        <p:nvGraphicFramePr>
          <p:cNvPr name="Object 15" id="15"/>
          <p:cNvGraphicFramePr/>
          <p:nvPr/>
        </p:nvGraphicFramePr>
        <p:xfrm>
          <a:off x="12995212" y="3107756"/>
          <a:ext cx="1885950" cy="3268980"/>
        </p:xfrm>
        <a:graphic>
          <a:graphicData uri="http://schemas.openxmlformats.org/presentationml/2006/ole">
            <p:oleObj imgW="2540000" imgH="39243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6" id="16"/>
          <p:cNvSpPr txBox="true"/>
          <p:nvPr/>
        </p:nvSpPr>
        <p:spPr>
          <a:xfrm rot="0">
            <a:off x="17908584" y="96570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18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95212" y="2613726"/>
            <a:ext cx="2103358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b="true" sz="2499" spc="-4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Câ</a:t>
            </a:r>
            <a:r>
              <a:rPr lang="en-US" b="true" sz="2499" spc="-4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 hỏi cụ thể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8475" y="1609511"/>
            <a:ext cx="659377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  <a:spcBef>
                <a:spcPct val="0"/>
              </a:spcBef>
            </a:pPr>
            <a:r>
              <a:rPr lang="en-US" b="true" sz="3500" spc="-7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Câu hỏi phỏng vấn định lượng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5625" y="988284"/>
            <a:ext cx="1217513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Quy</a:t>
            </a: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trình tìm kiếm, lựa chọn hành trình, xác nhận đặt vé và thanh toán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5625" y="115570"/>
            <a:ext cx="13902711" cy="8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00"/>
              </a:lnSpc>
              <a:spcBef>
                <a:spcPct val="0"/>
              </a:spcBef>
            </a:pPr>
            <a:r>
              <a:rPr lang="en-US" b="true" sz="5000" spc="-10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V. Nhóm quy trình cốt lõi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15808" y="1546874"/>
            <a:ext cx="4992776" cy="8586374"/>
            <a:chOff x="0" y="0"/>
            <a:chExt cx="1512210" cy="26006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2210" cy="2600637"/>
            </a:xfrm>
            <a:custGeom>
              <a:avLst/>
              <a:gdLst/>
              <a:ahLst/>
              <a:cxnLst/>
              <a:rect r="r" b="b" t="t" l="l"/>
              <a:pathLst>
                <a:path h="2600637" w="1512210">
                  <a:moveTo>
                    <a:pt x="74430" y="0"/>
                  </a:moveTo>
                  <a:lnTo>
                    <a:pt x="1437780" y="0"/>
                  </a:lnTo>
                  <a:cubicBezTo>
                    <a:pt x="1478886" y="0"/>
                    <a:pt x="1512210" y="33323"/>
                    <a:pt x="1512210" y="74430"/>
                  </a:cubicBezTo>
                  <a:lnTo>
                    <a:pt x="1512210" y="2526207"/>
                  </a:lnTo>
                  <a:cubicBezTo>
                    <a:pt x="1512210" y="2567314"/>
                    <a:pt x="1478886" y="2600637"/>
                    <a:pt x="1437780" y="2600637"/>
                  </a:cubicBezTo>
                  <a:lnTo>
                    <a:pt x="74430" y="2600637"/>
                  </a:lnTo>
                  <a:cubicBezTo>
                    <a:pt x="33323" y="2600637"/>
                    <a:pt x="0" y="2567314"/>
                    <a:pt x="0" y="2526207"/>
                  </a:cubicBezTo>
                  <a:lnTo>
                    <a:pt x="0" y="74430"/>
                  </a:lnTo>
                  <a:cubicBezTo>
                    <a:pt x="0" y="33323"/>
                    <a:pt x="33323" y="0"/>
                    <a:pt x="74430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512210" cy="2619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8847" y="1942904"/>
            <a:ext cx="12551332" cy="6816389"/>
          </a:xfrm>
          <a:custGeom>
            <a:avLst/>
            <a:gdLst/>
            <a:ahLst/>
            <a:cxnLst/>
            <a:rect r="r" b="b" t="t" l="l"/>
            <a:pathLst>
              <a:path h="6816389" w="12551332">
                <a:moveTo>
                  <a:pt x="0" y="0"/>
                </a:moveTo>
                <a:lnTo>
                  <a:pt x="12551332" y="0"/>
                </a:lnTo>
                <a:lnTo>
                  <a:pt x="12551332" y="6816389"/>
                </a:lnTo>
                <a:lnTo>
                  <a:pt x="0" y="6816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908584" y="96570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19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5150" y="115570"/>
            <a:ext cx="13902711" cy="8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00"/>
              </a:lnSpc>
              <a:spcBef>
                <a:spcPct val="0"/>
              </a:spcBef>
            </a:pPr>
            <a:r>
              <a:rPr lang="en-US" b="true" sz="5000" spc="-10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VI. Nhóm quy trình hỗ trợ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5150" y="1038874"/>
            <a:ext cx="1217513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Hỗ</a:t>
            </a: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trợ khách hàng và tiếp nhận phản hồi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21250" y="2565620"/>
            <a:ext cx="4581893" cy="512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9"/>
              </a:lnSpc>
            </a:pPr>
            <a:r>
              <a:rPr lang="en-US" sz="3330" spc="-66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Các bước thực hiện:</a:t>
            </a:r>
          </a:p>
          <a:p>
            <a:pPr algn="l">
              <a:lnSpc>
                <a:spcPts val="4329"/>
              </a:lnSpc>
            </a:pPr>
          </a:p>
          <a:p>
            <a:pPr algn="l" marL="584607" indent="-292304" lvl="1">
              <a:lnSpc>
                <a:spcPts val="3520"/>
              </a:lnSpc>
              <a:buAutoNum type="arabicPeriod" startAt="1"/>
            </a:pPr>
            <a:r>
              <a:rPr lang="en-US" sz="2707" spc="-5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Khá</a:t>
            </a:r>
            <a:r>
              <a:rPr lang="en-US" sz="2707" spc="-5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 báo sự cố</a:t>
            </a:r>
          </a:p>
          <a:p>
            <a:pPr algn="l" marL="584607" indent="-292304" lvl="1">
              <a:lnSpc>
                <a:spcPts val="3520"/>
              </a:lnSpc>
              <a:buAutoNum type="arabicPeriod" startAt="1"/>
            </a:pPr>
            <a:r>
              <a:rPr lang="en-US" sz="2707" spc="-5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Bộ phận CSKH tiếp nhận và xác minh</a:t>
            </a:r>
          </a:p>
          <a:p>
            <a:pPr algn="l" marL="584607" indent="-292304" lvl="1">
              <a:lnSpc>
                <a:spcPts val="3520"/>
              </a:lnSpc>
              <a:buAutoNum type="arabicPeriod" startAt="1"/>
            </a:pPr>
            <a:r>
              <a:rPr lang="en-US" sz="2707" spc="-5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Phân loại lỗi hoặc yêu cầu</a:t>
            </a:r>
          </a:p>
          <a:p>
            <a:pPr algn="l" marL="584607" indent="-292304" lvl="1">
              <a:lnSpc>
                <a:spcPts val="3520"/>
              </a:lnSpc>
              <a:buAutoNum type="arabicPeriod" startAt="1"/>
            </a:pPr>
            <a:r>
              <a:rPr lang="en-US" sz="2707" spc="-5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Xử lý trực tiếp hoặc chuyển cho bên liên quan (Nội bộ/đối tác)</a:t>
            </a:r>
          </a:p>
          <a:p>
            <a:pPr algn="l" marL="584607" indent="-292304" lvl="1">
              <a:lnSpc>
                <a:spcPts val="3520"/>
              </a:lnSpc>
              <a:buAutoNum type="arabicPeriod" startAt="1"/>
            </a:pPr>
            <a:r>
              <a:rPr lang="en-US" sz="2707" spc="-5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Phản hồi kết quả cho khách hàng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5302" y="1618198"/>
            <a:ext cx="9154329" cy="8428690"/>
            <a:chOff x="0" y="0"/>
            <a:chExt cx="2772659" cy="2552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2659" cy="2552878"/>
            </a:xfrm>
            <a:custGeom>
              <a:avLst/>
              <a:gdLst/>
              <a:ahLst/>
              <a:cxnLst/>
              <a:rect r="r" b="b" t="t" l="l"/>
              <a:pathLst>
                <a:path h="2552878" w="2772659">
                  <a:moveTo>
                    <a:pt x="40594" y="0"/>
                  </a:moveTo>
                  <a:lnTo>
                    <a:pt x="2732065" y="0"/>
                  </a:lnTo>
                  <a:cubicBezTo>
                    <a:pt x="2754485" y="0"/>
                    <a:pt x="2772659" y="18175"/>
                    <a:pt x="2772659" y="40594"/>
                  </a:cubicBezTo>
                  <a:lnTo>
                    <a:pt x="2772659" y="2512284"/>
                  </a:lnTo>
                  <a:cubicBezTo>
                    <a:pt x="2772659" y="2534703"/>
                    <a:pt x="2754485" y="2552878"/>
                    <a:pt x="2732065" y="2552878"/>
                  </a:cubicBezTo>
                  <a:lnTo>
                    <a:pt x="40594" y="2552878"/>
                  </a:lnTo>
                  <a:cubicBezTo>
                    <a:pt x="18175" y="2552878"/>
                    <a:pt x="0" y="2534703"/>
                    <a:pt x="0" y="2512284"/>
                  </a:cubicBezTo>
                  <a:lnTo>
                    <a:pt x="0" y="40594"/>
                  </a:lnTo>
                  <a:cubicBezTo>
                    <a:pt x="0" y="18175"/>
                    <a:pt x="18175" y="0"/>
                    <a:pt x="40594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772659" cy="25719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6121" y="1915626"/>
            <a:ext cx="6450050" cy="216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spc="-6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Tác nhân:</a:t>
            </a:r>
          </a:p>
          <a:p>
            <a:pPr algn="l" marL="539749" indent="-269875" lvl="1">
              <a:lnSpc>
                <a:spcPts val="3249"/>
              </a:lnSpc>
              <a:buAutoNum type="arabicPeriod" startAt="1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</a:t>
            </a: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hách hàng</a:t>
            </a:r>
          </a:p>
          <a:p>
            <a:pPr algn="l" marL="539749" indent="-269875" lvl="1">
              <a:lnSpc>
                <a:spcPts val="3249"/>
              </a:lnSpc>
              <a:buAutoNum type="arabicPeriod" startAt="1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Bộ phận CSKH</a:t>
            </a:r>
          </a:p>
          <a:p>
            <a:pPr algn="l" marL="539749" indent="-269875" lvl="1">
              <a:lnSpc>
                <a:spcPts val="3249"/>
              </a:lnSpc>
              <a:buAutoNum type="arabicPeriod" startAt="1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Bộ phận khác/ Hãng bay/ NCC</a:t>
            </a:r>
          </a:p>
          <a:p>
            <a:pPr algn="l" marL="539749" indent="-269875" lvl="1">
              <a:lnSpc>
                <a:spcPts val="3249"/>
              </a:lnSpc>
              <a:buAutoNum type="arabicPeriod" startAt="1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Hệ thống MoMo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66677" y="1915626"/>
            <a:ext cx="445485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spc="-6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Khách hàng:</a:t>
            </a:r>
          </a:p>
          <a:p>
            <a:pPr algn="l" marL="539749" indent="-269875" lvl="1">
              <a:lnSpc>
                <a:spcPts val="3249"/>
              </a:lnSpc>
              <a:buAutoNum type="arabicPeriod" startAt="1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Người dùng cuối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691838" y="1618198"/>
            <a:ext cx="8362003" cy="4541244"/>
          </a:xfrm>
          <a:custGeom>
            <a:avLst/>
            <a:gdLst/>
            <a:ahLst/>
            <a:cxnLst/>
            <a:rect r="r" b="b" t="t" l="l"/>
            <a:pathLst>
              <a:path h="4541244" w="8362003">
                <a:moveTo>
                  <a:pt x="0" y="0"/>
                </a:moveTo>
                <a:lnTo>
                  <a:pt x="8362002" y="0"/>
                </a:lnTo>
                <a:lnTo>
                  <a:pt x="8362002" y="4541245"/>
                </a:lnTo>
                <a:lnTo>
                  <a:pt x="0" y="45412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21570" y="6399795"/>
            <a:ext cx="4706765" cy="3647093"/>
          </a:xfrm>
          <a:custGeom>
            <a:avLst/>
            <a:gdLst/>
            <a:ahLst/>
            <a:cxnLst/>
            <a:rect r="r" b="b" t="t" l="l"/>
            <a:pathLst>
              <a:path h="3647093" w="4706765">
                <a:moveTo>
                  <a:pt x="0" y="0"/>
                </a:moveTo>
                <a:lnTo>
                  <a:pt x="4706765" y="0"/>
                </a:lnTo>
                <a:lnTo>
                  <a:pt x="4706765" y="3647093"/>
                </a:lnTo>
                <a:lnTo>
                  <a:pt x="0" y="36470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908584" y="96570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20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7184" y="4461976"/>
            <a:ext cx="8346816" cy="528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spc="-6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Kết quả: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b="true" sz="2499" spc="-4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Thành công: </a:t>
            </a: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Sự cố được MoMo hoặc Hãng bay giải</a:t>
            </a: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quyết dứt điểm, khách hàng đồng ý với phương án xử lý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b="true" sz="2499" spc="-4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Hủy bỏ/ Từ chối:</a:t>
            </a: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Hãng bay/Nhà cung cấp tiếp nhận yêu cầu nhưng từ chối hỗ trợ (kèm theo lý do cụ thể).</a:t>
            </a:r>
          </a:p>
          <a:p>
            <a:pPr algn="l">
              <a:lnSpc>
                <a:spcPts val="3770"/>
              </a:lnSpc>
            </a:pPr>
          </a:p>
          <a:p>
            <a:pPr algn="l">
              <a:lnSpc>
                <a:spcPts val="3900"/>
              </a:lnSpc>
            </a:pPr>
            <a:r>
              <a:rPr lang="en-US" b="true" sz="3000" spc="-6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Giá trị mang lại: 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Xư</a:t>
            </a: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̉ lý yêu cầu của KH đúng bộ phận, tiết kiệm thời gian chờ.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Phối </a:t>
            </a: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hợp hiệu quả với các bộ phận/ các bên liên quan</a:t>
            </a:r>
          </a:p>
          <a:p>
            <a:pPr algn="l">
              <a:lnSpc>
                <a:spcPts val="3249"/>
              </a:lnSpc>
            </a:pPr>
          </a:p>
          <a:p>
            <a:pPr algn="l">
              <a:lnSpc>
                <a:spcPts val="324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25625" y="115570"/>
            <a:ext cx="13902711" cy="8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00"/>
              </a:lnSpc>
              <a:spcBef>
                <a:spcPct val="0"/>
              </a:spcBef>
            </a:pPr>
            <a:r>
              <a:rPr lang="en-US" b="true" sz="5000" spc="-10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VI. Nhóm quy trình hỗ trợ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5625" y="1038874"/>
            <a:ext cx="1217513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Hỗ</a:t>
            </a: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trợ khách hàng và tiếp nhận phản hồi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35854" y="1780643"/>
            <a:ext cx="5782632" cy="892980"/>
            <a:chOff x="0" y="0"/>
            <a:chExt cx="1751441" cy="2704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1441" cy="270465"/>
            </a:xfrm>
            <a:custGeom>
              <a:avLst/>
              <a:gdLst/>
              <a:ahLst/>
              <a:cxnLst/>
              <a:rect r="r" b="b" t="t" l="l"/>
              <a:pathLst>
                <a:path h="270465" w="1751441">
                  <a:moveTo>
                    <a:pt x="64263" y="0"/>
                  </a:moveTo>
                  <a:lnTo>
                    <a:pt x="1687178" y="0"/>
                  </a:lnTo>
                  <a:cubicBezTo>
                    <a:pt x="1722670" y="0"/>
                    <a:pt x="1751441" y="28772"/>
                    <a:pt x="1751441" y="64263"/>
                  </a:cubicBezTo>
                  <a:lnTo>
                    <a:pt x="1751441" y="206202"/>
                  </a:lnTo>
                  <a:cubicBezTo>
                    <a:pt x="1751441" y="241694"/>
                    <a:pt x="1722670" y="270465"/>
                    <a:pt x="1687178" y="270465"/>
                  </a:cubicBezTo>
                  <a:lnTo>
                    <a:pt x="64263" y="270465"/>
                  </a:lnTo>
                  <a:cubicBezTo>
                    <a:pt x="28772" y="270465"/>
                    <a:pt x="0" y="241694"/>
                    <a:pt x="0" y="206202"/>
                  </a:cubicBezTo>
                  <a:lnTo>
                    <a:pt x="0" y="64263"/>
                  </a:lnTo>
                  <a:cubicBezTo>
                    <a:pt x="0" y="28772"/>
                    <a:pt x="28772" y="0"/>
                    <a:pt x="64263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751441" cy="289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9"/>
                </a:lnSpc>
              </a:pPr>
              <a:r>
                <a:rPr lang="en-US" b="true" sz="2499" spc="-49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Câu hỏi định tính có cấu trúc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2801939"/>
            <a:ext cx="12418487" cy="7485061"/>
            <a:chOff x="0" y="0"/>
            <a:chExt cx="3761306" cy="2267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61306" cy="2267072"/>
            </a:xfrm>
            <a:custGeom>
              <a:avLst/>
              <a:gdLst/>
              <a:ahLst/>
              <a:cxnLst/>
              <a:rect r="r" b="b" t="t" l="l"/>
              <a:pathLst>
                <a:path h="2267072" w="3761306">
                  <a:moveTo>
                    <a:pt x="29924" y="0"/>
                  </a:moveTo>
                  <a:lnTo>
                    <a:pt x="3731382" y="0"/>
                  </a:lnTo>
                  <a:cubicBezTo>
                    <a:pt x="3747908" y="0"/>
                    <a:pt x="3761306" y="13397"/>
                    <a:pt x="3761306" y="29924"/>
                  </a:cubicBezTo>
                  <a:lnTo>
                    <a:pt x="3761306" y="2237148"/>
                  </a:lnTo>
                  <a:cubicBezTo>
                    <a:pt x="3761306" y="2245084"/>
                    <a:pt x="3758154" y="2252696"/>
                    <a:pt x="3752541" y="2258308"/>
                  </a:cubicBezTo>
                  <a:cubicBezTo>
                    <a:pt x="3746930" y="2263920"/>
                    <a:pt x="3739318" y="2267072"/>
                    <a:pt x="3731382" y="2267072"/>
                  </a:cubicBezTo>
                  <a:lnTo>
                    <a:pt x="29924" y="2267072"/>
                  </a:lnTo>
                  <a:cubicBezTo>
                    <a:pt x="13397" y="2267072"/>
                    <a:pt x="0" y="2253675"/>
                    <a:pt x="0" y="2237148"/>
                  </a:cubicBezTo>
                  <a:lnTo>
                    <a:pt x="0" y="29924"/>
                  </a:lnTo>
                  <a:cubicBezTo>
                    <a:pt x="0" y="13397"/>
                    <a:pt x="13397" y="0"/>
                    <a:pt x="29924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761306" cy="2295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550"/>
                </a:lnSpc>
              </a:pPr>
            </a:p>
          </p:txBody>
        </p:sp>
      </p:grpSp>
      <p:graphicFrame>
        <p:nvGraphicFramePr>
          <p:cNvPr name="Object 8" id="8"/>
          <p:cNvGraphicFramePr/>
          <p:nvPr/>
        </p:nvGraphicFramePr>
        <p:xfrm>
          <a:off x="325625" y="2801939"/>
          <a:ext cx="1469571" cy="8229600"/>
        </p:xfrm>
        <a:graphic>
          <a:graphicData uri="http://schemas.openxmlformats.org/presentationml/2006/ole">
            <p:oleObj imgW="3111500" imgH="9867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12611933" y="2801939"/>
            <a:ext cx="5296652" cy="7485061"/>
            <a:chOff x="0" y="0"/>
            <a:chExt cx="1604248" cy="2267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4248" cy="2267072"/>
            </a:xfrm>
            <a:custGeom>
              <a:avLst/>
              <a:gdLst/>
              <a:ahLst/>
              <a:cxnLst/>
              <a:rect r="r" b="b" t="t" l="l"/>
              <a:pathLst>
                <a:path h="2267072" w="1604248">
                  <a:moveTo>
                    <a:pt x="70160" y="0"/>
                  </a:moveTo>
                  <a:lnTo>
                    <a:pt x="1534088" y="0"/>
                  </a:lnTo>
                  <a:cubicBezTo>
                    <a:pt x="1552695" y="0"/>
                    <a:pt x="1570541" y="7392"/>
                    <a:pt x="1583698" y="20549"/>
                  </a:cubicBezTo>
                  <a:cubicBezTo>
                    <a:pt x="1596856" y="33707"/>
                    <a:pt x="1604248" y="51552"/>
                    <a:pt x="1604248" y="70160"/>
                  </a:cubicBezTo>
                  <a:lnTo>
                    <a:pt x="1604248" y="2196912"/>
                  </a:lnTo>
                  <a:cubicBezTo>
                    <a:pt x="1604248" y="2215520"/>
                    <a:pt x="1596856" y="2233365"/>
                    <a:pt x="1583698" y="2246523"/>
                  </a:cubicBezTo>
                  <a:cubicBezTo>
                    <a:pt x="1570541" y="2259680"/>
                    <a:pt x="1552695" y="2267072"/>
                    <a:pt x="1534088" y="2267072"/>
                  </a:cubicBezTo>
                  <a:lnTo>
                    <a:pt x="70160" y="2267072"/>
                  </a:lnTo>
                  <a:cubicBezTo>
                    <a:pt x="51552" y="2267072"/>
                    <a:pt x="33707" y="2259680"/>
                    <a:pt x="20549" y="2246523"/>
                  </a:cubicBezTo>
                  <a:cubicBezTo>
                    <a:pt x="7392" y="2233365"/>
                    <a:pt x="0" y="2215520"/>
                    <a:pt x="0" y="2196912"/>
                  </a:cubicBezTo>
                  <a:lnTo>
                    <a:pt x="0" y="70160"/>
                  </a:lnTo>
                  <a:cubicBezTo>
                    <a:pt x="0" y="51552"/>
                    <a:pt x="7392" y="33707"/>
                    <a:pt x="20549" y="20549"/>
                  </a:cubicBezTo>
                  <a:cubicBezTo>
                    <a:pt x="33707" y="7392"/>
                    <a:pt x="51552" y="0"/>
                    <a:pt x="70160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604248" cy="2295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55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611933" y="1755765"/>
            <a:ext cx="5296652" cy="917858"/>
            <a:chOff x="0" y="0"/>
            <a:chExt cx="1604248" cy="27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4248" cy="278000"/>
            </a:xfrm>
            <a:custGeom>
              <a:avLst/>
              <a:gdLst/>
              <a:ahLst/>
              <a:cxnLst/>
              <a:rect r="r" b="b" t="t" l="l"/>
              <a:pathLst>
                <a:path h="278000" w="1604248">
                  <a:moveTo>
                    <a:pt x="70160" y="0"/>
                  </a:moveTo>
                  <a:lnTo>
                    <a:pt x="1534088" y="0"/>
                  </a:lnTo>
                  <a:cubicBezTo>
                    <a:pt x="1552695" y="0"/>
                    <a:pt x="1570541" y="7392"/>
                    <a:pt x="1583698" y="20549"/>
                  </a:cubicBezTo>
                  <a:cubicBezTo>
                    <a:pt x="1596856" y="33707"/>
                    <a:pt x="1604248" y="51552"/>
                    <a:pt x="1604248" y="70160"/>
                  </a:cubicBezTo>
                  <a:lnTo>
                    <a:pt x="1604248" y="207840"/>
                  </a:lnTo>
                  <a:cubicBezTo>
                    <a:pt x="1604248" y="226448"/>
                    <a:pt x="1596856" y="244293"/>
                    <a:pt x="1583698" y="257451"/>
                  </a:cubicBezTo>
                  <a:cubicBezTo>
                    <a:pt x="1570541" y="270608"/>
                    <a:pt x="1552695" y="278000"/>
                    <a:pt x="1534088" y="278000"/>
                  </a:cubicBezTo>
                  <a:lnTo>
                    <a:pt x="70160" y="278000"/>
                  </a:lnTo>
                  <a:cubicBezTo>
                    <a:pt x="51552" y="278000"/>
                    <a:pt x="33707" y="270608"/>
                    <a:pt x="20549" y="257451"/>
                  </a:cubicBezTo>
                  <a:cubicBezTo>
                    <a:pt x="7392" y="244293"/>
                    <a:pt x="0" y="226448"/>
                    <a:pt x="0" y="207840"/>
                  </a:cubicBezTo>
                  <a:lnTo>
                    <a:pt x="0" y="70160"/>
                  </a:lnTo>
                  <a:cubicBezTo>
                    <a:pt x="0" y="51552"/>
                    <a:pt x="7392" y="33707"/>
                    <a:pt x="20549" y="20549"/>
                  </a:cubicBezTo>
                  <a:cubicBezTo>
                    <a:pt x="33707" y="7392"/>
                    <a:pt x="51552" y="0"/>
                    <a:pt x="70160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604248" cy="297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9"/>
                </a:lnSpc>
              </a:pPr>
              <a:r>
                <a:rPr lang="en-US" b="true" sz="2499" spc="-49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Câu hỏi định tính không cấu trúc</a:t>
              </a:r>
            </a:p>
          </p:txBody>
        </p:sp>
      </p:grpSp>
      <p:graphicFrame>
        <p:nvGraphicFramePr>
          <p:cNvPr name="Object 15" id="15"/>
          <p:cNvGraphicFramePr/>
          <p:nvPr/>
        </p:nvGraphicFramePr>
        <p:xfrm>
          <a:off x="12995212" y="3407559"/>
          <a:ext cx="1885950" cy="3268980"/>
        </p:xfrm>
        <a:graphic>
          <a:graphicData uri="http://schemas.openxmlformats.org/presentationml/2006/ole">
            <p:oleObj imgW="2540000" imgH="39243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6" id="16"/>
          <p:cNvSpPr txBox="true"/>
          <p:nvPr/>
        </p:nvSpPr>
        <p:spPr>
          <a:xfrm rot="0">
            <a:off x="17908584" y="96570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21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06175" y="2849564"/>
            <a:ext cx="2103358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b="true" sz="2499" spc="-4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Câ</a:t>
            </a:r>
            <a:r>
              <a:rPr lang="en-US" b="true" sz="2499" spc="-4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 hỏi cụ thể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7525" y="1883485"/>
            <a:ext cx="5969927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50"/>
              </a:lnSpc>
              <a:spcBef>
                <a:spcPct val="0"/>
              </a:spcBef>
            </a:pPr>
            <a:r>
              <a:rPr lang="en-US" b="true" sz="3500" spc="-7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Câu hỏi phỏng vấn định tính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5625" y="115570"/>
            <a:ext cx="13902711" cy="8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00"/>
              </a:lnSpc>
              <a:spcBef>
                <a:spcPct val="0"/>
              </a:spcBef>
            </a:pPr>
            <a:r>
              <a:rPr lang="en-US" b="true" sz="5000" spc="-10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VI. Nhóm quy trình hỗ trợ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5625" y="1038874"/>
            <a:ext cx="1217513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Hỗ</a:t>
            </a: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trợ khách hàng và tiếp nhận phản hồi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35854" y="1506669"/>
            <a:ext cx="5782632" cy="892980"/>
            <a:chOff x="0" y="0"/>
            <a:chExt cx="1751441" cy="2704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1441" cy="270465"/>
            </a:xfrm>
            <a:custGeom>
              <a:avLst/>
              <a:gdLst/>
              <a:ahLst/>
              <a:cxnLst/>
              <a:rect r="r" b="b" t="t" l="l"/>
              <a:pathLst>
                <a:path h="270465" w="1751441">
                  <a:moveTo>
                    <a:pt x="64263" y="0"/>
                  </a:moveTo>
                  <a:lnTo>
                    <a:pt x="1687178" y="0"/>
                  </a:lnTo>
                  <a:cubicBezTo>
                    <a:pt x="1722670" y="0"/>
                    <a:pt x="1751441" y="28772"/>
                    <a:pt x="1751441" y="64263"/>
                  </a:cubicBezTo>
                  <a:lnTo>
                    <a:pt x="1751441" y="206202"/>
                  </a:lnTo>
                  <a:cubicBezTo>
                    <a:pt x="1751441" y="241694"/>
                    <a:pt x="1722670" y="270465"/>
                    <a:pt x="1687178" y="270465"/>
                  </a:cubicBezTo>
                  <a:lnTo>
                    <a:pt x="64263" y="270465"/>
                  </a:lnTo>
                  <a:cubicBezTo>
                    <a:pt x="28772" y="270465"/>
                    <a:pt x="0" y="241694"/>
                    <a:pt x="0" y="206202"/>
                  </a:cubicBezTo>
                  <a:lnTo>
                    <a:pt x="0" y="64263"/>
                  </a:lnTo>
                  <a:cubicBezTo>
                    <a:pt x="0" y="28772"/>
                    <a:pt x="28772" y="0"/>
                    <a:pt x="64263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751441" cy="289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9"/>
                </a:lnSpc>
              </a:pPr>
              <a:r>
                <a:rPr lang="en-US" sz="2499" spc="-4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Câu hỏi định tính có cấu trúc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2504423"/>
            <a:ext cx="12418487" cy="7782577"/>
            <a:chOff x="0" y="0"/>
            <a:chExt cx="3761306" cy="23571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61306" cy="2357184"/>
            </a:xfrm>
            <a:custGeom>
              <a:avLst/>
              <a:gdLst/>
              <a:ahLst/>
              <a:cxnLst/>
              <a:rect r="r" b="b" t="t" l="l"/>
              <a:pathLst>
                <a:path h="2357184" w="3761306">
                  <a:moveTo>
                    <a:pt x="29924" y="0"/>
                  </a:moveTo>
                  <a:lnTo>
                    <a:pt x="3731382" y="0"/>
                  </a:lnTo>
                  <a:cubicBezTo>
                    <a:pt x="3747908" y="0"/>
                    <a:pt x="3761306" y="13397"/>
                    <a:pt x="3761306" y="29924"/>
                  </a:cubicBezTo>
                  <a:lnTo>
                    <a:pt x="3761306" y="2327259"/>
                  </a:lnTo>
                  <a:cubicBezTo>
                    <a:pt x="3761306" y="2343786"/>
                    <a:pt x="3747908" y="2357184"/>
                    <a:pt x="3731382" y="2357184"/>
                  </a:cubicBezTo>
                  <a:lnTo>
                    <a:pt x="29924" y="2357184"/>
                  </a:lnTo>
                  <a:cubicBezTo>
                    <a:pt x="13397" y="2357184"/>
                    <a:pt x="0" y="2343786"/>
                    <a:pt x="0" y="2327259"/>
                  </a:cubicBezTo>
                  <a:lnTo>
                    <a:pt x="0" y="29924"/>
                  </a:lnTo>
                  <a:cubicBezTo>
                    <a:pt x="0" y="13397"/>
                    <a:pt x="13397" y="0"/>
                    <a:pt x="29924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761306" cy="2385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550"/>
                </a:lnSpc>
              </a:pPr>
            </a:p>
          </p:txBody>
        </p:sp>
      </p:grpSp>
      <p:graphicFrame>
        <p:nvGraphicFramePr>
          <p:cNvPr name="Object 8" id="8"/>
          <p:cNvGraphicFramePr/>
          <p:nvPr/>
        </p:nvGraphicFramePr>
        <p:xfrm>
          <a:off x="306575" y="2504423"/>
          <a:ext cx="1469571" cy="8229600"/>
        </p:xfrm>
        <a:graphic>
          <a:graphicData uri="http://schemas.openxmlformats.org/presentationml/2006/ole">
            <p:oleObj imgW="3111500" imgH="9867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12611933" y="2504423"/>
            <a:ext cx="5296652" cy="7782577"/>
            <a:chOff x="0" y="0"/>
            <a:chExt cx="1604248" cy="23571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4248" cy="2357184"/>
            </a:xfrm>
            <a:custGeom>
              <a:avLst/>
              <a:gdLst/>
              <a:ahLst/>
              <a:cxnLst/>
              <a:rect r="r" b="b" t="t" l="l"/>
              <a:pathLst>
                <a:path h="2357184" w="1604248">
                  <a:moveTo>
                    <a:pt x="70160" y="0"/>
                  </a:moveTo>
                  <a:lnTo>
                    <a:pt x="1534088" y="0"/>
                  </a:lnTo>
                  <a:cubicBezTo>
                    <a:pt x="1552695" y="0"/>
                    <a:pt x="1570541" y="7392"/>
                    <a:pt x="1583698" y="20549"/>
                  </a:cubicBezTo>
                  <a:cubicBezTo>
                    <a:pt x="1596856" y="33707"/>
                    <a:pt x="1604248" y="51552"/>
                    <a:pt x="1604248" y="70160"/>
                  </a:cubicBezTo>
                  <a:lnTo>
                    <a:pt x="1604248" y="2287024"/>
                  </a:lnTo>
                  <a:cubicBezTo>
                    <a:pt x="1604248" y="2305631"/>
                    <a:pt x="1596856" y="2323477"/>
                    <a:pt x="1583698" y="2336634"/>
                  </a:cubicBezTo>
                  <a:cubicBezTo>
                    <a:pt x="1570541" y="2349792"/>
                    <a:pt x="1552695" y="2357184"/>
                    <a:pt x="1534088" y="2357184"/>
                  </a:cubicBezTo>
                  <a:lnTo>
                    <a:pt x="70160" y="2357184"/>
                  </a:lnTo>
                  <a:cubicBezTo>
                    <a:pt x="51552" y="2357184"/>
                    <a:pt x="33707" y="2349792"/>
                    <a:pt x="20549" y="2336634"/>
                  </a:cubicBezTo>
                  <a:cubicBezTo>
                    <a:pt x="7392" y="2323477"/>
                    <a:pt x="0" y="2305631"/>
                    <a:pt x="0" y="2287024"/>
                  </a:cubicBezTo>
                  <a:lnTo>
                    <a:pt x="0" y="70160"/>
                  </a:lnTo>
                  <a:cubicBezTo>
                    <a:pt x="0" y="51552"/>
                    <a:pt x="7392" y="33707"/>
                    <a:pt x="20549" y="20549"/>
                  </a:cubicBezTo>
                  <a:cubicBezTo>
                    <a:pt x="33707" y="7392"/>
                    <a:pt x="51552" y="0"/>
                    <a:pt x="70160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604248" cy="2385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55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611933" y="1481791"/>
            <a:ext cx="5296652" cy="917858"/>
            <a:chOff x="0" y="0"/>
            <a:chExt cx="1604248" cy="27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4248" cy="278000"/>
            </a:xfrm>
            <a:custGeom>
              <a:avLst/>
              <a:gdLst/>
              <a:ahLst/>
              <a:cxnLst/>
              <a:rect r="r" b="b" t="t" l="l"/>
              <a:pathLst>
                <a:path h="278000" w="1604248">
                  <a:moveTo>
                    <a:pt x="70160" y="0"/>
                  </a:moveTo>
                  <a:lnTo>
                    <a:pt x="1534088" y="0"/>
                  </a:lnTo>
                  <a:cubicBezTo>
                    <a:pt x="1552695" y="0"/>
                    <a:pt x="1570541" y="7392"/>
                    <a:pt x="1583698" y="20549"/>
                  </a:cubicBezTo>
                  <a:cubicBezTo>
                    <a:pt x="1596856" y="33707"/>
                    <a:pt x="1604248" y="51552"/>
                    <a:pt x="1604248" y="70160"/>
                  </a:cubicBezTo>
                  <a:lnTo>
                    <a:pt x="1604248" y="207840"/>
                  </a:lnTo>
                  <a:cubicBezTo>
                    <a:pt x="1604248" y="226448"/>
                    <a:pt x="1596856" y="244293"/>
                    <a:pt x="1583698" y="257451"/>
                  </a:cubicBezTo>
                  <a:cubicBezTo>
                    <a:pt x="1570541" y="270608"/>
                    <a:pt x="1552695" y="278000"/>
                    <a:pt x="1534088" y="278000"/>
                  </a:cubicBezTo>
                  <a:lnTo>
                    <a:pt x="70160" y="278000"/>
                  </a:lnTo>
                  <a:cubicBezTo>
                    <a:pt x="51552" y="278000"/>
                    <a:pt x="33707" y="270608"/>
                    <a:pt x="20549" y="257451"/>
                  </a:cubicBezTo>
                  <a:cubicBezTo>
                    <a:pt x="7392" y="244293"/>
                    <a:pt x="0" y="226448"/>
                    <a:pt x="0" y="207840"/>
                  </a:cubicBezTo>
                  <a:lnTo>
                    <a:pt x="0" y="70160"/>
                  </a:lnTo>
                  <a:cubicBezTo>
                    <a:pt x="0" y="51552"/>
                    <a:pt x="7392" y="33707"/>
                    <a:pt x="20549" y="20549"/>
                  </a:cubicBezTo>
                  <a:cubicBezTo>
                    <a:pt x="33707" y="7392"/>
                    <a:pt x="51552" y="0"/>
                    <a:pt x="70160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604248" cy="297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9"/>
                </a:lnSpc>
              </a:pPr>
              <a:r>
                <a:rPr lang="en-US" sz="2499" spc="-4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Câu hỏi định tính không cấu trúc</a:t>
              </a:r>
            </a:p>
          </p:txBody>
        </p:sp>
      </p:grpSp>
      <p:graphicFrame>
        <p:nvGraphicFramePr>
          <p:cNvPr name="Object 15" id="15"/>
          <p:cNvGraphicFramePr/>
          <p:nvPr/>
        </p:nvGraphicFramePr>
        <p:xfrm>
          <a:off x="12995212" y="3107756"/>
          <a:ext cx="1885950" cy="3268980"/>
        </p:xfrm>
        <a:graphic>
          <a:graphicData uri="http://schemas.openxmlformats.org/presentationml/2006/ole">
            <p:oleObj imgW="2540000" imgH="39243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6" id="16"/>
          <p:cNvSpPr txBox="true"/>
          <p:nvPr/>
        </p:nvSpPr>
        <p:spPr>
          <a:xfrm rot="0">
            <a:off x="17908584" y="96570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22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95212" y="2613726"/>
            <a:ext cx="2103358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b="true" sz="2499" spc="-4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Câ</a:t>
            </a:r>
            <a:r>
              <a:rPr lang="en-US" b="true" sz="2499" spc="-4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 hỏi cụ thể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8475" y="1609511"/>
            <a:ext cx="659377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  <a:spcBef>
                <a:spcPct val="0"/>
              </a:spcBef>
            </a:pPr>
            <a:r>
              <a:rPr lang="en-US" b="true" sz="3500" spc="-7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Câu hỏi phỏng vấn định lượng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5625" y="115570"/>
            <a:ext cx="13902711" cy="8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00"/>
              </a:lnSpc>
              <a:spcBef>
                <a:spcPct val="0"/>
              </a:spcBef>
            </a:pPr>
            <a:r>
              <a:rPr lang="en-US" b="true" sz="5000" spc="-10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VI. Nhóm quy trình hỗ trợ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5625" y="1038874"/>
            <a:ext cx="1217513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Hỗ</a:t>
            </a: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trợ khách hàng và tiếp nhận phản hồi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500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908584" y="96570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23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099106" y="2194019"/>
            <a:ext cx="6108968" cy="7812289"/>
            <a:chOff x="0" y="0"/>
            <a:chExt cx="1850282" cy="23661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50282" cy="2366183"/>
            </a:xfrm>
            <a:custGeom>
              <a:avLst/>
              <a:gdLst/>
              <a:ahLst/>
              <a:cxnLst/>
              <a:rect r="r" b="b" t="t" l="l"/>
              <a:pathLst>
                <a:path h="2366183" w="1850282">
                  <a:moveTo>
                    <a:pt x="60831" y="0"/>
                  </a:moveTo>
                  <a:lnTo>
                    <a:pt x="1789451" y="0"/>
                  </a:lnTo>
                  <a:cubicBezTo>
                    <a:pt x="1805584" y="0"/>
                    <a:pt x="1821057" y="6409"/>
                    <a:pt x="1832465" y="17817"/>
                  </a:cubicBezTo>
                  <a:cubicBezTo>
                    <a:pt x="1843873" y="29225"/>
                    <a:pt x="1850282" y="44697"/>
                    <a:pt x="1850282" y="60831"/>
                  </a:cubicBezTo>
                  <a:lnTo>
                    <a:pt x="1850282" y="2305352"/>
                  </a:lnTo>
                  <a:cubicBezTo>
                    <a:pt x="1850282" y="2321486"/>
                    <a:pt x="1843873" y="2336958"/>
                    <a:pt x="1832465" y="2348366"/>
                  </a:cubicBezTo>
                  <a:cubicBezTo>
                    <a:pt x="1821057" y="2359774"/>
                    <a:pt x="1805584" y="2366183"/>
                    <a:pt x="1789451" y="2366183"/>
                  </a:cubicBezTo>
                  <a:lnTo>
                    <a:pt x="60831" y="2366183"/>
                  </a:lnTo>
                  <a:cubicBezTo>
                    <a:pt x="44697" y="2366183"/>
                    <a:pt x="29225" y="2359774"/>
                    <a:pt x="17817" y="2348366"/>
                  </a:cubicBezTo>
                  <a:cubicBezTo>
                    <a:pt x="6409" y="2336958"/>
                    <a:pt x="0" y="2321486"/>
                    <a:pt x="0" y="2305352"/>
                  </a:cubicBezTo>
                  <a:lnTo>
                    <a:pt x="0" y="60831"/>
                  </a:lnTo>
                  <a:cubicBezTo>
                    <a:pt x="0" y="44697"/>
                    <a:pt x="6409" y="29225"/>
                    <a:pt x="17817" y="17817"/>
                  </a:cubicBezTo>
                  <a:cubicBezTo>
                    <a:pt x="29225" y="6409"/>
                    <a:pt x="44697" y="0"/>
                    <a:pt x="60831" y="0"/>
                  </a:cubicBezTo>
                  <a:close/>
                </a:path>
              </a:pathLst>
            </a:custGeom>
            <a:solidFill>
              <a:srgbClr val="FFD1D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850282" cy="2385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3912" y="2194019"/>
            <a:ext cx="5641185" cy="7812289"/>
            <a:chOff x="0" y="0"/>
            <a:chExt cx="1708600" cy="23661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08600" cy="2366183"/>
            </a:xfrm>
            <a:custGeom>
              <a:avLst/>
              <a:gdLst/>
              <a:ahLst/>
              <a:cxnLst/>
              <a:rect r="r" b="b" t="t" l="l"/>
              <a:pathLst>
                <a:path h="2366183" w="1708600">
                  <a:moveTo>
                    <a:pt x="65875" y="0"/>
                  </a:moveTo>
                  <a:lnTo>
                    <a:pt x="1642725" y="0"/>
                  </a:lnTo>
                  <a:cubicBezTo>
                    <a:pt x="1660196" y="0"/>
                    <a:pt x="1676952" y="6940"/>
                    <a:pt x="1689305" y="19294"/>
                  </a:cubicBezTo>
                  <a:cubicBezTo>
                    <a:pt x="1701660" y="31648"/>
                    <a:pt x="1708600" y="48404"/>
                    <a:pt x="1708600" y="65875"/>
                  </a:cubicBezTo>
                  <a:lnTo>
                    <a:pt x="1708600" y="2300308"/>
                  </a:lnTo>
                  <a:cubicBezTo>
                    <a:pt x="1708600" y="2317779"/>
                    <a:pt x="1701660" y="2334535"/>
                    <a:pt x="1689305" y="2346889"/>
                  </a:cubicBezTo>
                  <a:cubicBezTo>
                    <a:pt x="1676952" y="2359243"/>
                    <a:pt x="1660196" y="2366183"/>
                    <a:pt x="1642725" y="2366183"/>
                  </a:cubicBezTo>
                  <a:lnTo>
                    <a:pt x="65875" y="2366183"/>
                  </a:lnTo>
                  <a:cubicBezTo>
                    <a:pt x="48404" y="2366183"/>
                    <a:pt x="31648" y="2359243"/>
                    <a:pt x="19294" y="2346889"/>
                  </a:cubicBezTo>
                  <a:cubicBezTo>
                    <a:pt x="6940" y="2334535"/>
                    <a:pt x="0" y="2317779"/>
                    <a:pt x="0" y="2300308"/>
                  </a:cubicBezTo>
                  <a:lnTo>
                    <a:pt x="0" y="65875"/>
                  </a:lnTo>
                  <a:cubicBezTo>
                    <a:pt x="0" y="48404"/>
                    <a:pt x="6940" y="31648"/>
                    <a:pt x="19294" y="19294"/>
                  </a:cubicBezTo>
                  <a:cubicBezTo>
                    <a:pt x="31648" y="6940"/>
                    <a:pt x="48404" y="0"/>
                    <a:pt x="65875" y="0"/>
                  </a:cubicBezTo>
                  <a:close/>
                </a:path>
              </a:pathLst>
            </a:custGeom>
            <a:solidFill>
              <a:srgbClr val="FFD1D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708600" cy="2385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25625" y="3145393"/>
            <a:ext cx="5317418" cy="1484829"/>
            <a:chOff x="0" y="0"/>
            <a:chExt cx="1610537" cy="4497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10537" cy="449724"/>
            </a:xfrm>
            <a:custGeom>
              <a:avLst/>
              <a:gdLst/>
              <a:ahLst/>
              <a:cxnLst/>
              <a:rect r="r" b="b" t="t" l="l"/>
              <a:pathLst>
                <a:path h="449724" w="1610537">
                  <a:moveTo>
                    <a:pt x="69886" y="0"/>
                  </a:moveTo>
                  <a:lnTo>
                    <a:pt x="1540652" y="0"/>
                  </a:lnTo>
                  <a:cubicBezTo>
                    <a:pt x="1579248" y="0"/>
                    <a:pt x="1610537" y="31289"/>
                    <a:pt x="1610537" y="69886"/>
                  </a:cubicBezTo>
                  <a:lnTo>
                    <a:pt x="1610537" y="379839"/>
                  </a:lnTo>
                  <a:cubicBezTo>
                    <a:pt x="1610537" y="398373"/>
                    <a:pt x="1603174" y="416149"/>
                    <a:pt x="1590068" y="429255"/>
                  </a:cubicBezTo>
                  <a:cubicBezTo>
                    <a:pt x="1576962" y="442361"/>
                    <a:pt x="1559186" y="449724"/>
                    <a:pt x="1540652" y="449724"/>
                  </a:cubicBezTo>
                  <a:lnTo>
                    <a:pt x="69886" y="449724"/>
                  </a:lnTo>
                  <a:cubicBezTo>
                    <a:pt x="51351" y="449724"/>
                    <a:pt x="33575" y="442361"/>
                    <a:pt x="20469" y="429255"/>
                  </a:cubicBezTo>
                  <a:cubicBezTo>
                    <a:pt x="7363" y="416149"/>
                    <a:pt x="0" y="398373"/>
                    <a:pt x="0" y="379839"/>
                  </a:cubicBezTo>
                  <a:lnTo>
                    <a:pt x="0" y="69886"/>
                  </a:lnTo>
                  <a:cubicBezTo>
                    <a:pt x="0" y="51351"/>
                    <a:pt x="7363" y="33575"/>
                    <a:pt x="20469" y="20469"/>
                  </a:cubicBezTo>
                  <a:cubicBezTo>
                    <a:pt x="33575" y="7363"/>
                    <a:pt x="51351" y="0"/>
                    <a:pt x="69886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610537" cy="468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500760" y="2194019"/>
            <a:ext cx="5641185" cy="7812289"/>
            <a:chOff x="0" y="0"/>
            <a:chExt cx="1708600" cy="23661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08600" cy="2366183"/>
            </a:xfrm>
            <a:custGeom>
              <a:avLst/>
              <a:gdLst/>
              <a:ahLst/>
              <a:cxnLst/>
              <a:rect r="r" b="b" t="t" l="l"/>
              <a:pathLst>
                <a:path h="2366183" w="1708600">
                  <a:moveTo>
                    <a:pt x="65875" y="0"/>
                  </a:moveTo>
                  <a:lnTo>
                    <a:pt x="1642725" y="0"/>
                  </a:lnTo>
                  <a:cubicBezTo>
                    <a:pt x="1660196" y="0"/>
                    <a:pt x="1676952" y="6940"/>
                    <a:pt x="1689305" y="19294"/>
                  </a:cubicBezTo>
                  <a:cubicBezTo>
                    <a:pt x="1701660" y="31648"/>
                    <a:pt x="1708600" y="48404"/>
                    <a:pt x="1708600" y="65875"/>
                  </a:cubicBezTo>
                  <a:lnTo>
                    <a:pt x="1708600" y="2300308"/>
                  </a:lnTo>
                  <a:cubicBezTo>
                    <a:pt x="1708600" y="2317779"/>
                    <a:pt x="1701660" y="2334535"/>
                    <a:pt x="1689305" y="2346889"/>
                  </a:cubicBezTo>
                  <a:cubicBezTo>
                    <a:pt x="1676952" y="2359243"/>
                    <a:pt x="1660196" y="2366183"/>
                    <a:pt x="1642725" y="2366183"/>
                  </a:cubicBezTo>
                  <a:lnTo>
                    <a:pt x="65875" y="2366183"/>
                  </a:lnTo>
                  <a:cubicBezTo>
                    <a:pt x="48404" y="2366183"/>
                    <a:pt x="31648" y="2359243"/>
                    <a:pt x="19294" y="2346889"/>
                  </a:cubicBezTo>
                  <a:cubicBezTo>
                    <a:pt x="6940" y="2334535"/>
                    <a:pt x="0" y="2317779"/>
                    <a:pt x="0" y="2300308"/>
                  </a:cubicBezTo>
                  <a:lnTo>
                    <a:pt x="0" y="65875"/>
                  </a:lnTo>
                  <a:cubicBezTo>
                    <a:pt x="0" y="48404"/>
                    <a:pt x="6940" y="31648"/>
                    <a:pt x="19294" y="19294"/>
                  </a:cubicBezTo>
                  <a:cubicBezTo>
                    <a:pt x="31648" y="6940"/>
                    <a:pt x="48404" y="0"/>
                    <a:pt x="65875" y="0"/>
                  </a:cubicBezTo>
                  <a:close/>
                </a:path>
              </a:pathLst>
            </a:custGeom>
            <a:solidFill>
              <a:srgbClr val="FFD1D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708600" cy="2385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241137" y="3135868"/>
            <a:ext cx="5805726" cy="1484829"/>
            <a:chOff x="0" y="0"/>
            <a:chExt cx="1758436" cy="44972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58436" cy="449724"/>
            </a:xfrm>
            <a:custGeom>
              <a:avLst/>
              <a:gdLst/>
              <a:ahLst/>
              <a:cxnLst/>
              <a:rect r="r" b="b" t="t" l="l"/>
              <a:pathLst>
                <a:path h="449724" w="1758436">
                  <a:moveTo>
                    <a:pt x="64008" y="0"/>
                  </a:moveTo>
                  <a:lnTo>
                    <a:pt x="1694428" y="0"/>
                  </a:lnTo>
                  <a:cubicBezTo>
                    <a:pt x="1711404" y="0"/>
                    <a:pt x="1727685" y="6744"/>
                    <a:pt x="1739688" y="18747"/>
                  </a:cubicBezTo>
                  <a:cubicBezTo>
                    <a:pt x="1751692" y="30751"/>
                    <a:pt x="1758436" y="47032"/>
                    <a:pt x="1758436" y="64008"/>
                  </a:cubicBezTo>
                  <a:lnTo>
                    <a:pt x="1758436" y="385717"/>
                  </a:lnTo>
                  <a:cubicBezTo>
                    <a:pt x="1758436" y="402692"/>
                    <a:pt x="1751692" y="418973"/>
                    <a:pt x="1739688" y="430977"/>
                  </a:cubicBezTo>
                  <a:cubicBezTo>
                    <a:pt x="1727685" y="442981"/>
                    <a:pt x="1711404" y="449724"/>
                    <a:pt x="1694428" y="449724"/>
                  </a:cubicBezTo>
                  <a:lnTo>
                    <a:pt x="64008" y="449724"/>
                  </a:lnTo>
                  <a:cubicBezTo>
                    <a:pt x="47032" y="449724"/>
                    <a:pt x="30751" y="442981"/>
                    <a:pt x="18747" y="430977"/>
                  </a:cubicBezTo>
                  <a:cubicBezTo>
                    <a:pt x="6744" y="418973"/>
                    <a:pt x="0" y="402692"/>
                    <a:pt x="0" y="385717"/>
                  </a:cubicBezTo>
                  <a:lnTo>
                    <a:pt x="0" y="64008"/>
                  </a:lnTo>
                  <a:cubicBezTo>
                    <a:pt x="0" y="47032"/>
                    <a:pt x="6744" y="30751"/>
                    <a:pt x="18747" y="18747"/>
                  </a:cubicBezTo>
                  <a:cubicBezTo>
                    <a:pt x="30751" y="6744"/>
                    <a:pt x="47032" y="0"/>
                    <a:pt x="64008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758436" cy="468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655749" y="3126343"/>
            <a:ext cx="5317418" cy="1484829"/>
            <a:chOff x="0" y="0"/>
            <a:chExt cx="1610537" cy="4497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10537" cy="449724"/>
            </a:xfrm>
            <a:custGeom>
              <a:avLst/>
              <a:gdLst/>
              <a:ahLst/>
              <a:cxnLst/>
              <a:rect r="r" b="b" t="t" l="l"/>
              <a:pathLst>
                <a:path h="449724" w="1610537">
                  <a:moveTo>
                    <a:pt x="69886" y="0"/>
                  </a:moveTo>
                  <a:lnTo>
                    <a:pt x="1540652" y="0"/>
                  </a:lnTo>
                  <a:cubicBezTo>
                    <a:pt x="1579248" y="0"/>
                    <a:pt x="1610537" y="31289"/>
                    <a:pt x="1610537" y="69886"/>
                  </a:cubicBezTo>
                  <a:lnTo>
                    <a:pt x="1610537" y="379839"/>
                  </a:lnTo>
                  <a:cubicBezTo>
                    <a:pt x="1610537" y="398373"/>
                    <a:pt x="1603174" y="416149"/>
                    <a:pt x="1590068" y="429255"/>
                  </a:cubicBezTo>
                  <a:cubicBezTo>
                    <a:pt x="1576962" y="442361"/>
                    <a:pt x="1559186" y="449724"/>
                    <a:pt x="1540652" y="449724"/>
                  </a:cubicBezTo>
                  <a:lnTo>
                    <a:pt x="69886" y="449724"/>
                  </a:lnTo>
                  <a:cubicBezTo>
                    <a:pt x="51351" y="449724"/>
                    <a:pt x="33575" y="442361"/>
                    <a:pt x="20469" y="429255"/>
                  </a:cubicBezTo>
                  <a:cubicBezTo>
                    <a:pt x="7363" y="416149"/>
                    <a:pt x="0" y="398373"/>
                    <a:pt x="0" y="379839"/>
                  </a:cubicBezTo>
                  <a:lnTo>
                    <a:pt x="0" y="69886"/>
                  </a:lnTo>
                  <a:cubicBezTo>
                    <a:pt x="0" y="51351"/>
                    <a:pt x="7363" y="33575"/>
                    <a:pt x="20469" y="20469"/>
                  </a:cubicBezTo>
                  <a:cubicBezTo>
                    <a:pt x="33575" y="7363"/>
                    <a:pt x="51351" y="0"/>
                    <a:pt x="69886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610537" cy="468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12713" y="4906447"/>
            <a:ext cx="4472353" cy="455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 spc="-49" b="true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Các hoạt đ</a:t>
            </a:r>
            <a:r>
              <a:rPr lang="en-US" b="true" sz="2499" spc="-49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ộng trực tiếp tạo giá trị cho khách hàng: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Tìm kiếm và lựa chọn chuyến bay.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Chọn hành trình, hạng vé và dịch vụ bổ sung.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Nhập thông tin hành khách.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Xác nhận và thanh toán.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Hãng bay/NCC xác nhận booking và xuất vé.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Khách hàng nhận vé điện tử.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4467744" y="7631742"/>
            <a:ext cx="1945448" cy="2593931"/>
          </a:xfrm>
          <a:custGeom>
            <a:avLst/>
            <a:gdLst/>
            <a:ahLst/>
            <a:cxnLst/>
            <a:rect r="r" b="b" t="t" l="l"/>
            <a:pathLst>
              <a:path h="2593931" w="1945448">
                <a:moveTo>
                  <a:pt x="0" y="0"/>
                </a:moveTo>
                <a:lnTo>
                  <a:pt x="1945448" y="0"/>
                </a:lnTo>
                <a:lnTo>
                  <a:pt x="1945448" y="2593931"/>
                </a:lnTo>
                <a:lnTo>
                  <a:pt x="0" y="259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413192" y="4906447"/>
            <a:ext cx="5633671" cy="285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Kiểm tra thô</a:t>
            </a:r>
            <a:r>
              <a:rPr lang="en-US" sz="2499" spc="-49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ng tin tìm kiếm.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Tạo booking/tạm giữ chỗ.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Kiểm tra thời gian giữ vé.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Xử lý trạng thái thanh toán.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Đối soát booking với Hãng bay/NCC.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Cập nhật trạng thái giao dịch.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Lưu dữ liệu vé vào hệ thống.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8356123" y="7570414"/>
            <a:ext cx="1747810" cy="2655258"/>
          </a:xfrm>
          <a:custGeom>
            <a:avLst/>
            <a:gdLst/>
            <a:ahLst/>
            <a:cxnLst/>
            <a:rect r="r" b="b" t="t" l="l"/>
            <a:pathLst>
              <a:path h="2655258" w="1747810">
                <a:moveTo>
                  <a:pt x="0" y="0"/>
                </a:moveTo>
                <a:lnTo>
                  <a:pt x="1747809" y="0"/>
                </a:lnTo>
                <a:lnTo>
                  <a:pt x="1747809" y="2655259"/>
                </a:lnTo>
                <a:lnTo>
                  <a:pt x="0" y="26552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25625" y="115570"/>
            <a:ext cx="13902711" cy="8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00"/>
              </a:lnSpc>
              <a:spcBef>
                <a:spcPct val="0"/>
              </a:spcBef>
            </a:pPr>
            <a:r>
              <a:rPr lang="en-US" b="true" sz="5000" spc="-1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Phân tích định tính, định lượng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25625" y="1038874"/>
            <a:ext cx="1217513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Tìm</a:t>
            </a:r>
            <a:r>
              <a:rPr lang="en-US" b="true" sz="24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kiếm, lựa chọn hành trình, thanh toán và xác nhận đặt vé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63943" y="2426110"/>
            <a:ext cx="4221123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b="true" sz="2499" spc="-49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Hoạt động VA (Value Adding)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241137" y="2426110"/>
            <a:ext cx="5805726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b="true" sz="2499" spc="-49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Hoạt động VBA(Business Value Adding)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57460" y="2426110"/>
            <a:ext cx="5127784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b="true" sz="2499" spc="-49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Hoạt động NVA (Non Value Adding)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12713" y="3260745"/>
            <a:ext cx="4837451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  <a:spcBef>
                <a:spcPct val="0"/>
              </a:spcBef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Trực tiếp giúp khách hàng lựa chọn, mua và nhận được vé máy bay theo nhu cầu.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554589" y="3251220"/>
            <a:ext cx="5281683" cy="80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  <a:spcBef>
                <a:spcPct val="0"/>
              </a:spcBef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Không t</a:t>
            </a: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rực tiếp tạo giá trị nhìn thấy nhưng cần thiết để giao dịch an toàn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1246160" y="7328972"/>
            <a:ext cx="2169893" cy="2977384"/>
          </a:xfrm>
          <a:custGeom>
            <a:avLst/>
            <a:gdLst/>
            <a:ahLst/>
            <a:cxnLst/>
            <a:rect r="r" b="b" t="t" l="l"/>
            <a:pathLst>
              <a:path h="2977384" w="2169893">
                <a:moveTo>
                  <a:pt x="0" y="0"/>
                </a:moveTo>
                <a:lnTo>
                  <a:pt x="2169893" y="0"/>
                </a:lnTo>
                <a:lnTo>
                  <a:pt x="2169893" y="2977384"/>
                </a:lnTo>
                <a:lnTo>
                  <a:pt x="0" y="29773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2942837" y="3241695"/>
            <a:ext cx="4837451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Lãng phí</a:t>
            </a: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thời gian , không tạo ra giá trị, phát sinh do ngoại lệ/sai lệch</a:t>
            </a:r>
          </a:p>
          <a:p>
            <a:pPr algn="l">
              <a:lnSpc>
                <a:spcPts val="3249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3078281" y="4868347"/>
            <a:ext cx="4975559" cy="490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 spc="-49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Các hoạt độ</a:t>
            </a:r>
            <a:r>
              <a:rPr lang="en-US" sz="2499" spc="-49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ng phát sinh do ngoại lệ/sai lệch: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Booking hết thời gian giữ → khách phải tìm lại.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Giao dịch Payment Pending.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CSKH phải kiểm tra trạng thái vé thủ công.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Xuất vé thủ công/ Rollback/hoàn tiền.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A500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Kiểm tra lại nhiều lần do trạng thái MoMo và Hãng bay/NCC không đồng bộ.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368590" y="1489724"/>
            <a:ext cx="572287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Phân tích giá trị gia tăng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99106" y="2194019"/>
            <a:ext cx="6108968" cy="7812289"/>
            <a:chOff x="0" y="0"/>
            <a:chExt cx="1850282" cy="2366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0282" cy="2366183"/>
            </a:xfrm>
            <a:custGeom>
              <a:avLst/>
              <a:gdLst/>
              <a:ahLst/>
              <a:cxnLst/>
              <a:rect r="r" b="b" t="t" l="l"/>
              <a:pathLst>
                <a:path h="2366183" w="1850282">
                  <a:moveTo>
                    <a:pt x="60831" y="0"/>
                  </a:moveTo>
                  <a:lnTo>
                    <a:pt x="1789451" y="0"/>
                  </a:lnTo>
                  <a:cubicBezTo>
                    <a:pt x="1805584" y="0"/>
                    <a:pt x="1821057" y="6409"/>
                    <a:pt x="1832465" y="17817"/>
                  </a:cubicBezTo>
                  <a:cubicBezTo>
                    <a:pt x="1843873" y="29225"/>
                    <a:pt x="1850282" y="44697"/>
                    <a:pt x="1850282" y="60831"/>
                  </a:cubicBezTo>
                  <a:lnTo>
                    <a:pt x="1850282" y="2305352"/>
                  </a:lnTo>
                  <a:cubicBezTo>
                    <a:pt x="1850282" y="2321486"/>
                    <a:pt x="1843873" y="2336958"/>
                    <a:pt x="1832465" y="2348366"/>
                  </a:cubicBezTo>
                  <a:cubicBezTo>
                    <a:pt x="1821057" y="2359774"/>
                    <a:pt x="1805584" y="2366183"/>
                    <a:pt x="1789451" y="2366183"/>
                  </a:cubicBezTo>
                  <a:lnTo>
                    <a:pt x="60831" y="2366183"/>
                  </a:lnTo>
                  <a:cubicBezTo>
                    <a:pt x="44697" y="2366183"/>
                    <a:pt x="29225" y="2359774"/>
                    <a:pt x="17817" y="2348366"/>
                  </a:cubicBezTo>
                  <a:cubicBezTo>
                    <a:pt x="6409" y="2336958"/>
                    <a:pt x="0" y="2321486"/>
                    <a:pt x="0" y="2305352"/>
                  </a:cubicBezTo>
                  <a:lnTo>
                    <a:pt x="0" y="60831"/>
                  </a:lnTo>
                  <a:cubicBezTo>
                    <a:pt x="0" y="44697"/>
                    <a:pt x="6409" y="29225"/>
                    <a:pt x="17817" y="17817"/>
                  </a:cubicBezTo>
                  <a:cubicBezTo>
                    <a:pt x="29225" y="6409"/>
                    <a:pt x="44697" y="0"/>
                    <a:pt x="60831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50282" cy="2385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3912" y="2194019"/>
            <a:ext cx="5641185" cy="7812289"/>
            <a:chOff x="0" y="0"/>
            <a:chExt cx="1708600" cy="23661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08600" cy="2366183"/>
            </a:xfrm>
            <a:custGeom>
              <a:avLst/>
              <a:gdLst/>
              <a:ahLst/>
              <a:cxnLst/>
              <a:rect r="r" b="b" t="t" l="l"/>
              <a:pathLst>
                <a:path h="2366183" w="1708600">
                  <a:moveTo>
                    <a:pt x="65875" y="0"/>
                  </a:moveTo>
                  <a:lnTo>
                    <a:pt x="1642725" y="0"/>
                  </a:lnTo>
                  <a:cubicBezTo>
                    <a:pt x="1660196" y="0"/>
                    <a:pt x="1676952" y="6940"/>
                    <a:pt x="1689305" y="19294"/>
                  </a:cubicBezTo>
                  <a:cubicBezTo>
                    <a:pt x="1701660" y="31648"/>
                    <a:pt x="1708600" y="48404"/>
                    <a:pt x="1708600" y="65875"/>
                  </a:cubicBezTo>
                  <a:lnTo>
                    <a:pt x="1708600" y="2300308"/>
                  </a:lnTo>
                  <a:cubicBezTo>
                    <a:pt x="1708600" y="2317779"/>
                    <a:pt x="1701660" y="2334535"/>
                    <a:pt x="1689305" y="2346889"/>
                  </a:cubicBezTo>
                  <a:cubicBezTo>
                    <a:pt x="1676952" y="2359243"/>
                    <a:pt x="1660196" y="2366183"/>
                    <a:pt x="1642725" y="2366183"/>
                  </a:cubicBezTo>
                  <a:lnTo>
                    <a:pt x="65875" y="2366183"/>
                  </a:lnTo>
                  <a:cubicBezTo>
                    <a:pt x="48404" y="2366183"/>
                    <a:pt x="31648" y="2359243"/>
                    <a:pt x="19294" y="2346889"/>
                  </a:cubicBezTo>
                  <a:cubicBezTo>
                    <a:pt x="6940" y="2334535"/>
                    <a:pt x="0" y="2317779"/>
                    <a:pt x="0" y="2300308"/>
                  </a:cubicBezTo>
                  <a:lnTo>
                    <a:pt x="0" y="65875"/>
                  </a:lnTo>
                  <a:cubicBezTo>
                    <a:pt x="0" y="48404"/>
                    <a:pt x="6940" y="31648"/>
                    <a:pt x="19294" y="19294"/>
                  </a:cubicBezTo>
                  <a:cubicBezTo>
                    <a:pt x="31648" y="6940"/>
                    <a:pt x="48404" y="0"/>
                    <a:pt x="65875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708600" cy="2385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500760" y="2194019"/>
            <a:ext cx="5641185" cy="7812289"/>
            <a:chOff x="0" y="0"/>
            <a:chExt cx="1708600" cy="23661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8600" cy="2366183"/>
            </a:xfrm>
            <a:custGeom>
              <a:avLst/>
              <a:gdLst/>
              <a:ahLst/>
              <a:cxnLst/>
              <a:rect r="r" b="b" t="t" l="l"/>
              <a:pathLst>
                <a:path h="2366183" w="1708600">
                  <a:moveTo>
                    <a:pt x="65875" y="0"/>
                  </a:moveTo>
                  <a:lnTo>
                    <a:pt x="1642725" y="0"/>
                  </a:lnTo>
                  <a:cubicBezTo>
                    <a:pt x="1660196" y="0"/>
                    <a:pt x="1676952" y="6940"/>
                    <a:pt x="1689305" y="19294"/>
                  </a:cubicBezTo>
                  <a:cubicBezTo>
                    <a:pt x="1701660" y="31648"/>
                    <a:pt x="1708600" y="48404"/>
                    <a:pt x="1708600" y="65875"/>
                  </a:cubicBezTo>
                  <a:lnTo>
                    <a:pt x="1708600" y="2300308"/>
                  </a:lnTo>
                  <a:cubicBezTo>
                    <a:pt x="1708600" y="2317779"/>
                    <a:pt x="1701660" y="2334535"/>
                    <a:pt x="1689305" y="2346889"/>
                  </a:cubicBezTo>
                  <a:cubicBezTo>
                    <a:pt x="1676952" y="2359243"/>
                    <a:pt x="1660196" y="2366183"/>
                    <a:pt x="1642725" y="2366183"/>
                  </a:cubicBezTo>
                  <a:lnTo>
                    <a:pt x="65875" y="2366183"/>
                  </a:lnTo>
                  <a:cubicBezTo>
                    <a:pt x="48404" y="2366183"/>
                    <a:pt x="31648" y="2359243"/>
                    <a:pt x="19294" y="2346889"/>
                  </a:cubicBezTo>
                  <a:cubicBezTo>
                    <a:pt x="6940" y="2334535"/>
                    <a:pt x="0" y="2317779"/>
                    <a:pt x="0" y="2300308"/>
                  </a:cubicBezTo>
                  <a:lnTo>
                    <a:pt x="0" y="65875"/>
                  </a:lnTo>
                  <a:cubicBezTo>
                    <a:pt x="0" y="48404"/>
                    <a:pt x="6940" y="31648"/>
                    <a:pt x="19294" y="19294"/>
                  </a:cubicBezTo>
                  <a:cubicBezTo>
                    <a:pt x="31648" y="6940"/>
                    <a:pt x="48404" y="0"/>
                    <a:pt x="65875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708600" cy="2385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851432" y="98810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24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5625" y="2920140"/>
            <a:ext cx="5478207" cy="6627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spc="-48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Biểu hiện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Chờ kết quả thanh toán.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Giao dịch Pending.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Chờ Hã</a:t>
            </a: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ng bay/NCC kiểm tra booking.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Chờ Hãng/NCC xuất vé.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Chờ CSKH xử lý ngoại lệ.</a:t>
            </a:r>
          </a:p>
          <a:p>
            <a:pPr algn="l">
              <a:lnSpc>
                <a:spcPts val="3120"/>
              </a:lnSpc>
            </a:pPr>
            <a:r>
              <a:rPr lang="en-US" b="true" sz="2400" spc="-48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Tác động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Tăng Cycle Time.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Khách bị trừ tiền nhưng chưa nhận vé.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Khách lo lắng và liên hệ CSKH.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Tăng nguy cơ khách thao tác mua lại.</a:t>
            </a:r>
          </a:p>
          <a:p>
            <a:pPr algn="l">
              <a:lnSpc>
                <a:spcPts val="3120"/>
              </a:lnSpc>
            </a:pPr>
            <a:r>
              <a:rPr lang="en-US" b="true" sz="2400" spc="-48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Giải pháp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Payment Status Reconciliation.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Auto Ticket khi phát hiện Pending.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SLA với Hãng/NCC.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Alert khi thời gian xuất vé vượt ngưỡng.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27165" y="2910615"/>
            <a:ext cx="5633671" cy="7018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spc="-48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Biểu hiện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Trạng thái MoMo và Hãng bay không đồng bộ.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Duplicate Booking.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Xuất vé thất bại.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Phải rollback/hoàn tiền.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Phải xuất vé thủ công.</a:t>
            </a:r>
          </a:p>
          <a:p>
            <a:pPr algn="l">
              <a:lnSpc>
                <a:spcPts val="3120"/>
              </a:lnSpc>
            </a:pPr>
            <a:r>
              <a:rPr lang="en-US" sz="2400" spc="-48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Tác động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Phát sinh xử lý lại.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Tăng chi phí CSKH.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Nguy cơ khách mua trùng vé.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Ảnh hưởng trải nghiệm khách hàng.</a:t>
            </a:r>
          </a:p>
          <a:p>
            <a:pPr algn="l">
              <a:lnSpc>
                <a:spcPts val="3120"/>
              </a:lnSpc>
            </a:pPr>
            <a:r>
              <a:rPr lang="en-US" sz="2400" spc="-48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Giải pháp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Idempotency Key.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Transaction Lock.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Đối soát trạng thái tự động.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Retry có kiểm soát.</a:t>
            </a:r>
          </a:p>
          <a:p>
            <a:pPr algn="l">
              <a:lnSpc>
                <a:spcPts val="312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325625" y="115570"/>
            <a:ext cx="11125172" cy="8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  <a:spcBef>
                <a:spcPct val="0"/>
              </a:spcBef>
            </a:pPr>
            <a:r>
              <a:rPr lang="en-US" b="true" sz="5000" spc="-10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VII. </a:t>
            </a:r>
            <a:r>
              <a:rPr lang="en-US" b="true" sz="5000" spc="-10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Phân tích định tính và định lượng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5625" y="1038874"/>
            <a:ext cx="1217513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Tìm</a:t>
            </a: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kiếm, lựa chọn hành trình, thanh toán và xác nhận đặt vé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99683" y="2426110"/>
            <a:ext cx="949643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b="true" sz="2499" spc="-4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HOLD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15548" y="2426110"/>
            <a:ext cx="2856905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b="true" sz="2499" spc="-4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DEFECT / REWORK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43495" y="2426110"/>
            <a:ext cx="4755713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b="true" sz="2499" spc="-4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HANDOFF / OVER-PROCESSING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41474" y="2920140"/>
            <a:ext cx="4975559" cy="584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spc="-48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Biểu</a:t>
            </a:r>
            <a:r>
              <a:rPr lang="en-US" b="true" sz="2400" spc="-48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hiện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</a:t>
            </a: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iao dịch phải chuyển qua nhiều bên: App → M_Service → CSKH → Hãng/NCC.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CSKH phải đối soát nhiều nguồn: t</a:t>
            </a: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hanh toán, b</a:t>
            </a: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ooking, vé và trạng thái giao dịch.</a:t>
            </a:r>
          </a:p>
          <a:p>
            <a:pPr algn="l">
              <a:lnSpc>
                <a:spcPts val="3120"/>
              </a:lnSpc>
            </a:pPr>
            <a:r>
              <a:rPr lang="en-US" b="true" sz="2400" spc="-48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Tác động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Nhiều điểm chuyển giao.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Tăng thời gian xử lý.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Dễ mất ngữ cảnh giao dịch.</a:t>
            </a:r>
          </a:p>
          <a:p>
            <a:pPr algn="l">
              <a:lnSpc>
                <a:spcPts val="3120"/>
              </a:lnSpc>
            </a:pPr>
            <a:r>
              <a:rPr lang="en-US" b="true" sz="2400" spc="-48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Giải pháp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Centralized Logging &amp; Tracing.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Một mã Transaction ID xuyên suốt.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Customer/Booking 360 View.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744319" y="1476469"/>
            <a:ext cx="681854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Phân tích lãng phí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3020888" y="-430719"/>
            <a:ext cx="4238412" cy="3284184"/>
          </a:xfrm>
          <a:custGeom>
            <a:avLst/>
            <a:gdLst/>
            <a:ahLst/>
            <a:cxnLst/>
            <a:rect r="r" b="b" t="t" l="l"/>
            <a:pathLst>
              <a:path h="3284184" w="4238412">
                <a:moveTo>
                  <a:pt x="0" y="0"/>
                </a:moveTo>
                <a:lnTo>
                  <a:pt x="4238412" y="0"/>
                </a:lnTo>
                <a:lnTo>
                  <a:pt x="4238412" y="3284184"/>
                </a:lnTo>
                <a:lnTo>
                  <a:pt x="0" y="3284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6205" y="2498148"/>
            <a:ext cx="11013734" cy="2815309"/>
          </a:xfrm>
          <a:custGeom>
            <a:avLst/>
            <a:gdLst/>
            <a:ahLst/>
            <a:cxnLst/>
            <a:rect r="r" b="b" t="t" l="l"/>
            <a:pathLst>
              <a:path h="2815309" w="11013734">
                <a:moveTo>
                  <a:pt x="0" y="0"/>
                </a:moveTo>
                <a:lnTo>
                  <a:pt x="11013734" y="0"/>
                </a:lnTo>
                <a:lnTo>
                  <a:pt x="11013734" y="2815308"/>
                </a:lnTo>
                <a:lnTo>
                  <a:pt x="0" y="2815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18115" y="2474711"/>
            <a:ext cx="6228876" cy="7531597"/>
            <a:chOff x="0" y="0"/>
            <a:chExt cx="1886599" cy="22811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86599" cy="2281167"/>
            </a:xfrm>
            <a:custGeom>
              <a:avLst/>
              <a:gdLst/>
              <a:ahLst/>
              <a:cxnLst/>
              <a:rect r="r" b="b" t="t" l="l"/>
              <a:pathLst>
                <a:path h="2281167" w="1886599">
                  <a:moveTo>
                    <a:pt x="59660" y="0"/>
                  </a:moveTo>
                  <a:lnTo>
                    <a:pt x="1826940" y="0"/>
                  </a:lnTo>
                  <a:cubicBezTo>
                    <a:pt x="1842763" y="0"/>
                    <a:pt x="1857937" y="6286"/>
                    <a:pt x="1869125" y="17474"/>
                  </a:cubicBezTo>
                  <a:cubicBezTo>
                    <a:pt x="1880314" y="28662"/>
                    <a:pt x="1886599" y="43837"/>
                    <a:pt x="1886599" y="59660"/>
                  </a:cubicBezTo>
                  <a:lnTo>
                    <a:pt x="1886599" y="2221507"/>
                  </a:lnTo>
                  <a:cubicBezTo>
                    <a:pt x="1886599" y="2237330"/>
                    <a:pt x="1880314" y="2252505"/>
                    <a:pt x="1869125" y="2263693"/>
                  </a:cubicBezTo>
                  <a:cubicBezTo>
                    <a:pt x="1857937" y="2274881"/>
                    <a:pt x="1842763" y="2281167"/>
                    <a:pt x="1826940" y="2281167"/>
                  </a:cubicBezTo>
                  <a:lnTo>
                    <a:pt x="59660" y="2281167"/>
                  </a:lnTo>
                  <a:cubicBezTo>
                    <a:pt x="43837" y="2281167"/>
                    <a:pt x="28662" y="2274881"/>
                    <a:pt x="17474" y="2263693"/>
                  </a:cubicBezTo>
                  <a:cubicBezTo>
                    <a:pt x="6286" y="2252505"/>
                    <a:pt x="0" y="2237330"/>
                    <a:pt x="0" y="2221507"/>
                  </a:cubicBezTo>
                  <a:lnTo>
                    <a:pt x="0" y="59660"/>
                  </a:lnTo>
                  <a:cubicBezTo>
                    <a:pt x="0" y="43837"/>
                    <a:pt x="6286" y="28662"/>
                    <a:pt x="17474" y="17474"/>
                  </a:cubicBezTo>
                  <a:cubicBezTo>
                    <a:pt x="28662" y="6286"/>
                    <a:pt x="43837" y="0"/>
                    <a:pt x="59660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886599" cy="230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66205" y="5468351"/>
            <a:ext cx="11013734" cy="4548535"/>
            <a:chOff x="0" y="0"/>
            <a:chExt cx="3335835" cy="13776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35836" cy="1377658"/>
            </a:xfrm>
            <a:custGeom>
              <a:avLst/>
              <a:gdLst/>
              <a:ahLst/>
              <a:cxnLst/>
              <a:rect r="r" b="b" t="t" l="l"/>
              <a:pathLst>
                <a:path h="1377658" w="3335836">
                  <a:moveTo>
                    <a:pt x="33741" y="0"/>
                  </a:moveTo>
                  <a:lnTo>
                    <a:pt x="3302095" y="0"/>
                  </a:lnTo>
                  <a:cubicBezTo>
                    <a:pt x="3311043" y="0"/>
                    <a:pt x="3319625" y="3555"/>
                    <a:pt x="3325953" y="9882"/>
                  </a:cubicBezTo>
                  <a:cubicBezTo>
                    <a:pt x="3332281" y="16210"/>
                    <a:pt x="3335836" y="24792"/>
                    <a:pt x="3335836" y="33741"/>
                  </a:cubicBezTo>
                  <a:lnTo>
                    <a:pt x="3335836" y="1343918"/>
                  </a:lnTo>
                  <a:cubicBezTo>
                    <a:pt x="3335836" y="1362552"/>
                    <a:pt x="3320729" y="1377658"/>
                    <a:pt x="3302095" y="1377658"/>
                  </a:cubicBezTo>
                  <a:lnTo>
                    <a:pt x="33741" y="1377658"/>
                  </a:lnTo>
                  <a:cubicBezTo>
                    <a:pt x="24792" y="1377658"/>
                    <a:pt x="16210" y="1374104"/>
                    <a:pt x="9882" y="1367776"/>
                  </a:cubicBezTo>
                  <a:cubicBezTo>
                    <a:pt x="3555" y="1361448"/>
                    <a:pt x="0" y="1352866"/>
                    <a:pt x="0" y="1343918"/>
                  </a:cubicBezTo>
                  <a:lnTo>
                    <a:pt x="0" y="33741"/>
                  </a:lnTo>
                  <a:cubicBezTo>
                    <a:pt x="0" y="15106"/>
                    <a:pt x="15106" y="0"/>
                    <a:pt x="33741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3335835" cy="1396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aphicFrame>
        <p:nvGraphicFramePr>
          <p:cNvPr name="Object 9" id="9"/>
          <p:cNvGraphicFramePr/>
          <p:nvPr/>
        </p:nvGraphicFramePr>
        <p:xfrm>
          <a:off x="826347" y="5577082"/>
          <a:ext cx="6929438" cy="3966210"/>
        </p:xfrm>
        <a:graphic>
          <a:graphicData uri="http://schemas.openxmlformats.org/presentationml/2006/ole">
            <p:oleObj imgW="8305800" imgH="53467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0" id="10"/>
          <p:cNvGraphicFramePr/>
          <p:nvPr/>
        </p:nvGraphicFramePr>
        <p:xfrm>
          <a:off x="11916911" y="6412493"/>
          <a:ext cx="5043488" cy="3143250"/>
        </p:xfrm>
        <a:graphic>
          <a:graphicData uri="http://schemas.openxmlformats.org/presentationml/2006/ole">
            <p:oleObj imgW="6045200" imgH="41529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7908584" y="96570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25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6205" y="1018584"/>
            <a:ext cx="1217513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Tìm</a:t>
            </a: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kiếm, lựa chọn hành trình, thanh toán và xác nhận đặt vé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6205" y="1917165"/>
            <a:ext cx="1641577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Giả sử thời gian thực hiện quy trình Tìm kiếm, lựa chọn hành trình, thanh toán và xác nhận đặt vé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16911" y="2902412"/>
            <a:ext cx="5625728" cy="367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  <a:spcBef>
                <a:spcPct val="0"/>
              </a:spcBef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Happy Path</a:t>
            </a: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~15 phút / giao dịch</a:t>
            </a:r>
          </a:p>
          <a:p>
            <a:pPr algn="l">
              <a:lnSpc>
                <a:spcPts val="3249"/>
              </a:lnSpc>
              <a:spcBef>
                <a:spcPct val="0"/>
              </a:spcBef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Bước tốn thời gian nhất: Bước 4 – Hệ thống trừ tiền và xuất vé.</a:t>
            </a:r>
          </a:p>
          <a:p>
            <a:pPr algn="l">
              <a:lnSpc>
                <a:spcPts val="3249"/>
              </a:lnSpc>
              <a:spcBef>
                <a:spcPct val="0"/>
              </a:spcBef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Các điểm có thể làm tăng thời gian xử lý: 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Giao dịch Pending</a:t>
            </a:r>
          </a:p>
          <a:p>
            <a:pPr algn="l" marL="539749" indent="-269875" lvl="1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Hết thời gian giữ chỗ</a:t>
            </a:r>
          </a:p>
          <a:p>
            <a:pPr algn="l" marL="539749" indent="-269875" lvl="1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Hãng bay/NCC phản hồi chậm</a:t>
            </a:r>
          </a:p>
          <a:p>
            <a:pPr algn="l" marL="539749" indent="-269875" lvl="1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4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Đồng bộ trạng thái vé chậm</a:t>
            </a:r>
          </a:p>
          <a:p>
            <a:pPr algn="l">
              <a:lnSpc>
                <a:spcPts val="324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325625" y="115570"/>
            <a:ext cx="11125172" cy="8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  <a:spcBef>
                <a:spcPct val="0"/>
              </a:spcBef>
            </a:pPr>
            <a:r>
              <a:rPr lang="en-US" b="true" sz="5000" spc="-10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VII. </a:t>
            </a:r>
            <a:r>
              <a:rPr lang="en-US" b="true" sz="5000" spc="-10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Phân tích định tính và định lượng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500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3482" y="2194019"/>
            <a:ext cx="7143764" cy="7812289"/>
            <a:chOff x="0" y="0"/>
            <a:chExt cx="2163700" cy="2366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3700" cy="2366183"/>
            </a:xfrm>
            <a:custGeom>
              <a:avLst/>
              <a:gdLst/>
              <a:ahLst/>
              <a:cxnLst/>
              <a:rect r="r" b="b" t="t" l="l"/>
              <a:pathLst>
                <a:path h="2366183" w="2163700">
                  <a:moveTo>
                    <a:pt x="52019" y="0"/>
                  </a:moveTo>
                  <a:lnTo>
                    <a:pt x="2111681" y="0"/>
                  </a:lnTo>
                  <a:cubicBezTo>
                    <a:pt x="2140411" y="0"/>
                    <a:pt x="2163700" y="23290"/>
                    <a:pt x="2163700" y="52019"/>
                  </a:cubicBezTo>
                  <a:lnTo>
                    <a:pt x="2163700" y="2314164"/>
                  </a:lnTo>
                  <a:cubicBezTo>
                    <a:pt x="2163700" y="2342893"/>
                    <a:pt x="2140411" y="2366183"/>
                    <a:pt x="2111681" y="2366183"/>
                  </a:cubicBezTo>
                  <a:lnTo>
                    <a:pt x="52019" y="2366183"/>
                  </a:lnTo>
                  <a:cubicBezTo>
                    <a:pt x="23290" y="2366183"/>
                    <a:pt x="0" y="2342893"/>
                    <a:pt x="0" y="2314164"/>
                  </a:cubicBezTo>
                  <a:lnTo>
                    <a:pt x="0" y="52019"/>
                  </a:lnTo>
                  <a:cubicBezTo>
                    <a:pt x="0" y="23290"/>
                    <a:pt x="23290" y="0"/>
                    <a:pt x="52019" y="0"/>
                  </a:cubicBezTo>
                  <a:close/>
                </a:path>
              </a:pathLst>
            </a:custGeom>
            <a:solidFill>
              <a:srgbClr val="FFD1D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63700" cy="2385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499593" y="2506159"/>
          <a:ext cx="7143750" cy="8172450"/>
        </p:xfrm>
        <a:graphic>
          <a:graphicData uri="http://schemas.openxmlformats.org/presentationml/2006/ole">
            <p:oleObj imgW="8775700" imgH="98044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7598877" y="2199276"/>
            <a:ext cx="10454963" cy="7812289"/>
            <a:chOff x="0" y="0"/>
            <a:chExt cx="3166595" cy="23661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66595" cy="2366183"/>
            </a:xfrm>
            <a:custGeom>
              <a:avLst/>
              <a:gdLst/>
              <a:ahLst/>
              <a:cxnLst/>
              <a:rect r="r" b="b" t="t" l="l"/>
              <a:pathLst>
                <a:path h="2366183" w="3166595">
                  <a:moveTo>
                    <a:pt x="35544" y="0"/>
                  </a:moveTo>
                  <a:lnTo>
                    <a:pt x="3131051" y="0"/>
                  </a:lnTo>
                  <a:cubicBezTo>
                    <a:pt x="3150682" y="0"/>
                    <a:pt x="3166595" y="15914"/>
                    <a:pt x="3166595" y="35544"/>
                  </a:cubicBezTo>
                  <a:lnTo>
                    <a:pt x="3166595" y="2330639"/>
                  </a:lnTo>
                  <a:cubicBezTo>
                    <a:pt x="3166595" y="2350269"/>
                    <a:pt x="3150682" y="2366183"/>
                    <a:pt x="3131051" y="2366183"/>
                  </a:cubicBezTo>
                  <a:lnTo>
                    <a:pt x="35544" y="2366183"/>
                  </a:lnTo>
                  <a:cubicBezTo>
                    <a:pt x="15914" y="2366183"/>
                    <a:pt x="0" y="2350269"/>
                    <a:pt x="0" y="2330639"/>
                  </a:cubicBezTo>
                  <a:lnTo>
                    <a:pt x="0" y="35544"/>
                  </a:lnTo>
                  <a:cubicBezTo>
                    <a:pt x="0" y="15914"/>
                    <a:pt x="15914" y="0"/>
                    <a:pt x="35544" y="0"/>
                  </a:cubicBezTo>
                  <a:close/>
                </a:path>
              </a:pathLst>
            </a:custGeom>
            <a:solidFill>
              <a:srgbClr val="FFD1D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3166595" cy="2385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793221" y="2356726"/>
            <a:ext cx="3340209" cy="2470450"/>
          </a:xfrm>
          <a:custGeom>
            <a:avLst/>
            <a:gdLst/>
            <a:ahLst/>
            <a:cxnLst/>
            <a:rect r="r" b="b" t="t" l="l"/>
            <a:pathLst>
              <a:path h="2470450" w="3340209">
                <a:moveTo>
                  <a:pt x="0" y="0"/>
                </a:moveTo>
                <a:lnTo>
                  <a:pt x="3340209" y="0"/>
                </a:lnTo>
                <a:lnTo>
                  <a:pt x="3340209" y="2470450"/>
                </a:lnTo>
                <a:lnTo>
                  <a:pt x="0" y="2470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87" t="0" r="-28802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363397" y="2370605"/>
            <a:ext cx="3457534" cy="2474803"/>
          </a:xfrm>
          <a:custGeom>
            <a:avLst/>
            <a:gdLst/>
            <a:ahLst/>
            <a:cxnLst/>
            <a:rect r="r" b="b" t="t" l="l"/>
            <a:pathLst>
              <a:path h="2474803" w="3457534">
                <a:moveTo>
                  <a:pt x="0" y="0"/>
                </a:moveTo>
                <a:lnTo>
                  <a:pt x="3457534" y="0"/>
                </a:lnTo>
                <a:lnTo>
                  <a:pt x="3457534" y="2474803"/>
                </a:lnTo>
                <a:lnTo>
                  <a:pt x="0" y="24748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3489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050898" y="2370605"/>
            <a:ext cx="2857686" cy="2460925"/>
          </a:xfrm>
          <a:custGeom>
            <a:avLst/>
            <a:gdLst/>
            <a:ahLst/>
            <a:cxnLst/>
            <a:rect r="r" b="b" t="t" l="l"/>
            <a:pathLst>
              <a:path h="2460925" w="2857686">
                <a:moveTo>
                  <a:pt x="0" y="0"/>
                </a:moveTo>
                <a:lnTo>
                  <a:pt x="2857686" y="0"/>
                </a:lnTo>
                <a:lnTo>
                  <a:pt x="2857686" y="2460925"/>
                </a:lnTo>
                <a:lnTo>
                  <a:pt x="0" y="24609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89065" y="4965270"/>
            <a:ext cx="2902442" cy="2474803"/>
          </a:xfrm>
          <a:custGeom>
            <a:avLst/>
            <a:gdLst/>
            <a:ahLst/>
            <a:cxnLst/>
            <a:rect r="r" b="b" t="t" l="l"/>
            <a:pathLst>
              <a:path h="2474803" w="2902442">
                <a:moveTo>
                  <a:pt x="0" y="0"/>
                </a:moveTo>
                <a:lnTo>
                  <a:pt x="2902442" y="0"/>
                </a:lnTo>
                <a:lnTo>
                  <a:pt x="2902442" y="2474803"/>
                </a:lnTo>
                <a:lnTo>
                  <a:pt x="0" y="24748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21" t="0" r="-192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850685" y="4965270"/>
            <a:ext cx="4949607" cy="2474803"/>
          </a:xfrm>
          <a:custGeom>
            <a:avLst/>
            <a:gdLst/>
            <a:ahLst/>
            <a:cxnLst/>
            <a:rect r="r" b="b" t="t" l="l"/>
            <a:pathLst>
              <a:path h="2474803" w="4949607">
                <a:moveTo>
                  <a:pt x="0" y="0"/>
                </a:moveTo>
                <a:lnTo>
                  <a:pt x="4949607" y="0"/>
                </a:lnTo>
                <a:lnTo>
                  <a:pt x="4949607" y="2474803"/>
                </a:lnTo>
                <a:lnTo>
                  <a:pt x="0" y="24748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820734" y="7563898"/>
            <a:ext cx="2824396" cy="2280303"/>
          </a:xfrm>
          <a:custGeom>
            <a:avLst/>
            <a:gdLst/>
            <a:ahLst/>
            <a:cxnLst/>
            <a:rect r="r" b="b" t="t" l="l"/>
            <a:pathLst>
              <a:path h="2280303" w="2824396">
                <a:moveTo>
                  <a:pt x="0" y="0"/>
                </a:moveTo>
                <a:lnTo>
                  <a:pt x="2824396" y="0"/>
                </a:lnTo>
                <a:lnTo>
                  <a:pt x="2824396" y="2280303"/>
                </a:lnTo>
                <a:lnTo>
                  <a:pt x="0" y="22803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908584" y="96570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6205" y="1018584"/>
            <a:ext cx="1217513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Tìm kiếm, lựa chọn hành trình, thanh toán và xác nhận đặt vé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6205" y="1619001"/>
            <a:ext cx="1286672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G</a:t>
            </a: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iả sử tỷ lệ phân nhánh để thực hiện quy trình tìm kiếm, lựa chọn hành trình, xác nhận đặt vé và thanh toán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5625" y="115570"/>
            <a:ext cx="11125172" cy="8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  <a:spcBef>
                <a:spcPct val="0"/>
              </a:spcBef>
            </a:pPr>
            <a:r>
              <a:rPr lang="en-US" b="true" sz="5000" spc="-1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VII. Phân tích định tính và định lượng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6205" y="1913934"/>
            <a:ext cx="8777795" cy="5639623"/>
            <a:chOff x="0" y="0"/>
            <a:chExt cx="2658615" cy="17081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58615" cy="1708127"/>
            </a:xfrm>
            <a:custGeom>
              <a:avLst/>
              <a:gdLst/>
              <a:ahLst/>
              <a:cxnLst/>
              <a:rect r="r" b="b" t="t" l="l"/>
              <a:pathLst>
                <a:path h="1708127" w="2658615">
                  <a:moveTo>
                    <a:pt x="42335" y="0"/>
                  </a:moveTo>
                  <a:lnTo>
                    <a:pt x="2616280" y="0"/>
                  </a:lnTo>
                  <a:cubicBezTo>
                    <a:pt x="2627508" y="0"/>
                    <a:pt x="2638276" y="4460"/>
                    <a:pt x="2646215" y="12400"/>
                  </a:cubicBezTo>
                  <a:cubicBezTo>
                    <a:pt x="2654155" y="20339"/>
                    <a:pt x="2658615" y="31107"/>
                    <a:pt x="2658615" y="42335"/>
                  </a:cubicBezTo>
                  <a:lnTo>
                    <a:pt x="2658615" y="1665792"/>
                  </a:lnTo>
                  <a:cubicBezTo>
                    <a:pt x="2658615" y="1677020"/>
                    <a:pt x="2654155" y="1687788"/>
                    <a:pt x="2646215" y="1695727"/>
                  </a:cubicBezTo>
                  <a:cubicBezTo>
                    <a:pt x="2638276" y="1703667"/>
                    <a:pt x="2627508" y="1708127"/>
                    <a:pt x="2616280" y="1708127"/>
                  </a:cubicBezTo>
                  <a:lnTo>
                    <a:pt x="42335" y="1708127"/>
                  </a:lnTo>
                  <a:cubicBezTo>
                    <a:pt x="31107" y="1708127"/>
                    <a:pt x="20339" y="1703667"/>
                    <a:pt x="12400" y="1695727"/>
                  </a:cubicBezTo>
                  <a:cubicBezTo>
                    <a:pt x="4460" y="1687788"/>
                    <a:pt x="0" y="1677020"/>
                    <a:pt x="0" y="1665792"/>
                  </a:cubicBezTo>
                  <a:lnTo>
                    <a:pt x="0" y="42335"/>
                  </a:lnTo>
                  <a:cubicBezTo>
                    <a:pt x="0" y="31107"/>
                    <a:pt x="4460" y="20339"/>
                    <a:pt x="12400" y="12400"/>
                  </a:cubicBezTo>
                  <a:cubicBezTo>
                    <a:pt x="20339" y="4460"/>
                    <a:pt x="31107" y="0"/>
                    <a:pt x="42335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658615" cy="1727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647390" y="2135132"/>
          <a:ext cx="9629775" cy="4400550"/>
        </p:xfrm>
        <a:graphic>
          <a:graphicData uri="http://schemas.openxmlformats.org/presentationml/2006/ole">
            <p:oleObj imgW="11544300" imgH="63246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7997488" y="989359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27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276045" y="1913934"/>
            <a:ext cx="8777795" cy="5639623"/>
            <a:chOff x="0" y="0"/>
            <a:chExt cx="2658615" cy="17081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58615" cy="1708127"/>
            </a:xfrm>
            <a:custGeom>
              <a:avLst/>
              <a:gdLst/>
              <a:ahLst/>
              <a:cxnLst/>
              <a:rect r="r" b="b" t="t" l="l"/>
              <a:pathLst>
                <a:path h="1708127" w="2658615">
                  <a:moveTo>
                    <a:pt x="42335" y="0"/>
                  </a:moveTo>
                  <a:lnTo>
                    <a:pt x="2616280" y="0"/>
                  </a:lnTo>
                  <a:cubicBezTo>
                    <a:pt x="2627508" y="0"/>
                    <a:pt x="2638276" y="4460"/>
                    <a:pt x="2646215" y="12400"/>
                  </a:cubicBezTo>
                  <a:cubicBezTo>
                    <a:pt x="2654155" y="20339"/>
                    <a:pt x="2658615" y="31107"/>
                    <a:pt x="2658615" y="42335"/>
                  </a:cubicBezTo>
                  <a:lnTo>
                    <a:pt x="2658615" y="1665792"/>
                  </a:lnTo>
                  <a:cubicBezTo>
                    <a:pt x="2658615" y="1677020"/>
                    <a:pt x="2654155" y="1687788"/>
                    <a:pt x="2646215" y="1695727"/>
                  </a:cubicBezTo>
                  <a:cubicBezTo>
                    <a:pt x="2638276" y="1703667"/>
                    <a:pt x="2627508" y="1708127"/>
                    <a:pt x="2616280" y="1708127"/>
                  </a:cubicBezTo>
                  <a:lnTo>
                    <a:pt x="42335" y="1708127"/>
                  </a:lnTo>
                  <a:cubicBezTo>
                    <a:pt x="31107" y="1708127"/>
                    <a:pt x="20339" y="1703667"/>
                    <a:pt x="12400" y="1695727"/>
                  </a:cubicBezTo>
                  <a:cubicBezTo>
                    <a:pt x="4460" y="1687788"/>
                    <a:pt x="0" y="1677020"/>
                    <a:pt x="0" y="1665792"/>
                  </a:cubicBezTo>
                  <a:lnTo>
                    <a:pt x="0" y="42335"/>
                  </a:lnTo>
                  <a:cubicBezTo>
                    <a:pt x="0" y="31107"/>
                    <a:pt x="4460" y="20339"/>
                    <a:pt x="12400" y="12400"/>
                  </a:cubicBezTo>
                  <a:cubicBezTo>
                    <a:pt x="20339" y="4460"/>
                    <a:pt x="31107" y="0"/>
                    <a:pt x="42335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658615" cy="1727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aphicFrame>
        <p:nvGraphicFramePr>
          <p:cNvPr name="Object 10" id="10"/>
          <p:cNvGraphicFramePr/>
          <p:nvPr/>
        </p:nvGraphicFramePr>
        <p:xfrm>
          <a:off x="9498212" y="2135132"/>
          <a:ext cx="7672388" cy="5646420"/>
        </p:xfrm>
        <a:graphic>
          <a:graphicData uri="http://schemas.openxmlformats.org/presentationml/2006/ole">
            <p:oleObj imgW="9207500" imgH="71755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366205" y="1018584"/>
            <a:ext cx="1217513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Tìm kiếm, lựa chọn hành trình, thanh toán và xác nhận đặt vé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6205" y="1478959"/>
            <a:ext cx="510004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Ch</a:t>
            </a: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i phí – Số liệu giả định phục vụ phân tích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66205" y="7639282"/>
            <a:ext cx="17687636" cy="2603563"/>
            <a:chOff x="0" y="0"/>
            <a:chExt cx="5357224" cy="78856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57224" cy="788566"/>
            </a:xfrm>
            <a:custGeom>
              <a:avLst/>
              <a:gdLst/>
              <a:ahLst/>
              <a:cxnLst/>
              <a:rect r="r" b="b" t="t" l="l"/>
              <a:pathLst>
                <a:path h="788566" w="5357224">
                  <a:moveTo>
                    <a:pt x="21010" y="0"/>
                  </a:moveTo>
                  <a:lnTo>
                    <a:pt x="5336214" y="0"/>
                  </a:lnTo>
                  <a:cubicBezTo>
                    <a:pt x="5341786" y="0"/>
                    <a:pt x="5347130" y="2214"/>
                    <a:pt x="5351070" y="6154"/>
                  </a:cubicBezTo>
                  <a:cubicBezTo>
                    <a:pt x="5355010" y="10094"/>
                    <a:pt x="5357224" y="15438"/>
                    <a:pt x="5357224" y="21010"/>
                  </a:cubicBezTo>
                  <a:lnTo>
                    <a:pt x="5357224" y="767556"/>
                  </a:lnTo>
                  <a:cubicBezTo>
                    <a:pt x="5357224" y="773128"/>
                    <a:pt x="5355010" y="778472"/>
                    <a:pt x="5351070" y="782412"/>
                  </a:cubicBezTo>
                  <a:cubicBezTo>
                    <a:pt x="5347130" y="786353"/>
                    <a:pt x="5341786" y="788566"/>
                    <a:pt x="5336214" y="788566"/>
                  </a:cubicBezTo>
                  <a:lnTo>
                    <a:pt x="21010" y="788566"/>
                  </a:lnTo>
                  <a:cubicBezTo>
                    <a:pt x="15438" y="788566"/>
                    <a:pt x="10094" y="786353"/>
                    <a:pt x="6154" y="782412"/>
                  </a:cubicBezTo>
                  <a:cubicBezTo>
                    <a:pt x="2214" y="778472"/>
                    <a:pt x="0" y="773128"/>
                    <a:pt x="0" y="767556"/>
                  </a:cubicBezTo>
                  <a:lnTo>
                    <a:pt x="0" y="21010"/>
                  </a:lnTo>
                  <a:cubicBezTo>
                    <a:pt x="0" y="15438"/>
                    <a:pt x="2214" y="10094"/>
                    <a:pt x="6154" y="6154"/>
                  </a:cubicBezTo>
                  <a:cubicBezTo>
                    <a:pt x="10094" y="2214"/>
                    <a:pt x="15438" y="0"/>
                    <a:pt x="21010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5357224" cy="807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58685" y="7771559"/>
            <a:ext cx="7936825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spc="-42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Tổng chi phí ≈ 3.300 + 7.000 = 10.300 V</a:t>
            </a:r>
            <a:r>
              <a:rPr lang="en-US" b="true" sz="2100" spc="-42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NĐ/giao dịch</a:t>
            </a:r>
          </a:p>
          <a:p>
            <a:pPr algn="l">
              <a:lnSpc>
                <a:spcPts val="2730"/>
              </a:lnSpc>
            </a:pPr>
            <a:r>
              <a:rPr lang="en-US" b="true" sz="2100" spc="-42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Chi phí tạo giá trị VA gồm:Tìm kiếm và lựa chọn chuyến: 500 VNĐ</a:t>
            </a:r>
          </a:p>
          <a:p>
            <a:pPr algn="l" marL="453390" indent="-226695" lvl="1">
              <a:lnSpc>
                <a:spcPts val="2730"/>
              </a:lnSpc>
              <a:buFont typeface="Arial"/>
              <a:buChar char="•"/>
            </a:pPr>
            <a:r>
              <a:rPr lang="en-US" b="true" sz="2100" spc="-42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Thanh toán: 300 VNĐ</a:t>
            </a:r>
          </a:p>
          <a:p>
            <a:pPr algn="l" marL="453390" indent="-226695" lvl="1">
              <a:lnSpc>
                <a:spcPts val="2730"/>
              </a:lnSpc>
              <a:buFont typeface="Arial"/>
              <a:buChar char="•"/>
            </a:pPr>
            <a:r>
              <a:rPr lang="en-US" b="true" sz="2100" spc="-42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Xác nhận và xuất vé: 1.500 VNĐ</a:t>
            </a:r>
          </a:p>
          <a:p>
            <a:pPr algn="l" marL="453390" indent="-226695" lvl="1">
              <a:lnSpc>
                <a:spcPts val="2730"/>
              </a:lnSpc>
              <a:buFont typeface="Arial"/>
              <a:buChar char="•"/>
            </a:pPr>
            <a:r>
              <a:rPr lang="en-US" b="true" sz="2100" spc="-42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Trả vé điện tử: 200 VNĐ</a:t>
            </a:r>
          </a:p>
          <a:p>
            <a:pPr algn="l" marL="453390" indent="-226695" lvl="1">
              <a:lnSpc>
                <a:spcPts val="2730"/>
              </a:lnSpc>
              <a:buFont typeface="Arial"/>
              <a:buChar char="•"/>
            </a:pPr>
            <a:r>
              <a:rPr lang="en-US" b="true" sz="2100" spc="-42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VA = 2.500 VNĐ/giao dịch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98212" y="7771559"/>
            <a:ext cx="5954792" cy="185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099" spc="-41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Chi phí BVA</a:t>
            </a:r>
            <a:r>
              <a:rPr lang="en-US" b="true" sz="2099" spc="-4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/NVA trong hoạt động trực tiếp:</a:t>
            </a:r>
          </a:p>
          <a:p>
            <a:pPr algn="l" marL="453388" indent="-226694" lvl="1">
              <a:lnSpc>
                <a:spcPts val="2729"/>
              </a:lnSpc>
              <a:buFont typeface="Arial"/>
              <a:buChar char="•"/>
            </a:pPr>
            <a:r>
              <a:rPr lang="en-US" b="true" sz="2099" spc="-4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Giữ chỗ/booking tạm: 800 VNĐ</a:t>
            </a:r>
          </a:p>
          <a:p>
            <a:pPr algn="l" marL="453388" indent="-226694" lvl="1">
              <a:lnSpc>
                <a:spcPts val="2729"/>
              </a:lnSpc>
              <a:buFont typeface="Arial"/>
              <a:buChar char="•"/>
            </a:pPr>
            <a:r>
              <a:rPr lang="en-US" b="true" sz="2099" spc="-4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BVA/NVA = 3.300 – 2.500 = 800 VNĐ/giao dịch</a:t>
            </a:r>
          </a:p>
          <a:p>
            <a:pPr algn="l">
              <a:lnSpc>
                <a:spcPts val="2729"/>
              </a:lnSpc>
            </a:pPr>
            <a:r>
              <a:rPr lang="en-US" b="true" sz="2099" spc="-4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Hiệu suất chi phí:</a:t>
            </a:r>
          </a:p>
          <a:p>
            <a:pPr algn="l" marL="453388" indent="-226694" lvl="1">
              <a:lnSpc>
                <a:spcPts val="2729"/>
              </a:lnSpc>
              <a:buFont typeface="Arial"/>
              <a:buChar char="•"/>
            </a:pPr>
            <a:r>
              <a:rPr lang="en-US" b="true" sz="2099" spc="-4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(2.500 / 3.300) × 100 ≈ 75,76%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5625" y="115570"/>
            <a:ext cx="11125172" cy="8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  <a:spcBef>
                <a:spcPct val="0"/>
              </a:spcBef>
            </a:pPr>
            <a:r>
              <a:rPr lang="en-US" b="true" sz="5000" spc="-10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VII. </a:t>
            </a:r>
            <a:r>
              <a:rPr lang="en-US" b="true" sz="5000" spc="-10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Phân tích định tính và định lượng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500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997488" y="993486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2110" y="1913934"/>
            <a:ext cx="8608562" cy="8219372"/>
            <a:chOff x="0" y="0"/>
            <a:chExt cx="2607358" cy="24894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07358" cy="2489480"/>
            </a:xfrm>
            <a:custGeom>
              <a:avLst/>
              <a:gdLst/>
              <a:ahLst/>
              <a:cxnLst/>
              <a:rect r="r" b="b" t="t" l="l"/>
              <a:pathLst>
                <a:path h="2489480" w="2607358">
                  <a:moveTo>
                    <a:pt x="43168" y="0"/>
                  </a:moveTo>
                  <a:lnTo>
                    <a:pt x="2564190" y="0"/>
                  </a:lnTo>
                  <a:cubicBezTo>
                    <a:pt x="2588031" y="0"/>
                    <a:pt x="2607358" y="19327"/>
                    <a:pt x="2607358" y="43168"/>
                  </a:cubicBezTo>
                  <a:lnTo>
                    <a:pt x="2607358" y="2446313"/>
                  </a:lnTo>
                  <a:cubicBezTo>
                    <a:pt x="2607358" y="2457761"/>
                    <a:pt x="2602810" y="2468741"/>
                    <a:pt x="2594714" y="2476837"/>
                  </a:cubicBezTo>
                  <a:cubicBezTo>
                    <a:pt x="2586619" y="2484932"/>
                    <a:pt x="2575639" y="2489480"/>
                    <a:pt x="2564190" y="2489480"/>
                  </a:cubicBezTo>
                  <a:lnTo>
                    <a:pt x="43168" y="2489480"/>
                  </a:lnTo>
                  <a:cubicBezTo>
                    <a:pt x="31719" y="2489480"/>
                    <a:pt x="20739" y="2484932"/>
                    <a:pt x="12644" y="2476837"/>
                  </a:cubicBezTo>
                  <a:cubicBezTo>
                    <a:pt x="4548" y="2468741"/>
                    <a:pt x="0" y="2457761"/>
                    <a:pt x="0" y="2446313"/>
                  </a:cubicBezTo>
                  <a:lnTo>
                    <a:pt x="0" y="43168"/>
                  </a:lnTo>
                  <a:cubicBezTo>
                    <a:pt x="0" y="31719"/>
                    <a:pt x="4548" y="20739"/>
                    <a:pt x="12644" y="12644"/>
                  </a:cubicBezTo>
                  <a:cubicBezTo>
                    <a:pt x="20739" y="4548"/>
                    <a:pt x="31719" y="0"/>
                    <a:pt x="43168" y="0"/>
                  </a:cubicBezTo>
                  <a:close/>
                </a:path>
              </a:pathLst>
            </a:custGeom>
            <a:solidFill>
              <a:srgbClr val="FFD1D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607358" cy="2508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928104" y="1913934"/>
            <a:ext cx="9214639" cy="8219372"/>
            <a:chOff x="0" y="0"/>
            <a:chExt cx="2790926" cy="24894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0926" cy="2489480"/>
            </a:xfrm>
            <a:custGeom>
              <a:avLst/>
              <a:gdLst/>
              <a:ahLst/>
              <a:cxnLst/>
              <a:rect r="r" b="b" t="t" l="l"/>
              <a:pathLst>
                <a:path h="2489480" w="2790926">
                  <a:moveTo>
                    <a:pt x="40328" y="0"/>
                  </a:moveTo>
                  <a:lnTo>
                    <a:pt x="2750598" y="0"/>
                  </a:lnTo>
                  <a:cubicBezTo>
                    <a:pt x="2772870" y="0"/>
                    <a:pt x="2790926" y="18056"/>
                    <a:pt x="2790926" y="40328"/>
                  </a:cubicBezTo>
                  <a:lnTo>
                    <a:pt x="2790926" y="2449152"/>
                  </a:lnTo>
                  <a:cubicBezTo>
                    <a:pt x="2790926" y="2471425"/>
                    <a:pt x="2772870" y="2489480"/>
                    <a:pt x="2750598" y="2489480"/>
                  </a:cubicBezTo>
                  <a:lnTo>
                    <a:pt x="40328" y="2489480"/>
                  </a:lnTo>
                  <a:cubicBezTo>
                    <a:pt x="18056" y="2489480"/>
                    <a:pt x="0" y="2471425"/>
                    <a:pt x="0" y="2449152"/>
                  </a:cubicBezTo>
                  <a:lnTo>
                    <a:pt x="0" y="40328"/>
                  </a:lnTo>
                  <a:cubicBezTo>
                    <a:pt x="0" y="18056"/>
                    <a:pt x="18056" y="0"/>
                    <a:pt x="40328" y="0"/>
                  </a:cubicBezTo>
                  <a:close/>
                </a:path>
              </a:pathLst>
            </a:custGeom>
            <a:solidFill>
              <a:srgbClr val="FFD1D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790926" cy="2508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190271" y="2375452"/>
            <a:ext cx="6492240" cy="0"/>
          </a:xfrm>
          <a:prstGeom prst="line">
            <a:avLst/>
          </a:prstGeom>
          <a:ln cap="flat" w="38100">
            <a:solidFill>
              <a:srgbClr val="A50064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10" id="10"/>
          <p:cNvGraphicFramePr/>
          <p:nvPr/>
        </p:nvGraphicFramePr>
        <p:xfrm>
          <a:off x="9144000" y="2620862"/>
          <a:ext cx="4736306" cy="8229600"/>
        </p:xfrm>
        <a:graphic>
          <a:graphicData uri="http://schemas.openxmlformats.org/presentationml/2006/ole">
            <p:oleObj imgW="6375400" imgH="9867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366205" y="1018584"/>
            <a:ext cx="1217513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Tìm kiếm, lựa chọn hành trình, thanh toán và xác nhận đặt vé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6205" y="1478959"/>
            <a:ext cx="326278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Phân tích các bên liên quan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1791" y="1988102"/>
            <a:ext cx="596919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PHÂN TÍCH CÁC BÊN LIÊN QUAN (STAKEHOLDERS)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6205" y="2404027"/>
            <a:ext cx="8374467" cy="677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2A2A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KHÁCH HÀNG</a:t>
            </a: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2A2A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Kỳ vọng: </a:t>
            </a:r>
            <a:r>
              <a:rPr lang="en-US" b="true" sz="17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Tìm chuyến nhanh, thanh toán an toàn, nhận vé sớm.</a:t>
            </a: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2A2A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Điểm đau: </a:t>
            </a:r>
            <a:r>
              <a:rPr lang="en-US" b="true" sz="17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Timeout, Pending, chậm nhận vé.</a:t>
            </a:r>
          </a:p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2A2A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APP MOMO / M_SERVICE</a:t>
            </a: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2A2A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Kỳ vọng: </a:t>
            </a:r>
            <a:r>
              <a:rPr lang="en-US" b="true" sz="17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Booking – thanh toán – trạng thái được đồng bộ chính xác.</a:t>
            </a: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2A2A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Điểm đau: </a:t>
            </a:r>
            <a:r>
              <a:rPr lang="en-US" b="true" sz="17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Pending, lệch trạng thái, Duplicate Booking.</a:t>
            </a:r>
          </a:p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2A2A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CHĂM SÓC KHÁCH HÀNG</a:t>
            </a: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2A2A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Kỳ vọng: </a:t>
            </a:r>
            <a:r>
              <a:rPr lang="en-US" b="true" sz="17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Tra cứu nhanh, đủ dữ liệu, phối hợp đúng SLA.</a:t>
            </a: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2A2A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Điểm đau: </a:t>
            </a:r>
            <a:r>
              <a:rPr lang="en-US" b="true" sz="17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Kiểm tra nhiều hệ thống, xử lý thủ công, chờ NCC.</a:t>
            </a:r>
          </a:p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2A2A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 HÃNG BAY / NHÀ CUNG CẤP</a:t>
            </a: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2A2A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Kỳ vọng: </a:t>
            </a:r>
            <a:r>
              <a:rPr lang="en-US" b="true" sz="17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Booking chính xác, dữ liệu đầy đủ, API ổn định.</a:t>
            </a: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2A2A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Điểm đau:</a:t>
            </a:r>
            <a:r>
              <a:rPr lang="en-US" b="true" sz="17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Chậm phản hồi, chưa đồng bộ, phải xuất vé thủ công.</a:t>
            </a:r>
          </a:p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2A2A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TRỌNG TÂM CẢI TIẾN</a:t>
            </a: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2A2A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Giảm thời gian chờ:</a:t>
            </a:r>
            <a:r>
              <a:rPr lang="en-US" b="true" sz="17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Tự động phát hiện Pending, rút ngắn thời gian xuất vé.</a:t>
            </a: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2A2A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Đồng bộ trạng thái: </a:t>
            </a:r>
            <a:r>
              <a:rPr lang="en-US" b="true" sz="17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Thống nhất MoMo – M_Service – Hãng/NCC.</a:t>
            </a: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2A2A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Giảm thủ công: </a:t>
            </a:r>
            <a:r>
              <a:rPr lang="en-US" b="true" sz="17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Hạn chế tra cứu nhiều hệ thống, rollback và xuất vé thủ công.</a:t>
            </a:r>
          </a:p>
          <a:p>
            <a:pPr algn="l">
              <a:lnSpc>
                <a:spcPts val="2380"/>
              </a:lnSpc>
              <a:spcBef>
                <a:spcPct val="0"/>
              </a:spcBef>
            </a:pPr>
          </a:p>
        </p:txBody>
      </p:sp>
      <p:sp>
        <p:nvSpPr>
          <p:cNvPr name="AutoShape 15" id="15"/>
          <p:cNvSpPr/>
          <p:nvPr/>
        </p:nvSpPr>
        <p:spPr>
          <a:xfrm>
            <a:off x="10289304" y="2413552"/>
            <a:ext cx="6492240" cy="0"/>
          </a:xfrm>
          <a:prstGeom prst="line">
            <a:avLst/>
          </a:prstGeom>
          <a:ln cap="flat" w="38100">
            <a:solidFill>
              <a:srgbClr val="A5006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9668691" y="2026202"/>
            <a:ext cx="773346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BẢNG ĐĂNG KÝ VẤN ĐỀ VÀ GIẢI PHÁP CẢI TIẾN (ISSUE REGISTER)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5625" y="115570"/>
            <a:ext cx="11125172" cy="8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  <a:spcBef>
                <a:spcPct val="0"/>
              </a:spcBef>
            </a:pPr>
            <a:r>
              <a:rPr lang="en-US" b="true" sz="5000" spc="-1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VII. Phân tích định tính và định lượng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997488" y="993775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29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66205" y="2055965"/>
            <a:ext cx="17776539" cy="8080223"/>
            <a:chOff x="0" y="0"/>
            <a:chExt cx="5384151" cy="24473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84151" cy="2447335"/>
            </a:xfrm>
            <a:custGeom>
              <a:avLst/>
              <a:gdLst/>
              <a:ahLst/>
              <a:cxnLst/>
              <a:rect r="r" b="b" t="t" l="l"/>
              <a:pathLst>
                <a:path h="2447335" w="5384151">
                  <a:moveTo>
                    <a:pt x="20905" y="0"/>
                  </a:moveTo>
                  <a:lnTo>
                    <a:pt x="5363246" y="0"/>
                  </a:lnTo>
                  <a:cubicBezTo>
                    <a:pt x="5368791" y="0"/>
                    <a:pt x="5374108" y="2202"/>
                    <a:pt x="5378028" y="6123"/>
                  </a:cubicBezTo>
                  <a:cubicBezTo>
                    <a:pt x="5381948" y="10043"/>
                    <a:pt x="5384151" y="15360"/>
                    <a:pt x="5384151" y="20905"/>
                  </a:cubicBezTo>
                  <a:lnTo>
                    <a:pt x="5384151" y="2426430"/>
                  </a:lnTo>
                  <a:cubicBezTo>
                    <a:pt x="5384151" y="2431974"/>
                    <a:pt x="5381948" y="2437291"/>
                    <a:pt x="5378028" y="2441212"/>
                  </a:cubicBezTo>
                  <a:cubicBezTo>
                    <a:pt x="5374108" y="2445132"/>
                    <a:pt x="5368791" y="2447335"/>
                    <a:pt x="5363246" y="2447335"/>
                  </a:cubicBezTo>
                  <a:lnTo>
                    <a:pt x="20905" y="2447335"/>
                  </a:lnTo>
                  <a:cubicBezTo>
                    <a:pt x="15360" y="2447335"/>
                    <a:pt x="10043" y="2445132"/>
                    <a:pt x="6123" y="2441212"/>
                  </a:cubicBezTo>
                  <a:cubicBezTo>
                    <a:pt x="2202" y="2437291"/>
                    <a:pt x="0" y="2431974"/>
                    <a:pt x="0" y="2426430"/>
                  </a:cubicBezTo>
                  <a:lnTo>
                    <a:pt x="0" y="20905"/>
                  </a:lnTo>
                  <a:cubicBezTo>
                    <a:pt x="0" y="15360"/>
                    <a:pt x="2202" y="10043"/>
                    <a:pt x="6123" y="6123"/>
                  </a:cubicBezTo>
                  <a:cubicBezTo>
                    <a:pt x="10043" y="2202"/>
                    <a:pt x="15360" y="0"/>
                    <a:pt x="20905" y="0"/>
                  </a:cubicBezTo>
                  <a:close/>
                </a:path>
              </a:pathLst>
            </a:custGeom>
            <a:solidFill>
              <a:srgbClr val="A5006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5384151" cy="24663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aphicFrame>
        <p:nvGraphicFramePr>
          <p:cNvPr name="Object 6" id="6"/>
          <p:cNvGraphicFramePr/>
          <p:nvPr/>
        </p:nvGraphicFramePr>
        <p:xfrm>
          <a:off x="673169" y="2380659"/>
          <a:ext cx="9515475" cy="4594860"/>
        </p:xfrm>
        <a:graphic>
          <a:graphicData uri="http://schemas.openxmlformats.org/presentationml/2006/ole">
            <p:oleObj imgW="11417300" imgH="64897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366205" y="1018584"/>
            <a:ext cx="1217513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A500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Tìm kiếm, lựa chọn hành trình, thanh toán và xác nhận đặt vé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6205" y="1478959"/>
            <a:ext cx="326278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Phân tích các bên liên quan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5625" y="115570"/>
            <a:ext cx="11125172" cy="8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  <a:spcBef>
                <a:spcPct val="0"/>
              </a:spcBef>
            </a:pPr>
            <a:r>
              <a:rPr lang="en-US" b="true" sz="5000" spc="-10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VIII. S</a:t>
            </a:r>
            <a:r>
              <a:rPr lang="en-US" b="true" sz="5000" spc="-100">
                <a:solidFill>
                  <a:srgbClr val="A500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takeholder &amp; Pareto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500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6205" y="1526584"/>
            <a:ext cx="17631283" cy="8609604"/>
            <a:chOff x="0" y="0"/>
            <a:chExt cx="5340156" cy="2607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40156" cy="2607673"/>
            </a:xfrm>
            <a:custGeom>
              <a:avLst/>
              <a:gdLst/>
              <a:ahLst/>
              <a:cxnLst/>
              <a:rect r="r" b="b" t="t" l="l"/>
              <a:pathLst>
                <a:path h="2607673" w="5340156">
                  <a:moveTo>
                    <a:pt x="21077" y="0"/>
                  </a:moveTo>
                  <a:lnTo>
                    <a:pt x="5319079" y="0"/>
                  </a:lnTo>
                  <a:cubicBezTo>
                    <a:pt x="5330720" y="0"/>
                    <a:pt x="5340156" y="9436"/>
                    <a:pt x="5340156" y="21077"/>
                  </a:cubicBezTo>
                  <a:lnTo>
                    <a:pt x="5340156" y="2586596"/>
                  </a:lnTo>
                  <a:cubicBezTo>
                    <a:pt x="5340156" y="2598237"/>
                    <a:pt x="5330720" y="2607673"/>
                    <a:pt x="5319079" y="2607673"/>
                  </a:cubicBezTo>
                  <a:lnTo>
                    <a:pt x="21077" y="2607673"/>
                  </a:lnTo>
                  <a:cubicBezTo>
                    <a:pt x="15487" y="2607673"/>
                    <a:pt x="10126" y="2605453"/>
                    <a:pt x="6173" y="2601500"/>
                  </a:cubicBezTo>
                  <a:cubicBezTo>
                    <a:pt x="2221" y="2597547"/>
                    <a:pt x="0" y="2592186"/>
                    <a:pt x="0" y="2586596"/>
                  </a:cubicBezTo>
                  <a:lnTo>
                    <a:pt x="0" y="21077"/>
                  </a:lnTo>
                  <a:cubicBezTo>
                    <a:pt x="0" y="9436"/>
                    <a:pt x="9436" y="0"/>
                    <a:pt x="21077" y="0"/>
                  </a:cubicBezTo>
                  <a:close/>
                </a:path>
              </a:pathLst>
            </a:custGeom>
            <a:solidFill>
              <a:srgbClr val="FFD1D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340156" cy="2626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90502" y="1830728"/>
            <a:ext cx="16106995" cy="8001315"/>
          </a:xfrm>
          <a:custGeom>
            <a:avLst/>
            <a:gdLst/>
            <a:ahLst/>
            <a:cxnLst/>
            <a:rect r="r" b="b" t="t" l="l"/>
            <a:pathLst>
              <a:path h="8001315" w="16106995">
                <a:moveTo>
                  <a:pt x="0" y="0"/>
                </a:moveTo>
                <a:lnTo>
                  <a:pt x="16106996" y="0"/>
                </a:lnTo>
                <a:lnTo>
                  <a:pt x="16106996" y="8001315"/>
                </a:lnTo>
                <a:lnTo>
                  <a:pt x="0" y="80013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997488" y="993775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6205" y="95280"/>
            <a:ext cx="9580913" cy="8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00"/>
              </a:lnSpc>
              <a:spcBef>
                <a:spcPct val="0"/>
              </a:spcBef>
            </a:pPr>
            <a:r>
              <a:rPr lang="en-US" b="true" sz="5000" spc="-1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VIII.</a:t>
            </a:r>
            <a:r>
              <a:rPr lang="en-US" b="true" sz="5000" spc="-1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Stakeholder &amp; Pareto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6205" y="1018584"/>
            <a:ext cx="1217513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Tìm kiếm, lựa chọn hành trình, thanh toán và xác nhận đặt vé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500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6205" y="1770954"/>
            <a:ext cx="5580898" cy="3788843"/>
            <a:chOff x="0" y="0"/>
            <a:chExt cx="1690340" cy="11475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90340" cy="1147563"/>
            </a:xfrm>
            <a:custGeom>
              <a:avLst/>
              <a:gdLst/>
              <a:ahLst/>
              <a:cxnLst/>
              <a:rect r="r" b="b" t="t" l="l"/>
              <a:pathLst>
                <a:path h="1147563" w="1690340">
                  <a:moveTo>
                    <a:pt x="66586" y="0"/>
                  </a:moveTo>
                  <a:lnTo>
                    <a:pt x="1623754" y="0"/>
                  </a:lnTo>
                  <a:cubicBezTo>
                    <a:pt x="1641413" y="0"/>
                    <a:pt x="1658350" y="7015"/>
                    <a:pt x="1670837" y="19503"/>
                  </a:cubicBezTo>
                  <a:cubicBezTo>
                    <a:pt x="1683325" y="31990"/>
                    <a:pt x="1690340" y="48927"/>
                    <a:pt x="1690340" y="66586"/>
                  </a:cubicBezTo>
                  <a:lnTo>
                    <a:pt x="1690340" y="1080977"/>
                  </a:lnTo>
                  <a:cubicBezTo>
                    <a:pt x="1690340" y="1117752"/>
                    <a:pt x="1660528" y="1147563"/>
                    <a:pt x="1623754" y="1147563"/>
                  </a:cubicBezTo>
                  <a:lnTo>
                    <a:pt x="66586" y="1147563"/>
                  </a:lnTo>
                  <a:cubicBezTo>
                    <a:pt x="48927" y="1147563"/>
                    <a:pt x="31990" y="1140548"/>
                    <a:pt x="19503" y="1128061"/>
                  </a:cubicBezTo>
                  <a:cubicBezTo>
                    <a:pt x="7015" y="1115573"/>
                    <a:pt x="0" y="1098637"/>
                    <a:pt x="0" y="1080977"/>
                  </a:cubicBezTo>
                  <a:lnTo>
                    <a:pt x="0" y="66586"/>
                  </a:lnTo>
                  <a:cubicBezTo>
                    <a:pt x="0" y="48927"/>
                    <a:pt x="7015" y="31990"/>
                    <a:pt x="19503" y="19503"/>
                  </a:cubicBezTo>
                  <a:cubicBezTo>
                    <a:pt x="31990" y="7015"/>
                    <a:pt x="48927" y="0"/>
                    <a:pt x="66586" y="0"/>
                  </a:cubicBezTo>
                  <a:close/>
                </a:path>
              </a:pathLst>
            </a:custGeom>
            <a:solidFill>
              <a:srgbClr val="FFD1D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690340" cy="11666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27686" y="1770954"/>
            <a:ext cx="5580898" cy="3788843"/>
            <a:chOff x="0" y="0"/>
            <a:chExt cx="1690340" cy="11475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90340" cy="1147563"/>
            </a:xfrm>
            <a:custGeom>
              <a:avLst/>
              <a:gdLst/>
              <a:ahLst/>
              <a:cxnLst/>
              <a:rect r="r" b="b" t="t" l="l"/>
              <a:pathLst>
                <a:path h="1147563" w="1690340">
                  <a:moveTo>
                    <a:pt x="66586" y="0"/>
                  </a:moveTo>
                  <a:lnTo>
                    <a:pt x="1623754" y="0"/>
                  </a:lnTo>
                  <a:cubicBezTo>
                    <a:pt x="1641413" y="0"/>
                    <a:pt x="1658350" y="7015"/>
                    <a:pt x="1670837" y="19503"/>
                  </a:cubicBezTo>
                  <a:cubicBezTo>
                    <a:pt x="1683325" y="31990"/>
                    <a:pt x="1690340" y="48927"/>
                    <a:pt x="1690340" y="66586"/>
                  </a:cubicBezTo>
                  <a:lnTo>
                    <a:pt x="1690340" y="1080977"/>
                  </a:lnTo>
                  <a:cubicBezTo>
                    <a:pt x="1690340" y="1117752"/>
                    <a:pt x="1660528" y="1147563"/>
                    <a:pt x="1623754" y="1147563"/>
                  </a:cubicBezTo>
                  <a:lnTo>
                    <a:pt x="66586" y="1147563"/>
                  </a:lnTo>
                  <a:cubicBezTo>
                    <a:pt x="48927" y="1147563"/>
                    <a:pt x="31990" y="1140548"/>
                    <a:pt x="19503" y="1128061"/>
                  </a:cubicBezTo>
                  <a:cubicBezTo>
                    <a:pt x="7015" y="1115573"/>
                    <a:pt x="0" y="1098637"/>
                    <a:pt x="0" y="1080977"/>
                  </a:cubicBezTo>
                  <a:lnTo>
                    <a:pt x="0" y="66586"/>
                  </a:lnTo>
                  <a:cubicBezTo>
                    <a:pt x="0" y="48927"/>
                    <a:pt x="7015" y="31990"/>
                    <a:pt x="19503" y="19503"/>
                  </a:cubicBezTo>
                  <a:cubicBezTo>
                    <a:pt x="31990" y="7015"/>
                    <a:pt x="48927" y="0"/>
                    <a:pt x="66586" y="0"/>
                  </a:cubicBezTo>
                  <a:close/>
                </a:path>
              </a:pathLst>
            </a:custGeom>
            <a:solidFill>
              <a:srgbClr val="FFD1D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690340" cy="11666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46946" y="1770954"/>
            <a:ext cx="5580898" cy="3788843"/>
            <a:chOff x="0" y="0"/>
            <a:chExt cx="1690340" cy="11475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90340" cy="1147563"/>
            </a:xfrm>
            <a:custGeom>
              <a:avLst/>
              <a:gdLst/>
              <a:ahLst/>
              <a:cxnLst/>
              <a:rect r="r" b="b" t="t" l="l"/>
              <a:pathLst>
                <a:path h="1147563" w="1690340">
                  <a:moveTo>
                    <a:pt x="66586" y="0"/>
                  </a:moveTo>
                  <a:lnTo>
                    <a:pt x="1623754" y="0"/>
                  </a:lnTo>
                  <a:cubicBezTo>
                    <a:pt x="1641413" y="0"/>
                    <a:pt x="1658350" y="7015"/>
                    <a:pt x="1670837" y="19503"/>
                  </a:cubicBezTo>
                  <a:cubicBezTo>
                    <a:pt x="1683325" y="31990"/>
                    <a:pt x="1690340" y="48927"/>
                    <a:pt x="1690340" y="66586"/>
                  </a:cubicBezTo>
                  <a:lnTo>
                    <a:pt x="1690340" y="1080977"/>
                  </a:lnTo>
                  <a:cubicBezTo>
                    <a:pt x="1690340" y="1117752"/>
                    <a:pt x="1660528" y="1147563"/>
                    <a:pt x="1623754" y="1147563"/>
                  </a:cubicBezTo>
                  <a:lnTo>
                    <a:pt x="66586" y="1147563"/>
                  </a:lnTo>
                  <a:cubicBezTo>
                    <a:pt x="48927" y="1147563"/>
                    <a:pt x="31990" y="1140548"/>
                    <a:pt x="19503" y="1128061"/>
                  </a:cubicBezTo>
                  <a:cubicBezTo>
                    <a:pt x="7015" y="1115573"/>
                    <a:pt x="0" y="1098637"/>
                    <a:pt x="0" y="1080977"/>
                  </a:cubicBezTo>
                  <a:lnTo>
                    <a:pt x="0" y="66586"/>
                  </a:lnTo>
                  <a:cubicBezTo>
                    <a:pt x="0" y="48927"/>
                    <a:pt x="7015" y="31990"/>
                    <a:pt x="19503" y="19503"/>
                  </a:cubicBezTo>
                  <a:cubicBezTo>
                    <a:pt x="31990" y="7015"/>
                    <a:pt x="48927" y="0"/>
                    <a:pt x="66586" y="0"/>
                  </a:cubicBezTo>
                  <a:close/>
                </a:path>
              </a:pathLst>
            </a:custGeom>
            <a:solidFill>
              <a:srgbClr val="FFD1D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690340" cy="11666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3025" y="5839393"/>
            <a:ext cx="17545559" cy="4145982"/>
            <a:chOff x="0" y="0"/>
            <a:chExt cx="5314192" cy="12557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14192" cy="1255733"/>
            </a:xfrm>
            <a:custGeom>
              <a:avLst/>
              <a:gdLst/>
              <a:ahLst/>
              <a:cxnLst/>
              <a:rect r="r" b="b" t="t" l="l"/>
              <a:pathLst>
                <a:path h="1255733" w="5314192">
                  <a:moveTo>
                    <a:pt x="21180" y="0"/>
                  </a:moveTo>
                  <a:lnTo>
                    <a:pt x="5293012" y="0"/>
                  </a:lnTo>
                  <a:cubicBezTo>
                    <a:pt x="5298629" y="0"/>
                    <a:pt x="5304017" y="2231"/>
                    <a:pt x="5307988" y="6203"/>
                  </a:cubicBezTo>
                  <a:cubicBezTo>
                    <a:pt x="5311961" y="10175"/>
                    <a:pt x="5314192" y="15563"/>
                    <a:pt x="5314192" y="21180"/>
                  </a:cubicBezTo>
                  <a:lnTo>
                    <a:pt x="5314192" y="1234554"/>
                  </a:lnTo>
                  <a:cubicBezTo>
                    <a:pt x="5314192" y="1246251"/>
                    <a:pt x="5304710" y="1255733"/>
                    <a:pt x="5293012" y="1255733"/>
                  </a:cubicBezTo>
                  <a:lnTo>
                    <a:pt x="21180" y="1255733"/>
                  </a:lnTo>
                  <a:cubicBezTo>
                    <a:pt x="9483" y="1255733"/>
                    <a:pt x="0" y="1246251"/>
                    <a:pt x="0" y="1234554"/>
                  </a:cubicBezTo>
                  <a:lnTo>
                    <a:pt x="0" y="21180"/>
                  </a:lnTo>
                  <a:cubicBezTo>
                    <a:pt x="0" y="9483"/>
                    <a:pt x="9483" y="0"/>
                    <a:pt x="21180" y="0"/>
                  </a:cubicBezTo>
                  <a:close/>
                </a:path>
              </a:pathLst>
            </a:custGeom>
            <a:solidFill>
              <a:srgbClr val="FFD1D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314192" cy="1274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66205" y="95280"/>
            <a:ext cx="9580913" cy="81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00"/>
              </a:lnSpc>
              <a:spcBef>
                <a:spcPct val="0"/>
              </a:spcBef>
            </a:pPr>
            <a:r>
              <a:rPr lang="en-US" sz="5000" spc="-1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IX. KẾT LUẬN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6205" y="981075"/>
            <a:ext cx="422140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Thông tin kết luận rút ra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9237" y="1868103"/>
            <a:ext cx="5188474" cy="325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KIẾN TRÚC QUY TRÌNH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Mô hình hóa BPMN 2.0</a:t>
            </a:r>
          </a:p>
          <a:p>
            <a:pPr algn="l" marL="388622" indent="-194311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Quy trình gồm 5 bước chính từ tìm kiếm chuyến đến nhận vé điện tử.</a:t>
            </a:r>
          </a:p>
          <a:p>
            <a:pPr algn="l" marL="388622" indent="-194311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Các bên tham gia: Khách hàng – MoMo/M_Service – CSKH – Hãng bay/NCC.</a:t>
            </a:r>
          </a:p>
          <a:p>
            <a:pPr algn="l" marL="388622" indent="-194311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Luồng ngoại lệ quan trọng: Hold Time, Payment Pending, Rollback, xuất vé thủ công.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5156662" y="530255"/>
            <a:ext cx="1058622" cy="1939378"/>
          </a:xfrm>
          <a:custGeom>
            <a:avLst/>
            <a:gdLst/>
            <a:ahLst/>
            <a:cxnLst/>
            <a:rect r="r" b="b" t="t" l="l"/>
            <a:pathLst>
              <a:path h="1939378" w="1058622">
                <a:moveTo>
                  <a:pt x="0" y="0"/>
                </a:moveTo>
                <a:lnTo>
                  <a:pt x="1058621" y="0"/>
                </a:lnTo>
                <a:lnTo>
                  <a:pt x="1058621" y="1939378"/>
                </a:lnTo>
                <a:lnTo>
                  <a:pt x="0" y="1939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549763" y="1868103"/>
            <a:ext cx="5378081" cy="356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</a:t>
            </a:r>
            <a:r>
              <a:rPr lang="en-US" b="true" sz="20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. ĐIỂM NGHẼN &amp; LÃNG PHÍ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Đá</a:t>
            </a:r>
            <a:r>
              <a:rPr lang="en-US" b="true" sz="20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nh giá định tính &amp; định lượng</a:t>
            </a:r>
          </a:p>
          <a:p>
            <a:pPr algn="l" marL="388622" indent="-194311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Waiting: chờ thanh toán, Hãng/NCC xác nhận và xuất vé.</a:t>
            </a:r>
          </a:p>
          <a:p>
            <a:pPr algn="l" marL="388622" indent="-194311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Rework: Pending, rollback, kiểm tra lại trạng thái giao dịch.</a:t>
            </a:r>
          </a:p>
          <a:p>
            <a:pPr algn="l" marL="388622" indent="-194311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Handoff: giao dịch chuyển qua nhiều hệ thống/bộ phận.</a:t>
            </a:r>
          </a:p>
          <a:p>
            <a:pPr algn="l" marL="388622" indent="-194311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Pareto</a:t>
            </a:r>
            <a:r>
              <a:rPr lang="en-US" b="true" sz="18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cho thấy cần ưu tiên: Xuất vé chậm – Hold Time – Payment Pending.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972426" y="530255"/>
            <a:ext cx="955418" cy="1829432"/>
          </a:xfrm>
          <a:custGeom>
            <a:avLst/>
            <a:gdLst/>
            <a:ahLst/>
            <a:cxnLst/>
            <a:rect r="r" b="b" t="t" l="l"/>
            <a:pathLst>
              <a:path h="1829432" w="955418">
                <a:moveTo>
                  <a:pt x="0" y="0"/>
                </a:moveTo>
                <a:lnTo>
                  <a:pt x="955417" y="0"/>
                </a:lnTo>
                <a:lnTo>
                  <a:pt x="955417" y="1829432"/>
                </a:lnTo>
                <a:lnTo>
                  <a:pt x="0" y="1829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7058902" y="587485"/>
            <a:ext cx="938585" cy="1714972"/>
          </a:xfrm>
          <a:custGeom>
            <a:avLst/>
            <a:gdLst/>
            <a:ahLst/>
            <a:cxnLst/>
            <a:rect r="r" b="b" t="t" l="l"/>
            <a:pathLst>
              <a:path h="1714972" w="938585">
                <a:moveTo>
                  <a:pt x="0" y="0"/>
                </a:moveTo>
                <a:lnTo>
                  <a:pt x="938586" y="0"/>
                </a:lnTo>
                <a:lnTo>
                  <a:pt x="938586" y="1714972"/>
                </a:lnTo>
                <a:lnTo>
                  <a:pt x="0" y="17149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7997488" y="993775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41340" y="1868103"/>
            <a:ext cx="5367244" cy="3847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</a:t>
            </a:r>
            <a:r>
              <a:rPr lang="en-US" b="true" sz="20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. ĐỊNH HƯỚNG CẢI TIẾN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Tự</a:t>
            </a:r>
            <a:r>
              <a:rPr lang="en-US" b="true" sz="20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động hóa &amp; kiểm soát KPI</a:t>
            </a:r>
          </a:p>
          <a:p>
            <a:pPr algn="l" marL="388622" indent="-194311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Payment Reconciliation: tự động đối soát và phát hiện Pending.</a:t>
            </a:r>
          </a:p>
          <a:p>
            <a:pPr algn="l" marL="388622" indent="-194311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Booking Timeout: cảnh báo thời gian giữ chỗ trước khi hết hạn.</a:t>
            </a:r>
          </a:p>
          <a:p>
            <a:pPr algn="l" marL="388622" indent="-194311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Idempotency: hạn chế Duplicate Booking.</a:t>
            </a:r>
          </a:p>
          <a:p>
            <a:pPr algn="l" marL="388622" indent="-194311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Mo</a:t>
            </a:r>
            <a:r>
              <a:rPr lang="en-US" b="true" sz="18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nitoring &amp; Alert: theo dõi trạng thái giao dịch và SLA xuất vé.</a:t>
            </a:r>
          </a:p>
          <a:p>
            <a:pPr algn="l" marL="388622" indent="-194311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Retry/Queue: xử lý an toàn khi Hãng bay/NCC phản hồi chậm.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734887" y="6039418"/>
            <a:ext cx="16964699" cy="379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 spc="-4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Nhóm đề xuất một số định hướng cải tiến: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Tự động phát hiện và xử lý Payment Pending, giảm phụ thuộc CSKH.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Đồng bộ trạng thái Real-time giữa MoMo – M_Service – Hãng bay/NCC.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Hiển thị Countdown thời gian giữ chỗ, hạn chế khách phải tìm và chọn lại chuyến.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Ứng dụng Idempotency Key/Transaction Lock để ngăn giao dịch hoặc booking trùng.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Thiết lập SLA và cơ chế Retry đối với quá trình xác nhận booking, xuất vé từ Hãng/NCC.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Xây dựng Dashboard giám sát các KPI: Cycle Time, Pending Rate, Rollback Rate, thời gian xuất vé và tỷ lệ giao dịch thành công.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500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73160" y="3273011"/>
            <a:ext cx="12741680" cy="3740978"/>
            <a:chOff x="0" y="0"/>
            <a:chExt cx="3859195" cy="11330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59195" cy="1133066"/>
            </a:xfrm>
            <a:custGeom>
              <a:avLst/>
              <a:gdLst/>
              <a:ahLst/>
              <a:cxnLst/>
              <a:rect r="r" b="b" t="t" l="l"/>
              <a:pathLst>
                <a:path h="1133066" w="3859195">
                  <a:moveTo>
                    <a:pt x="29165" y="0"/>
                  </a:moveTo>
                  <a:lnTo>
                    <a:pt x="3830030" y="0"/>
                  </a:lnTo>
                  <a:cubicBezTo>
                    <a:pt x="3837765" y="0"/>
                    <a:pt x="3845183" y="3073"/>
                    <a:pt x="3850653" y="8542"/>
                  </a:cubicBezTo>
                  <a:cubicBezTo>
                    <a:pt x="3856122" y="14012"/>
                    <a:pt x="3859195" y="21430"/>
                    <a:pt x="3859195" y="29165"/>
                  </a:cubicBezTo>
                  <a:lnTo>
                    <a:pt x="3859195" y="1103901"/>
                  </a:lnTo>
                  <a:cubicBezTo>
                    <a:pt x="3859195" y="1111636"/>
                    <a:pt x="3856122" y="1119054"/>
                    <a:pt x="3850653" y="1124524"/>
                  </a:cubicBezTo>
                  <a:cubicBezTo>
                    <a:pt x="3845183" y="1129993"/>
                    <a:pt x="3837765" y="1133066"/>
                    <a:pt x="3830030" y="1133066"/>
                  </a:cubicBezTo>
                  <a:lnTo>
                    <a:pt x="29165" y="1133066"/>
                  </a:lnTo>
                  <a:cubicBezTo>
                    <a:pt x="21430" y="1133066"/>
                    <a:pt x="14012" y="1129993"/>
                    <a:pt x="8542" y="1124524"/>
                  </a:cubicBezTo>
                  <a:cubicBezTo>
                    <a:pt x="3073" y="1119054"/>
                    <a:pt x="0" y="1111636"/>
                    <a:pt x="0" y="1103901"/>
                  </a:cubicBezTo>
                  <a:lnTo>
                    <a:pt x="0" y="29165"/>
                  </a:lnTo>
                  <a:cubicBezTo>
                    <a:pt x="0" y="21430"/>
                    <a:pt x="3073" y="14012"/>
                    <a:pt x="8542" y="8542"/>
                  </a:cubicBezTo>
                  <a:cubicBezTo>
                    <a:pt x="14012" y="3073"/>
                    <a:pt x="21430" y="0"/>
                    <a:pt x="29165" y="0"/>
                  </a:cubicBezTo>
                  <a:close/>
                </a:path>
              </a:pathLst>
            </a:custGeom>
            <a:solidFill>
              <a:srgbClr val="FFD1D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3859195" cy="11521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781955" y="882361"/>
            <a:ext cx="4824279" cy="4824279"/>
          </a:xfrm>
          <a:custGeom>
            <a:avLst/>
            <a:gdLst/>
            <a:ahLst/>
            <a:cxnLst/>
            <a:rect r="r" b="b" t="t" l="l"/>
            <a:pathLst>
              <a:path h="4824279" w="4824279">
                <a:moveTo>
                  <a:pt x="0" y="0"/>
                </a:moveTo>
                <a:lnTo>
                  <a:pt x="4824278" y="0"/>
                </a:lnTo>
                <a:lnTo>
                  <a:pt x="4824278" y="4824278"/>
                </a:lnTo>
                <a:lnTo>
                  <a:pt x="0" y="48242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997488" y="993775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06045" y="3253198"/>
            <a:ext cx="7275909" cy="258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0"/>
              </a:lnSpc>
              <a:spcBef>
                <a:spcPct val="0"/>
              </a:spcBef>
            </a:pPr>
            <a:r>
              <a:rPr lang="en-US" b="true" sz="15000">
                <a:solidFill>
                  <a:srgbClr val="A5006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Cảm ơn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73611" y="5592339"/>
            <a:ext cx="1074658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Thầy</a:t>
            </a:r>
            <a:r>
              <a:rPr lang="en-US" sz="6000">
                <a:solidFill>
                  <a:srgbClr val="A50064"/>
                </a:solidFill>
                <a:latin typeface="Noto Sans"/>
                <a:ea typeface="Noto Sans"/>
                <a:cs typeface="Noto Sans"/>
                <a:sym typeface="Noto Sans"/>
              </a:rPr>
              <a:t> và các bạn đã lắng nghe!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09488" y="6650292"/>
            <a:ext cx="266902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Bài này không có quảng cáo...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DAHTyGyf_AU</dc:identifier>
  <dcterms:modified xsi:type="dcterms:W3CDTF">2011-08-01T06:04:30Z</dcterms:modified>
  <cp:revision>1</cp:revision>
  <dc:title>HỆ THỐNG QUẢN TRỊ QUY TRÌNH NGHIỆP VỤ</dc:title>
</cp:coreProperties>
</file>